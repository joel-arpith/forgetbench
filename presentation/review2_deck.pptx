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10287000" cx="18288000"/>
  <p:notesSz cx="10287000" cy="18288000"/>
  <p:embeddedFontLst>
    <p:embeddedFont>
      <p:font typeface="IBM Plex Sans"/>
      <p:regular r:id="rId20"/>
      <p:bold r:id="rId21"/>
      <p:italic r:id="rId22"/>
      <p:boldItalic r:id="rId23"/>
    </p:embeddedFont>
    <p:embeddedFont>
      <p:font typeface="IBM Plex Mono"/>
      <p:regular r:id="rId24"/>
      <p:bold r:id="rId25"/>
      <p:italic r:id="rId26"/>
      <p:boldItalic r:id="rId27"/>
    </p:embeddedFont>
    <p:embeddedFont>
      <p:font typeface="Space Grotesk"/>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IBMPlexMono-regular.fntdata"/><Relationship Id="rId23"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BMPlexMono-italic.fntdata"/><Relationship Id="rId25" Type="http://schemas.openxmlformats.org/officeDocument/2006/relationships/font" Target="fonts/IBMPlexMono-bold.fntdata"/><Relationship Id="rId28" Type="http://schemas.openxmlformats.org/officeDocument/2006/relationships/font" Target="fonts/SpaceGrotesk-regular.fntdata"/><Relationship Id="rId27" Type="http://schemas.openxmlformats.org/officeDocument/2006/relationships/font" Target="fonts/IBMPlexMon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paceGrotesk-bold.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We are presenting ForgetBench, a benchmark and method for machine unlearning. Our question is simple: when a model is told to forget someone's data, does that forgetting survive an attack? Over the next fifteen minutes we show what we built, what we measured, and what we are confirming next.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Privacy law gives every person a right to erasure. A company can honour it at the database: the row is deleted. But a model trained on that row has already absorbed it into its weights, and it can still reproduce it. The law and the courts are now pressing on exactly this gap.</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people say deletion, they mean two different things. Deleting from storage, training pipelines and indexes is an engineering task that is already solved. Deleting from a trained model, and proving it stays deleted, is not. That second layer is where this project lives.</a:t>
            </a:r>
            <a:endParaRPr/>
          </a:p>
        </p:txBody>
      </p:sp>
      <p:sp>
        <p:nvSpPr>
          <p:cNvPr id="87" name="Google Shape;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Approximate unlearning methods look successful on the standard test. But published work shows that a light fine-tune can revive what was scrubbed. We reproduced this ourselves: NPO pushed the forget set down to minus 4.87, and a fifteen-step attack brought it back to minus 0.76. Forgetting that can be undone this cheaply is not forgetting.</a:t>
            </a:r>
            <a:endParaRPr/>
          </a:p>
        </p:txBody>
      </p:sp>
      <p:sp>
        <p:nvSpPr>
          <p:cNvPr id="122" name="Google Shape;1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lines of work frame this project. SISA gives exact unlearning but at retrain-scale cost. NPO and RMU are cheap but approximate. Relearning attacks show that approximate unlearning can be reversed. And the benchmarks, TOFU and MUSE, score forgetting once, never after an attack. That last gap is the one we close.</a:t>
            </a:r>
            <a:endParaRPr/>
          </a:p>
        </p:txBody>
      </p:sp>
      <p:sp>
        <p:nvSpPr>
          <p:cNvPr id="159" name="Google Shape;1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Plot every method on cost against durability and a pattern appears. Exact methods are durable but expensive. Cheap methods collapse under attack. Nothing sits in the corner that is both cheap and durable. That empty corner is HRU's target.</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HRU changes where the scrub lands. Standard NPO drives the model into a sharp minimum, so a small attack step is enough to climb back out. HRU uses a sharpness-aware NPO loss that seeks a flat basin instead, which a relearning attack cannot easily escape. Around that scrub runs a hardening loop that probes the model with simulated attacks and pushes harder on whatever resurfaces.</a:t>
            </a:r>
            <a:endParaRPr/>
          </a:p>
        </p:txBody>
      </p:sp>
      <p:sp>
        <p:nvSpPr>
          <p:cNvPr id="244" name="Google Shape;2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compare fairly, every method runs through one harness. Arm A is exact unlearning: full retraining and SISA. Arm B is approximate: NPO, RMU and gradient ascent. Arm C is HRU. All twelve variants share the same model, data, probes, seeds and cost accounting, so differences come from the methods, not the setup.</a:t>
            </a:r>
            <a:endParaRPr/>
          </a:p>
        </p:txBody>
      </p:sp>
      <p:sp>
        <p:nvSpPr>
          <p:cNvPr id="283" name="Google Shape;28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kept the setup deliberately small so anyone can reproduce it. GPT-2 with 124 million parameters, HuggingFace and PyTorch, on one Colab T4 GPU. The forget data is 130 fictional profiles, so no real personal data is ever used. Every method is scored on four axes, and durability after attack is the one we add.</a:t>
            </a:r>
            <a:endParaRPr/>
          </a:p>
        </p:txBody>
      </p:sp>
      <p:sp>
        <p:nvSpPr>
          <p:cNvPr id="335" name="Google Shape;33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our headline result. After the relearning attack, HRU keeps a forget-set loss of 1.31, the highest of all twelve methods we tested. That puts it ahead of gradient ascent at 1.09, NPO at 0.76, and even full retraining at 0.58. Higher means the forgotten data stayed forgotten.</a:t>
            </a:r>
            <a:endParaRPr/>
          </a:p>
        </p:txBody>
      </p:sp>
      <p:sp>
        <p:nvSpPr>
          <p:cNvPr id="382" name="Google Shape;38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fair objection is that HRU might simply forget harder. Two checks say otherwise. First, after adjusting for how much each method changes the model, HRU is 0.20 more durable than predicted, in the top two of twelve alongside full retraining, while NPO ranks last. Second, its truth ratio is 1.29, close to retraining's 1.01, while NPO over-forgets at 13.17.</a:t>
            </a:r>
            <a:endParaRPr/>
          </a:p>
        </p:txBody>
      </p:sp>
      <p:sp>
        <p:nvSpPr>
          <p:cNvPr id="424" name="Google Shape;42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also found something we did not expect. Combining HRU with SISA-style sharding makes it worse, not better. Only the shard holding the deleted data is scrubbed, to minus 4.18. The other three are untouched, and averaging them pulls the ensemble back to minus 0.50. Durability falls from 1.31 to 0.42. SISA's averaging assumes the deleted shard has nothing left to suppress; approximate unlearning breaks that assumption.</a:t>
            </a:r>
            <a:endParaRPr/>
          </a:p>
        </p:txBody>
      </p:sp>
      <p:sp>
        <p:nvSpPr>
          <p:cNvPr id="486" name="Google Shape;48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this scale HRU used 120 optimizer updates, against 150 for full retraining. The more important point is how cost grows. Retraining has to revisit the entire corpus, so it grows with the corpus. HRU only touches the data being forgotten, so its cost grows with the forget set, not with the size of the model's training data.</a:t>
            </a:r>
            <a:endParaRPr/>
          </a:p>
        </p:txBody>
      </p:sp>
      <p:sp>
        <p:nvSpPr>
          <p:cNvPr id="529" name="Google Shape;5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result is strong, so the next step is to confirm it holds up. We built three checks: a fact-level metric that scores the forgotten fact itself, the full per-example inline reweighting loop, and an equal-budget test over three seeds against a SAM-NPO control, which isolates what the hardening loop adds. The experiment is built and needs about forty minutes of GPU time.</a:t>
            </a:r>
            <a:endParaRPr/>
          </a:p>
        </p:txBody>
      </p:sp>
      <p:sp>
        <p:nvSpPr>
          <p:cNvPr id="558" name="Google Shape;55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close: the ForgetBench harness is done, the durability comparison across twelve methods is done, and the validation run is ready. HRU holds its forgetting better under attack than every method we tested, including full retraining. Our aim is to turn the right to be forgotten into something you can measure, and that holds up when someone tries to undo it. Thank you, we are happy to take questions.</a:t>
            </a:r>
            <a:endParaRPr/>
          </a:p>
        </p:txBody>
      </p:sp>
      <p:sp>
        <p:nvSpPr>
          <p:cNvPr id="594" name="Google Shape;5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15" name="Shape 15"/>
        <p:cNvGrpSpPr/>
        <p:nvPr/>
      </p:nvGrpSpPr>
      <p:grpSpPr>
        <a:xfrm>
          <a:off x="0" y="0"/>
          <a:ext cx="0" cy="0"/>
          <a:chOff x="0" y="0"/>
          <a:chExt cx="0" cy="0"/>
        </a:xfrm>
      </p:grpSpPr>
      <p:sp>
        <p:nvSpPr>
          <p:cNvPr id="16" name="Google Shape;16;p3"/>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3"/>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pic>
        <p:nvPicPr>
          <p:cNvPr descr="preencoded.png" id="19" name="Google Shape;19;p3"/>
          <p:cNvPicPr preferRelativeResize="0"/>
          <p:nvPr/>
        </p:nvPicPr>
        <p:blipFill rotWithShape="1">
          <a:blip r:embed="rId4">
            <a:alphaModFix amt="50000"/>
          </a:blip>
          <a:srcRect b="0" l="0" r="0" t="0"/>
          <a:stretch/>
        </p:blipFill>
        <p:spPr>
          <a:xfrm>
            <a:off x="12898338" y="2159198"/>
            <a:ext cx="4722912" cy="6789390"/>
          </a:xfrm>
          <a:prstGeom prst="rect">
            <a:avLst/>
          </a:prstGeom>
          <a:noFill/>
          <a:ln>
            <a:noFill/>
          </a:ln>
        </p:spPr>
      </p:pic>
      <p:sp>
        <p:nvSpPr>
          <p:cNvPr id="20" name="Google Shape;20;p3"/>
          <p:cNvSpPr/>
          <p:nvPr/>
        </p:nvSpPr>
        <p:spPr>
          <a:xfrm>
            <a:off x="990600" y="2425303"/>
            <a:ext cx="13201650"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75"/>
              <a:buFont typeface="IBM Plex Mono"/>
              <a:buNone/>
            </a:pPr>
            <a:r>
              <a:rPr b="0" i="0" lang="en-US" sz="1875" u="none" cap="none" strike="noStrike">
                <a:solidFill>
                  <a:srgbClr val="2DD4BF"/>
                </a:solidFill>
                <a:latin typeface="IBM Plex Mono"/>
                <a:ea typeface="IBM Plex Mono"/>
                <a:cs typeface="IBM Plex Mono"/>
                <a:sym typeface="IBM Plex Mono"/>
              </a:rPr>
              <a:t>FINAL RESEARCH PRESENTATION · 2026</a:t>
            </a:r>
            <a:endParaRPr b="0" i="0" sz="1875" u="none" cap="none" strike="noStrike">
              <a:solidFill>
                <a:schemeClr val="dk1"/>
              </a:solidFill>
              <a:latin typeface="Calibri"/>
              <a:ea typeface="Calibri"/>
              <a:cs typeface="Calibri"/>
              <a:sym typeface="Calibri"/>
            </a:endParaRPr>
          </a:p>
        </p:txBody>
      </p:sp>
      <p:sp>
        <p:nvSpPr>
          <p:cNvPr id="21" name="Google Shape;21;p3"/>
          <p:cNvSpPr/>
          <p:nvPr/>
        </p:nvSpPr>
        <p:spPr>
          <a:xfrm>
            <a:off x="990600" y="3006328"/>
            <a:ext cx="13201650" cy="1098798"/>
          </a:xfrm>
          <a:prstGeom prst="rect">
            <a:avLst/>
          </a:prstGeom>
          <a:noFill/>
          <a:ln>
            <a:noFill/>
          </a:ln>
        </p:spPr>
        <p:txBody>
          <a:bodyPr anchorCtr="0" anchor="t" bIns="25400" lIns="25400" spcFirstLastPara="1" rIns="25400" wrap="square" tIns="25400">
            <a:noAutofit/>
          </a:bodyPr>
          <a:lstStyle/>
          <a:p>
            <a:pPr indent="0" lvl="0" marL="0" marR="0" rtl="0" algn="l">
              <a:lnSpc>
                <a:spcPct val="75243"/>
              </a:lnSpc>
              <a:spcBef>
                <a:spcPts val="0"/>
              </a:spcBef>
              <a:spcAft>
                <a:spcPts val="0"/>
              </a:spcAft>
              <a:buClr>
                <a:srgbClr val="EAF0FA"/>
              </a:buClr>
              <a:buSzPts val="8700"/>
              <a:buFont typeface="Space Grotesk"/>
              <a:buNone/>
            </a:pPr>
            <a:r>
              <a:rPr b="1" i="0" lang="en-US" sz="8700" u="none" cap="none" strike="noStrike">
                <a:solidFill>
                  <a:srgbClr val="EAF0FA"/>
                </a:solidFill>
                <a:latin typeface="Space Grotesk"/>
                <a:ea typeface="Space Grotesk"/>
                <a:cs typeface="Space Grotesk"/>
                <a:sym typeface="Space Grotesk"/>
              </a:rPr>
              <a:t>ForgetBench</a:t>
            </a:r>
            <a:endParaRPr b="0" i="0" sz="8700" u="none" cap="none" strike="noStrike">
              <a:solidFill>
                <a:schemeClr val="dk1"/>
              </a:solidFill>
              <a:latin typeface="Calibri"/>
              <a:ea typeface="Calibri"/>
              <a:cs typeface="Calibri"/>
              <a:sym typeface="Calibri"/>
            </a:endParaRPr>
          </a:p>
        </p:txBody>
      </p:sp>
      <p:sp>
        <p:nvSpPr>
          <p:cNvPr id="22" name="Google Shape;22;p3"/>
          <p:cNvSpPr/>
          <p:nvPr/>
        </p:nvSpPr>
        <p:spPr>
          <a:xfrm>
            <a:off x="990600" y="4257526"/>
            <a:ext cx="13201650" cy="518071"/>
          </a:xfrm>
          <a:prstGeom prst="rect">
            <a:avLst/>
          </a:prstGeom>
          <a:noFill/>
          <a:ln>
            <a:noFill/>
          </a:ln>
        </p:spPr>
        <p:txBody>
          <a:bodyPr anchorCtr="0" anchor="t" bIns="25400" lIns="25400" spcFirstLastPara="1" rIns="25400" wrap="square" tIns="25400">
            <a:noAutofit/>
          </a:bodyPr>
          <a:lstStyle/>
          <a:p>
            <a:pPr indent="0" lvl="0" marL="0" marR="0" rtl="0" algn="l">
              <a:lnSpc>
                <a:spcPct val="95094"/>
              </a:lnSpc>
              <a:spcBef>
                <a:spcPts val="0"/>
              </a:spcBef>
              <a:spcAft>
                <a:spcPts val="0"/>
              </a:spcAft>
              <a:buClr>
                <a:srgbClr val="2DD4BF"/>
              </a:buClr>
              <a:buSzPts val="3150"/>
              <a:buFont typeface="Space Grotesk"/>
              <a:buNone/>
            </a:pPr>
            <a:r>
              <a:rPr b="0" i="0" lang="en-US" sz="3150" u="none" cap="none" strike="noStrike">
                <a:solidFill>
                  <a:srgbClr val="2DD4BF"/>
                </a:solidFill>
                <a:latin typeface="Space Grotesk"/>
                <a:ea typeface="Space Grotesk"/>
                <a:cs typeface="Space Grotesk"/>
                <a:sym typeface="Space Grotesk"/>
              </a:rPr>
              <a:t>Does machine unlearning survive an attack?</a:t>
            </a:r>
            <a:endParaRPr b="0" i="0" sz="3150" u="none" cap="none" strike="noStrike">
              <a:solidFill>
                <a:schemeClr val="dk1"/>
              </a:solidFill>
              <a:latin typeface="Calibri"/>
              <a:ea typeface="Calibri"/>
              <a:cs typeface="Calibri"/>
              <a:sym typeface="Calibri"/>
            </a:endParaRPr>
          </a:p>
        </p:txBody>
      </p:sp>
      <p:sp>
        <p:nvSpPr>
          <p:cNvPr id="23" name="Google Shape;23;p3"/>
          <p:cNvSpPr/>
          <p:nvPr/>
        </p:nvSpPr>
        <p:spPr>
          <a:xfrm>
            <a:off x="990600" y="5347097"/>
            <a:ext cx="132016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RESEARCH TEAM</a:t>
            </a:r>
            <a:endParaRPr b="0" i="0" sz="1800" u="none" cap="none" strike="noStrike">
              <a:solidFill>
                <a:schemeClr val="dk1"/>
              </a:solidFill>
              <a:latin typeface="Calibri"/>
              <a:ea typeface="Calibri"/>
              <a:cs typeface="Calibri"/>
              <a:sym typeface="Calibri"/>
            </a:endParaRPr>
          </a:p>
        </p:txBody>
      </p:sp>
      <p:sp>
        <p:nvSpPr>
          <p:cNvPr id="24" name="Google Shape;24;p3"/>
          <p:cNvSpPr/>
          <p:nvPr/>
        </p:nvSpPr>
        <p:spPr>
          <a:xfrm>
            <a:off x="990600" y="6204347"/>
            <a:ext cx="569595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990600" y="5804297"/>
            <a:ext cx="201970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Bulla Joel Arpith</a:t>
            </a:r>
            <a:endParaRPr b="0" i="0" sz="1950" u="none" cap="none" strike="noStrike">
              <a:solidFill>
                <a:schemeClr val="dk1"/>
              </a:solidFill>
              <a:latin typeface="Calibri"/>
              <a:ea typeface="Calibri"/>
              <a:cs typeface="Calibri"/>
              <a:sym typeface="Calibri"/>
            </a:endParaRPr>
          </a:p>
        </p:txBody>
      </p:sp>
      <p:sp>
        <p:nvSpPr>
          <p:cNvPr id="26" name="Google Shape;26;p3"/>
          <p:cNvSpPr/>
          <p:nvPr/>
        </p:nvSpPr>
        <p:spPr>
          <a:xfrm>
            <a:off x="5177730" y="5820966"/>
            <a:ext cx="16597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25WU0103011</a:t>
            </a:r>
            <a:endParaRPr b="0" i="0" sz="1800" u="none" cap="none" strike="noStrike">
              <a:solidFill>
                <a:schemeClr val="dk1"/>
              </a:solidFill>
              <a:latin typeface="Calibri"/>
              <a:ea typeface="Calibri"/>
              <a:cs typeface="Calibri"/>
              <a:sym typeface="Calibri"/>
            </a:endParaRPr>
          </a:p>
        </p:txBody>
      </p:sp>
      <p:sp>
        <p:nvSpPr>
          <p:cNvPr id="27" name="Google Shape;27;p3"/>
          <p:cNvSpPr/>
          <p:nvPr/>
        </p:nvSpPr>
        <p:spPr>
          <a:xfrm>
            <a:off x="7105650" y="6204347"/>
            <a:ext cx="569595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7105650" y="5804297"/>
            <a:ext cx="340584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Kanchusthambham Jayanth</a:t>
            </a:r>
            <a:endParaRPr b="0" i="0" sz="1950" u="none" cap="none" strike="noStrike">
              <a:solidFill>
                <a:schemeClr val="dk1"/>
              </a:solidFill>
              <a:latin typeface="Calibri"/>
              <a:ea typeface="Calibri"/>
              <a:cs typeface="Calibri"/>
              <a:sym typeface="Calibri"/>
            </a:endParaRPr>
          </a:p>
        </p:txBody>
      </p:sp>
      <p:sp>
        <p:nvSpPr>
          <p:cNvPr id="29" name="Google Shape;29;p3"/>
          <p:cNvSpPr/>
          <p:nvPr/>
        </p:nvSpPr>
        <p:spPr>
          <a:xfrm>
            <a:off x="11292780" y="5820966"/>
            <a:ext cx="16597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25WU0103021</a:t>
            </a:r>
            <a:endParaRPr b="0" i="0" sz="1800" u="none" cap="none" strike="noStrike">
              <a:solidFill>
                <a:schemeClr val="dk1"/>
              </a:solidFill>
              <a:latin typeface="Calibri"/>
              <a:ea typeface="Calibri"/>
              <a:cs typeface="Calibri"/>
              <a:sym typeface="Calibri"/>
            </a:endParaRPr>
          </a:p>
        </p:txBody>
      </p:sp>
      <p:sp>
        <p:nvSpPr>
          <p:cNvPr id="30" name="Google Shape;30;p3"/>
          <p:cNvSpPr/>
          <p:nvPr/>
        </p:nvSpPr>
        <p:spPr>
          <a:xfrm>
            <a:off x="990600" y="6709172"/>
            <a:ext cx="569595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990600" y="6309122"/>
            <a:ext cx="2075855"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Macha Sai Kamal</a:t>
            </a:r>
            <a:endParaRPr b="0" i="0" sz="1950" u="none" cap="none" strike="noStrike">
              <a:solidFill>
                <a:schemeClr val="dk1"/>
              </a:solidFill>
              <a:latin typeface="Calibri"/>
              <a:ea typeface="Calibri"/>
              <a:cs typeface="Calibri"/>
              <a:sym typeface="Calibri"/>
            </a:endParaRPr>
          </a:p>
        </p:txBody>
      </p:sp>
      <p:sp>
        <p:nvSpPr>
          <p:cNvPr id="32" name="Google Shape;32;p3"/>
          <p:cNvSpPr/>
          <p:nvPr/>
        </p:nvSpPr>
        <p:spPr>
          <a:xfrm>
            <a:off x="5177730" y="6325791"/>
            <a:ext cx="16597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25WU0103026</a:t>
            </a:r>
            <a:endParaRPr b="0" i="0" sz="1800" u="none" cap="none" strike="noStrike">
              <a:solidFill>
                <a:schemeClr val="dk1"/>
              </a:solidFill>
              <a:latin typeface="Calibri"/>
              <a:ea typeface="Calibri"/>
              <a:cs typeface="Calibri"/>
              <a:sym typeface="Calibri"/>
            </a:endParaRPr>
          </a:p>
        </p:txBody>
      </p:sp>
      <p:sp>
        <p:nvSpPr>
          <p:cNvPr id="33" name="Google Shape;33;p3"/>
          <p:cNvSpPr/>
          <p:nvPr/>
        </p:nvSpPr>
        <p:spPr>
          <a:xfrm>
            <a:off x="7105650" y="6709172"/>
            <a:ext cx="569595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7105650" y="6309122"/>
            <a:ext cx="245779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Shaik Shahul Parvez</a:t>
            </a:r>
            <a:endParaRPr b="0" i="0" sz="1950" u="none" cap="none" strike="noStrike">
              <a:solidFill>
                <a:schemeClr val="dk1"/>
              </a:solidFill>
              <a:latin typeface="Calibri"/>
              <a:ea typeface="Calibri"/>
              <a:cs typeface="Calibri"/>
              <a:sym typeface="Calibri"/>
            </a:endParaRPr>
          </a:p>
        </p:txBody>
      </p:sp>
      <p:sp>
        <p:nvSpPr>
          <p:cNvPr id="35" name="Google Shape;35;p3"/>
          <p:cNvSpPr/>
          <p:nvPr/>
        </p:nvSpPr>
        <p:spPr>
          <a:xfrm>
            <a:off x="11292780" y="6325791"/>
            <a:ext cx="16597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25WU0103036</a:t>
            </a:r>
            <a:endParaRPr b="0" i="0" sz="1800" u="none" cap="none" strike="noStrike">
              <a:solidFill>
                <a:schemeClr val="dk1"/>
              </a:solidFill>
              <a:latin typeface="Calibri"/>
              <a:ea typeface="Calibri"/>
              <a:cs typeface="Calibri"/>
              <a:sym typeface="Calibri"/>
            </a:endParaRPr>
          </a:p>
        </p:txBody>
      </p:sp>
      <p:sp>
        <p:nvSpPr>
          <p:cNvPr id="36" name="Google Shape;36;p3"/>
          <p:cNvSpPr/>
          <p:nvPr/>
        </p:nvSpPr>
        <p:spPr>
          <a:xfrm>
            <a:off x="990600" y="7213997"/>
            <a:ext cx="569595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990600" y="6813947"/>
            <a:ext cx="3544178"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Damera Sai Sri Ranga Charan</a:t>
            </a:r>
            <a:endParaRPr b="0" i="0" sz="1950" u="none" cap="none" strike="noStrike">
              <a:solidFill>
                <a:schemeClr val="dk1"/>
              </a:solidFill>
              <a:latin typeface="Calibri"/>
              <a:ea typeface="Calibri"/>
              <a:cs typeface="Calibri"/>
              <a:sym typeface="Calibri"/>
            </a:endParaRPr>
          </a:p>
        </p:txBody>
      </p:sp>
      <p:sp>
        <p:nvSpPr>
          <p:cNvPr id="38" name="Google Shape;38;p3"/>
          <p:cNvSpPr/>
          <p:nvPr/>
        </p:nvSpPr>
        <p:spPr>
          <a:xfrm>
            <a:off x="5177730" y="6830616"/>
            <a:ext cx="16597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25WU0102048</a:t>
            </a:r>
            <a:endParaRPr b="0" i="0" sz="1800" u="none" cap="none" strike="noStrike">
              <a:solidFill>
                <a:schemeClr val="dk1"/>
              </a:solidFill>
              <a:latin typeface="Calibri"/>
              <a:ea typeface="Calibri"/>
              <a:cs typeface="Calibri"/>
              <a:sym typeface="Calibri"/>
            </a:endParaRPr>
          </a:p>
        </p:txBody>
      </p:sp>
      <p:sp>
        <p:nvSpPr>
          <p:cNvPr id="39" name="Google Shape;39;p3"/>
          <p:cNvSpPr/>
          <p:nvPr/>
        </p:nvSpPr>
        <p:spPr>
          <a:xfrm>
            <a:off x="990600" y="7547372"/>
            <a:ext cx="114612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MENTOR</a:t>
            </a:r>
            <a:endParaRPr b="0" i="0" sz="1800" u="none" cap="none" strike="noStrike">
              <a:solidFill>
                <a:schemeClr val="dk1"/>
              </a:solidFill>
              <a:latin typeface="Calibri"/>
              <a:ea typeface="Calibri"/>
              <a:cs typeface="Calibri"/>
              <a:sym typeface="Calibri"/>
            </a:endParaRPr>
          </a:p>
        </p:txBody>
      </p:sp>
      <p:sp>
        <p:nvSpPr>
          <p:cNvPr id="40" name="Google Shape;40;p3"/>
          <p:cNvSpPr/>
          <p:nvPr/>
        </p:nvSpPr>
        <p:spPr>
          <a:xfrm>
            <a:off x="2231975" y="7509272"/>
            <a:ext cx="2705814"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Prof. Geetha Tripathi</a:t>
            </a:r>
            <a:endParaRPr b="0" i="0" sz="2100" u="none" cap="none" strike="noStrike">
              <a:solidFill>
                <a:schemeClr val="dk1"/>
              </a:solidFill>
              <a:latin typeface="Calibri"/>
              <a:ea typeface="Calibri"/>
              <a:cs typeface="Calibri"/>
              <a:sym typeface="Calibri"/>
            </a:endParaRPr>
          </a:p>
        </p:txBody>
      </p:sp>
      <p:sp>
        <p:nvSpPr>
          <p:cNvPr id="41" name="Google Shape;41;p3"/>
          <p:cNvSpPr/>
          <p:nvPr/>
        </p:nvSpPr>
        <p:spPr>
          <a:xfrm>
            <a:off x="4863257" y="7547372"/>
            <a:ext cx="286674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 Woxsen University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46" name="Shape 46"/>
        <p:cNvGrpSpPr/>
        <p:nvPr/>
      </p:nvGrpSpPr>
      <p:grpSpPr>
        <a:xfrm>
          <a:off x="0" y="0"/>
          <a:ext cx="0" cy="0"/>
          <a:chOff x="0" y="0"/>
          <a:chExt cx="0" cy="0"/>
        </a:xfrm>
      </p:grpSpPr>
      <p:sp>
        <p:nvSpPr>
          <p:cNvPr id="47" name="Google Shape;47;p4"/>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4"/>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50" name="Google Shape;50;p4"/>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02</a:t>
            </a:r>
            <a:endParaRPr b="0" i="0" sz="1800" u="none" cap="none" strike="noStrike">
              <a:solidFill>
                <a:schemeClr val="dk1"/>
              </a:solidFill>
              <a:latin typeface="Calibri"/>
              <a:ea typeface="Calibri"/>
              <a:cs typeface="Calibri"/>
              <a:sym typeface="Calibri"/>
            </a:endParaRPr>
          </a:p>
        </p:txBody>
      </p:sp>
      <p:sp>
        <p:nvSpPr>
          <p:cNvPr id="51" name="Google Shape;51;p4"/>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1732955" y="666750"/>
            <a:ext cx="221288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THE PROBLEM</a:t>
            </a:r>
            <a:endParaRPr b="0" i="0" sz="1800" u="none" cap="none" strike="noStrike">
              <a:solidFill>
                <a:schemeClr val="dk1"/>
              </a:solidFill>
              <a:latin typeface="Calibri"/>
              <a:ea typeface="Calibri"/>
              <a:cs typeface="Calibri"/>
              <a:sym typeface="Calibri"/>
            </a:endParaRPr>
          </a:p>
        </p:txBody>
      </p:sp>
      <p:sp>
        <p:nvSpPr>
          <p:cNvPr id="53" name="Google Shape;53;p4"/>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A Right on Paper, Not in the Model</a:t>
            </a:r>
            <a:endParaRPr b="0" i="0" sz="4350" u="none" cap="none" strike="noStrike">
              <a:solidFill>
                <a:schemeClr val="dk1"/>
              </a:solidFill>
              <a:latin typeface="Calibri"/>
              <a:ea typeface="Calibri"/>
              <a:cs typeface="Calibri"/>
              <a:sym typeface="Calibri"/>
            </a:endParaRPr>
          </a:p>
        </p:txBody>
      </p:sp>
      <p:sp>
        <p:nvSpPr>
          <p:cNvPr id="54" name="Google Shape;54;p4"/>
          <p:cNvSpPr/>
          <p:nvPr/>
        </p:nvSpPr>
        <p:spPr>
          <a:xfrm>
            <a:off x="990600" y="3747492"/>
            <a:ext cx="4898975" cy="1990725"/>
          </a:xfrm>
          <a:prstGeom prst="roundRect">
            <a:avLst>
              <a:gd fmla="val 765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304925" y="4061817"/>
            <a:ext cx="4697358"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DATA SUBJECT</a:t>
            </a:r>
            <a:endParaRPr b="0" i="0" sz="1800" u="none" cap="none" strike="noStrike">
              <a:solidFill>
                <a:schemeClr val="dk1"/>
              </a:solidFill>
              <a:latin typeface="Calibri"/>
              <a:ea typeface="Calibri"/>
              <a:cs typeface="Calibri"/>
              <a:sym typeface="Calibri"/>
            </a:endParaRPr>
          </a:p>
        </p:txBody>
      </p:sp>
      <p:sp>
        <p:nvSpPr>
          <p:cNvPr id="56" name="Google Shape;56;p4"/>
          <p:cNvSpPr/>
          <p:nvPr/>
        </p:nvSpPr>
        <p:spPr>
          <a:xfrm>
            <a:off x="1304925" y="4499967"/>
            <a:ext cx="469735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850"/>
              <a:buFont typeface="Space Grotesk"/>
              <a:buNone/>
            </a:pPr>
            <a:r>
              <a:rPr b="0" i="0" lang="en-US" sz="2850" u="none" cap="none" strike="noStrike">
                <a:solidFill>
                  <a:srgbClr val="EAF0FA"/>
                </a:solidFill>
                <a:latin typeface="Space Grotesk"/>
                <a:ea typeface="Space Grotesk"/>
                <a:cs typeface="Space Grotesk"/>
                <a:sym typeface="Space Grotesk"/>
              </a:rPr>
              <a:t>“Delete my data.”</a:t>
            </a:r>
            <a:endParaRPr b="0" i="0" sz="2850" u="none" cap="none" strike="noStrike">
              <a:solidFill>
                <a:schemeClr val="dk1"/>
              </a:solidFill>
              <a:latin typeface="Calibri"/>
              <a:ea typeface="Calibri"/>
              <a:cs typeface="Calibri"/>
              <a:sym typeface="Calibri"/>
            </a:endParaRPr>
          </a:p>
        </p:txBody>
      </p:sp>
      <p:sp>
        <p:nvSpPr>
          <p:cNvPr id="57" name="Google Shape;57;p4"/>
          <p:cNvSpPr/>
          <p:nvPr/>
        </p:nvSpPr>
        <p:spPr>
          <a:xfrm>
            <a:off x="1304925" y="5090517"/>
            <a:ext cx="4697358"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A lawful erasure request.</a:t>
            </a:r>
            <a:endParaRPr b="0" i="0" sz="1950" u="none" cap="none" strike="noStrike">
              <a:solidFill>
                <a:schemeClr val="dk1"/>
              </a:solidFill>
              <a:latin typeface="Calibri"/>
              <a:ea typeface="Calibri"/>
              <a:cs typeface="Calibri"/>
              <a:sym typeface="Calibri"/>
            </a:endParaRPr>
          </a:p>
        </p:txBody>
      </p:sp>
      <p:pic>
        <p:nvPicPr>
          <p:cNvPr descr="preencoded.png" id="58" name="Google Shape;58;p4"/>
          <p:cNvPicPr preferRelativeResize="0"/>
          <p:nvPr/>
        </p:nvPicPr>
        <p:blipFill rotWithShape="1">
          <a:blip r:embed="rId4">
            <a:alphaModFix/>
          </a:blip>
          <a:srcRect b="0" l="0" r="0" t="0"/>
          <a:stretch/>
        </p:blipFill>
        <p:spPr>
          <a:xfrm>
            <a:off x="6041975" y="4599980"/>
            <a:ext cx="495300" cy="285750"/>
          </a:xfrm>
          <a:prstGeom prst="rect">
            <a:avLst/>
          </a:prstGeom>
          <a:noFill/>
          <a:ln>
            <a:noFill/>
          </a:ln>
        </p:spPr>
      </p:pic>
      <p:sp>
        <p:nvSpPr>
          <p:cNvPr id="59" name="Google Shape;59;p4"/>
          <p:cNvSpPr/>
          <p:nvPr/>
        </p:nvSpPr>
        <p:spPr>
          <a:xfrm>
            <a:off x="6689675" y="3747492"/>
            <a:ext cx="4898975" cy="1990725"/>
          </a:xfrm>
          <a:prstGeom prst="roundRect">
            <a:avLst>
              <a:gd fmla="val 765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7004000" y="4061817"/>
            <a:ext cx="4697358"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DATABASE</a:t>
            </a:r>
            <a:endParaRPr b="0" i="0" sz="1800" u="none" cap="none" strike="noStrike">
              <a:solidFill>
                <a:schemeClr val="dk1"/>
              </a:solidFill>
              <a:latin typeface="Calibri"/>
              <a:ea typeface="Calibri"/>
              <a:cs typeface="Calibri"/>
              <a:sym typeface="Calibri"/>
            </a:endParaRPr>
          </a:p>
        </p:txBody>
      </p:sp>
      <p:sp>
        <p:nvSpPr>
          <p:cNvPr id="61" name="Google Shape;61;p4"/>
          <p:cNvSpPr/>
          <p:nvPr/>
        </p:nvSpPr>
        <p:spPr>
          <a:xfrm>
            <a:off x="7004000" y="4499967"/>
            <a:ext cx="469735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850"/>
              <a:buFont typeface="Space Grotesk"/>
              <a:buNone/>
            </a:pPr>
            <a:r>
              <a:rPr b="0" i="0" lang="en-US" sz="2850" u="none" cap="none" strike="noStrike">
                <a:solidFill>
                  <a:srgbClr val="EAF0FA"/>
                </a:solidFill>
                <a:latin typeface="Space Grotesk"/>
                <a:ea typeface="Space Grotesk"/>
                <a:cs typeface="Space Grotesk"/>
                <a:sym typeface="Space Grotesk"/>
              </a:rPr>
              <a:t>Row deleted </a:t>
            </a:r>
            <a:r>
              <a:rPr b="0" i="0" lang="en-US" sz="2850" u="none" cap="none" strike="noStrike">
                <a:solidFill>
                  <a:srgbClr val="2DD4BF"/>
                </a:solidFill>
                <a:latin typeface="Space Grotesk"/>
                <a:ea typeface="Space Grotesk"/>
                <a:cs typeface="Space Grotesk"/>
                <a:sym typeface="Space Grotesk"/>
              </a:rPr>
              <a:t>✓</a:t>
            </a:r>
            <a:endParaRPr b="0" i="0" sz="2850" u="none" cap="none" strike="noStrike">
              <a:solidFill>
                <a:schemeClr val="dk1"/>
              </a:solidFill>
              <a:latin typeface="Calibri"/>
              <a:ea typeface="Calibri"/>
              <a:cs typeface="Calibri"/>
              <a:sym typeface="Calibri"/>
            </a:endParaRPr>
          </a:p>
        </p:txBody>
      </p:sp>
      <p:sp>
        <p:nvSpPr>
          <p:cNvPr id="62" name="Google Shape;62;p4"/>
          <p:cNvSpPr/>
          <p:nvPr/>
        </p:nvSpPr>
        <p:spPr>
          <a:xfrm>
            <a:off x="7004000" y="5090517"/>
            <a:ext cx="4697358"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The record leaves storage.</a:t>
            </a:r>
            <a:endParaRPr b="0" i="0" sz="1950" u="none" cap="none" strike="noStrike">
              <a:solidFill>
                <a:schemeClr val="dk1"/>
              </a:solidFill>
              <a:latin typeface="Calibri"/>
              <a:ea typeface="Calibri"/>
              <a:cs typeface="Calibri"/>
              <a:sym typeface="Calibri"/>
            </a:endParaRPr>
          </a:p>
        </p:txBody>
      </p:sp>
      <p:pic>
        <p:nvPicPr>
          <p:cNvPr descr="preencoded.png" id="63" name="Google Shape;63;p4"/>
          <p:cNvPicPr preferRelativeResize="0"/>
          <p:nvPr/>
        </p:nvPicPr>
        <p:blipFill rotWithShape="1">
          <a:blip r:embed="rId5">
            <a:alphaModFix/>
          </a:blip>
          <a:srcRect b="0" l="0" r="0" t="0"/>
          <a:stretch/>
        </p:blipFill>
        <p:spPr>
          <a:xfrm>
            <a:off x="11741051" y="4599980"/>
            <a:ext cx="495300" cy="285750"/>
          </a:xfrm>
          <a:prstGeom prst="rect">
            <a:avLst/>
          </a:prstGeom>
          <a:noFill/>
          <a:ln>
            <a:noFill/>
          </a:ln>
        </p:spPr>
      </p:pic>
      <p:sp>
        <p:nvSpPr>
          <p:cNvPr id="64" name="Google Shape;64;p4"/>
          <p:cNvSpPr/>
          <p:nvPr/>
        </p:nvSpPr>
        <p:spPr>
          <a:xfrm>
            <a:off x="12388751" y="3747492"/>
            <a:ext cx="4908500" cy="1990725"/>
          </a:xfrm>
          <a:prstGeom prst="roundRect">
            <a:avLst>
              <a:gd fmla="val 7656"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12707838" y="4066580"/>
            <a:ext cx="4697358"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TRAINED MODEL</a:t>
            </a:r>
            <a:endParaRPr b="0" i="0" sz="1800" u="none" cap="none" strike="noStrike">
              <a:solidFill>
                <a:schemeClr val="dk1"/>
              </a:solidFill>
              <a:latin typeface="Calibri"/>
              <a:ea typeface="Calibri"/>
              <a:cs typeface="Calibri"/>
              <a:sym typeface="Calibri"/>
            </a:endParaRPr>
          </a:p>
        </p:txBody>
      </p:sp>
      <p:sp>
        <p:nvSpPr>
          <p:cNvPr id="66" name="Google Shape;66;p4"/>
          <p:cNvSpPr/>
          <p:nvPr/>
        </p:nvSpPr>
        <p:spPr>
          <a:xfrm>
            <a:off x="12707838" y="4504730"/>
            <a:ext cx="469735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850"/>
              <a:buFont typeface="Space Grotesk"/>
              <a:buNone/>
            </a:pPr>
            <a:r>
              <a:rPr b="0" i="0" lang="en-US" sz="2850" u="none" cap="none" strike="noStrike">
                <a:solidFill>
                  <a:srgbClr val="EAF0FA"/>
                </a:solidFill>
                <a:latin typeface="Space Grotesk"/>
                <a:ea typeface="Space Grotesk"/>
                <a:cs typeface="Space Grotesk"/>
                <a:sym typeface="Space Grotesk"/>
              </a:rPr>
              <a:t>Still remembers</a:t>
            </a:r>
            <a:endParaRPr b="0" i="0" sz="2850" u="none" cap="none" strike="noStrike">
              <a:solidFill>
                <a:schemeClr val="dk1"/>
              </a:solidFill>
              <a:latin typeface="Calibri"/>
              <a:ea typeface="Calibri"/>
              <a:cs typeface="Calibri"/>
              <a:sym typeface="Calibri"/>
            </a:endParaRPr>
          </a:p>
        </p:txBody>
      </p:sp>
      <p:sp>
        <p:nvSpPr>
          <p:cNvPr id="67" name="Google Shape;67;p4"/>
          <p:cNvSpPr/>
          <p:nvPr/>
        </p:nvSpPr>
        <p:spPr>
          <a:xfrm>
            <a:off x="12707838" y="5095280"/>
            <a:ext cx="4697358"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Reproduces it from its weights.</a:t>
            </a:r>
            <a:endParaRPr b="0" i="0" sz="1950" u="none" cap="none" strike="noStrike">
              <a:solidFill>
                <a:schemeClr val="dk1"/>
              </a:solidFill>
              <a:latin typeface="Calibri"/>
              <a:ea typeface="Calibri"/>
              <a:cs typeface="Calibri"/>
              <a:sym typeface="Calibri"/>
            </a:endParaRPr>
          </a:p>
        </p:txBody>
      </p:sp>
      <p:sp>
        <p:nvSpPr>
          <p:cNvPr id="68" name="Google Shape;68;p4"/>
          <p:cNvSpPr/>
          <p:nvPr/>
        </p:nvSpPr>
        <p:spPr>
          <a:xfrm>
            <a:off x="990600" y="6119217"/>
            <a:ext cx="3933825" cy="1552575"/>
          </a:xfrm>
          <a:prstGeom prst="roundRect">
            <a:avLst>
              <a:gd fmla="val 981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1247775" y="6338292"/>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EU · 2016</a:t>
            </a:r>
            <a:endParaRPr b="0" i="0" sz="1800" u="none" cap="none" strike="noStrike">
              <a:solidFill>
                <a:schemeClr val="dk1"/>
              </a:solidFill>
              <a:latin typeface="Calibri"/>
              <a:ea typeface="Calibri"/>
              <a:cs typeface="Calibri"/>
              <a:sym typeface="Calibri"/>
            </a:endParaRPr>
          </a:p>
        </p:txBody>
      </p:sp>
      <p:sp>
        <p:nvSpPr>
          <p:cNvPr id="70" name="Google Shape;70;p4"/>
          <p:cNvSpPr/>
          <p:nvPr/>
        </p:nvSpPr>
        <p:spPr>
          <a:xfrm>
            <a:off x="1247775" y="6719292"/>
            <a:ext cx="3761423"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GDPR Art. 17</a:t>
            </a:r>
            <a:endParaRPr b="0" i="0" sz="2100" u="none" cap="none" strike="noStrike">
              <a:solidFill>
                <a:schemeClr val="dk1"/>
              </a:solidFill>
              <a:latin typeface="Calibri"/>
              <a:ea typeface="Calibri"/>
              <a:cs typeface="Calibri"/>
              <a:sym typeface="Calibri"/>
            </a:endParaRPr>
          </a:p>
        </p:txBody>
      </p:sp>
      <p:sp>
        <p:nvSpPr>
          <p:cNvPr id="71" name="Google Shape;71;p4"/>
          <p:cNvSpPr/>
          <p:nvPr/>
        </p:nvSpPr>
        <p:spPr>
          <a:xfrm>
            <a:off x="1247775" y="7147917"/>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Right to erasure</a:t>
            </a:r>
            <a:endParaRPr b="0" i="0" sz="1800" u="none" cap="none" strike="noStrike">
              <a:solidFill>
                <a:schemeClr val="dk1"/>
              </a:solidFill>
              <a:latin typeface="Calibri"/>
              <a:ea typeface="Calibri"/>
              <a:cs typeface="Calibri"/>
              <a:sym typeface="Calibri"/>
            </a:endParaRPr>
          </a:p>
        </p:txBody>
      </p:sp>
      <p:sp>
        <p:nvSpPr>
          <p:cNvPr id="72" name="Google Shape;72;p4"/>
          <p:cNvSpPr/>
          <p:nvPr/>
        </p:nvSpPr>
        <p:spPr>
          <a:xfrm>
            <a:off x="5114925" y="6119217"/>
            <a:ext cx="3933825" cy="1552575"/>
          </a:xfrm>
          <a:prstGeom prst="roundRect">
            <a:avLst>
              <a:gd fmla="val 981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5372100" y="6338292"/>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INDIA · 2023</a:t>
            </a:r>
            <a:endParaRPr b="0" i="0" sz="1800" u="none" cap="none" strike="noStrike">
              <a:solidFill>
                <a:schemeClr val="dk1"/>
              </a:solidFill>
              <a:latin typeface="Calibri"/>
              <a:ea typeface="Calibri"/>
              <a:cs typeface="Calibri"/>
              <a:sym typeface="Calibri"/>
            </a:endParaRPr>
          </a:p>
        </p:txBody>
      </p:sp>
      <p:sp>
        <p:nvSpPr>
          <p:cNvPr id="74" name="Google Shape;74;p4"/>
          <p:cNvSpPr/>
          <p:nvPr/>
        </p:nvSpPr>
        <p:spPr>
          <a:xfrm>
            <a:off x="5372100" y="6719292"/>
            <a:ext cx="3761423"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DPDP Act §12</a:t>
            </a:r>
            <a:endParaRPr b="0" i="0" sz="2100" u="none" cap="none" strike="noStrike">
              <a:solidFill>
                <a:schemeClr val="dk1"/>
              </a:solidFill>
              <a:latin typeface="Calibri"/>
              <a:ea typeface="Calibri"/>
              <a:cs typeface="Calibri"/>
              <a:sym typeface="Calibri"/>
            </a:endParaRPr>
          </a:p>
        </p:txBody>
      </p:sp>
      <p:sp>
        <p:nvSpPr>
          <p:cNvPr id="75" name="Google Shape;75;p4"/>
          <p:cNvSpPr/>
          <p:nvPr/>
        </p:nvSpPr>
        <p:spPr>
          <a:xfrm>
            <a:off x="5372100" y="7147917"/>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Erasure for data principals</a:t>
            </a:r>
            <a:endParaRPr b="0" i="0" sz="1800" u="none" cap="none" strike="noStrike">
              <a:solidFill>
                <a:schemeClr val="dk1"/>
              </a:solidFill>
              <a:latin typeface="Calibri"/>
              <a:ea typeface="Calibri"/>
              <a:cs typeface="Calibri"/>
              <a:sym typeface="Calibri"/>
            </a:endParaRPr>
          </a:p>
        </p:txBody>
      </p:sp>
      <p:sp>
        <p:nvSpPr>
          <p:cNvPr id="76" name="Google Shape;76;p4"/>
          <p:cNvSpPr/>
          <p:nvPr/>
        </p:nvSpPr>
        <p:spPr>
          <a:xfrm>
            <a:off x="9239250" y="6119217"/>
            <a:ext cx="3933825" cy="1552575"/>
          </a:xfrm>
          <a:prstGeom prst="roundRect">
            <a:avLst>
              <a:gd fmla="val 981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9496425" y="6338292"/>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S.D.N.Y. · 2023</a:t>
            </a:r>
            <a:endParaRPr b="0" i="0" sz="1800" u="none" cap="none" strike="noStrike">
              <a:solidFill>
                <a:schemeClr val="dk1"/>
              </a:solidFill>
              <a:latin typeface="Calibri"/>
              <a:ea typeface="Calibri"/>
              <a:cs typeface="Calibri"/>
              <a:sym typeface="Calibri"/>
            </a:endParaRPr>
          </a:p>
        </p:txBody>
      </p:sp>
      <p:sp>
        <p:nvSpPr>
          <p:cNvPr id="78" name="Google Shape;78;p4"/>
          <p:cNvSpPr/>
          <p:nvPr/>
        </p:nvSpPr>
        <p:spPr>
          <a:xfrm>
            <a:off x="9496425" y="6719292"/>
            <a:ext cx="3761423"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NYT v. OpenAI</a:t>
            </a:r>
            <a:endParaRPr b="0" i="0" sz="2100" u="none" cap="none" strike="noStrike">
              <a:solidFill>
                <a:schemeClr val="dk1"/>
              </a:solidFill>
              <a:latin typeface="Calibri"/>
              <a:ea typeface="Calibri"/>
              <a:cs typeface="Calibri"/>
              <a:sym typeface="Calibri"/>
            </a:endParaRPr>
          </a:p>
        </p:txBody>
      </p:sp>
      <p:sp>
        <p:nvSpPr>
          <p:cNvPr id="79" name="Google Shape;79;p4"/>
          <p:cNvSpPr/>
          <p:nvPr/>
        </p:nvSpPr>
        <p:spPr>
          <a:xfrm>
            <a:off x="9496425" y="7147917"/>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Near-verbatim reproduction</a:t>
            </a:r>
            <a:endParaRPr b="0" i="0" sz="1800" u="none" cap="none" strike="noStrike">
              <a:solidFill>
                <a:schemeClr val="dk1"/>
              </a:solidFill>
              <a:latin typeface="Calibri"/>
              <a:ea typeface="Calibri"/>
              <a:cs typeface="Calibri"/>
              <a:sym typeface="Calibri"/>
            </a:endParaRPr>
          </a:p>
        </p:txBody>
      </p:sp>
      <p:sp>
        <p:nvSpPr>
          <p:cNvPr id="80" name="Google Shape;80;p4"/>
          <p:cNvSpPr/>
          <p:nvPr/>
        </p:nvSpPr>
        <p:spPr>
          <a:xfrm>
            <a:off x="13363575" y="6119217"/>
            <a:ext cx="3933825" cy="1552575"/>
          </a:xfrm>
          <a:prstGeom prst="roundRect">
            <a:avLst>
              <a:gd fmla="val 981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13620750" y="6338292"/>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N.D. CAL. · 2023</a:t>
            </a:r>
            <a:endParaRPr b="0" i="0" sz="1800" u="none" cap="none" strike="noStrike">
              <a:solidFill>
                <a:schemeClr val="dk1"/>
              </a:solidFill>
              <a:latin typeface="Calibri"/>
              <a:ea typeface="Calibri"/>
              <a:cs typeface="Calibri"/>
              <a:sym typeface="Calibri"/>
            </a:endParaRPr>
          </a:p>
        </p:txBody>
      </p:sp>
      <p:sp>
        <p:nvSpPr>
          <p:cNvPr id="82" name="Google Shape;82;p4"/>
          <p:cNvSpPr/>
          <p:nvPr/>
        </p:nvSpPr>
        <p:spPr>
          <a:xfrm>
            <a:off x="13620750" y="6719292"/>
            <a:ext cx="3761423"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Artists v. Stability AI</a:t>
            </a:r>
            <a:endParaRPr b="0" i="0" sz="2100" u="none" cap="none" strike="noStrike">
              <a:solidFill>
                <a:schemeClr val="dk1"/>
              </a:solidFill>
              <a:latin typeface="Calibri"/>
              <a:ea typeface="Calibri"/>
              <a:cs typeface="Calibri"/>
              <a:sym typeface="Calibri"/>
            </a:endParaRPr>
          </a:p>
        </p:txBody>
      </p:sp>
      <p:sp>
        <p:nvSpPr>
          <p:cNvPr id="83" name="Google Shape;83;p4"/>
          <p:cNvSpPr/>
          <p:nvPr/>
        </p:nvSpPr>
        <p:spPr>
          <a:xfrm>
            <a:off x="13620750" y="7147917"/>
            <a:ext cx="37614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Memorized training works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88" name="Shape 88"/>
        <p:cNvGrpSpPr/>
        <p:nvPr/>
      </p:nvGrpSpPr>
      <p:grpSpPr>
        <a:xfrm>
          <a:off x="0" y="0"/>
          <a:ext cx="0" cy="0"/>
          <a:chOff x="0" y="0"/>
          <a:chExt cx="0" cy="0"/>
        </a:xfrm>
      </p:grpSpPr>
      <p:sp>
        <p:nvSpPr>
          <p:cNvPr id="89" name="Google Shape;89;p5"/>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5"/>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92" name="Google Shape;92;p5"/>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03</a:t>
            </a:r>
            <a:endParaRPr b="0" i="0" sz="1800" u="none" cap="none" strike="noStrike">
              <a:solidFill>
                <a:schemeClr val="dk1"/>
              </a:solidFill>
              <a:latin typeface="Calibri"/>
              <a:ea typeface="Calibri"/>
              <a:cs typeface="Calibri"/>
              <a:sym typeface="Calibri"/>
            </a:endParaRPr>
          </a:p>
        </p:txBody>
      </p:sp>
      <p:sp>
        <p:nvSpPr>
          <p:cNvPr id="93" name="Google Shape;93;p5"/>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94" name="Google Shape;94;p5"/>
          <p:cNvSpPr/>
          <p:nvPr/>
        </p:nvSpPr>
        <p:spPr>
          <a:xfrm>
            <a:off x="1732955" y="666750"/>
            <a:ext cx="221288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THE PROBLEM</a:t>
            </a:r>
            <a:endParaRPr b="0" i="0" sz="1800" u="none" cap="none" strike="noStrike">
              <a:solidFill>
                <a:schemeClr val="dk1"/>
              </a:solidFill>
              <a:latin typeface="Calibri"/>
              <a:ea typeface="Calibri"/>
              <a:cs typeface="Calibri"/>
              <a:sym typeface="Calibri"/>
            </a:endParaRPr>
          </a:p>
        </p:txBody>
      </p:sp>
      <p:sp>
        <p:nvSpPr>
          <p:cNvPr id="95" name="Google Shape;95;p5"/>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Two Layers, One Word</a:t>
            </a:r>
            <a:endParaRPr b="0" i="0" sz="4350" u="none" cap="none" strike="noStrike">
              <a:solidFill>
                <a:schemeClr val="dk1"/>
              </a:solidFill>
              <a:latin typeface="Calibri"/>
              <a:ea typeface="Calibri"/>
              <a:cs typeface="Calibri"/>
              <a:sym typeface="Calibri"/>
            </a:endParaRPr>
          </a:p>
        </p:txBody>
      </p:sp>
      <p:sp>
        <p:nvSpPr>
          <p:cNvPr id="96" name="Google Shape;96;p5"/>
          <p:cNvSpPr/>
          <p:nvPr/>
        </p:nvSpPr>
        <p:spPr>
          <a:xfrm>
            <a:off x="990600" y="1989683"/>
            <a:ext cx="7624762" cy="7725817"/>
          </a:xfrm>
          <a:prstGeom prst="roundRect">
            <a:avLst>
              <a:gd fmla="val 199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1362075" y="2323058"/>
            <a:ext cx="756999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DATA LAYER</a:t>
            </a:r>
            <a:endParaRPr b="0" i="0" sz="1800" u="none" cap="none" strike="noStrike">
              <a:solidFill>
                <a:schemeClr val="dk1"/>
              </a:solidFill>
              <a:latin typeface="Calibri"/>
              <a:ea typeface="Calibri"/>
              <a:cs typeface="Calibri"/>
              <a:sym typeface="Calibri"/>
            </a:endParaRPr>
          </a:p>
        </p:txBody>
      </p:sp>
      <p:sp>
        <p:nvSpPr>
          <p:cNvPr id="98" name="Google Shape;98;p5"/>
          <p:cNvSpPr/>
          <p:nvPr/>
        </p:nvSpPr>
        <p:spPr>
          <a:xfrm>
            <a:off x="1362075" y="2704058"/>
            <a:ext cx="7569994" cy="6667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3900"/>
              <a:buFont typeface="Space Grotesk"/>
              <a:buNone/>
            </a:pPr>
            <a:r>
              <a:rPr b="1" i="0" lang="en-US" sz="3900" u="none" cap="none" strike="noStrike">
                <a:solidFill>
                  <a:srgbClr val="EAF0FA"/>
                </a:solidFill>
                <a:latin typeface="Space Grotesk"/>
                <a:ea typeface="Space Grotesk"/>
                <a:cs typeface="Space Grotesk"/>
                <a:sym typeface="Space Grotesk"/>
              </a:rPr>
              <a:t>Solved</a:t>
            </a:r>
            <a:endParaRPr b="0" i="0" sz="3900" u="none" cap="none" strike="noStrike">
              <a:solidFill>
                <a:schemeClr val="dk1"/>
              </a:solidFill>
              <a:latin typeface="Calibri"/>
              <a:ea typeface="Calibri"/>
              <a:cs typeface="Calibri"/>
              <a:sym typeface="Calibri"/>
            </a:endParaRPr>
          </a:p>
        </p:txBody>
      </p:sp>
      <p:sp>
        <p:nvSpPr>
          <p:cNvPr id="99" name="Google Shape;99;p5"/>
          <p:cNvSpPr/>
          <p:nvPr/>
        </p:nvSpPr>
        <p:spPr>
          <a:xfrm>
            <a:off x="1362075" y="7400925"/>
            <a:ext cx="310902"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Sans"/>
              <a:buNone/>
            </a:pPr>
            <a:r>
              <a:rPr b="0" i="0" lang="en-US" sz="2100" u="none" cap="none" strike="noStrike">
                <a:solidFill>
                  <a:srgbClr val="2DD4BF"/>
                </a:solidFill>
                <a:latin typeface="IBM Plex Sans"/>
                <a:ea typeface="IBM Plex Sans"/>
                <a:cs typeface="IBM Plex Sans"/>
                <a:sym typeface="IBM Plex Sans"/>
              </a:rPr>
              <a:t>✓</a:t>
            </a:r>
            <a:endParaRPr b="0" i="0" sz="2100" u="none" cap="none" strike="noStrike">
              <a:solidFill>
                <a:schemeClr val="dk1"/>
              </a:solidFill>
              <a:latin typeface="Calibri"/>
              <a:ea typeface="Calibri"/>
              <a:cs typeface="Calibri"/>
              <a:sym typeface="Calibri"/>
            </a:endParaRPr>
          </a:p>
        </p:txBody>
      </p:sp>
      <p:sp>
        <p:nvSpPr>
          <p:cNvPr id="100" name="Google Shape;100;p5"/>
          <p:cNvSpPr/>
          <p:nvPr/>
        </p:nvSpPr>
        <p:spPr>
          <a:xfrm>
            <a:off x="1749177" y="7400925"/>
            <a:ext cx="4014520"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2100"/>
              <a:buFont typeface="IBM Plex Sans"/>
              <a:buNone/>
            </a:pPr>
            <a:r>
              <a:rPr b="0" i="0" lang="en-US" sz="2100" u="none" cap="none" strike="noStrike">
                <a:solidFill>
                  <a:srgbClr val="B8C2D6"/>
                </a:solidFill>
                <a:latin typeface="IBM Plex Sans"/>
                <a:ea typeface="IBM Plex Sans"/>
                <a:cs typeface="IBM Plex Sans"/>
                <a:sym typeface="IBM Plex Sans"/>
              </a:rPr>
              <a:t>Delete stored records and logs</a:t>
            </a:r>
            <a:endParaRPr b="0" i="0" sz="2100" u="none" cap="none" strike="noStrike">
              <a:solidFill>
                <a:schemeClr val="dk1"/>
              </a:solidFill>
              <a:latin typeface="Calibri"/>
              <a:ea typeface="Calibri"/>
              <a:cs typeface="Calibri"/>
              <a:sym typeface="Calibri"/>
            </a:endParaRPr>
          </a:p>
        </p:txBody>
      </p:sp>
      <p:sp>
        <p:nvSpPr>
          <p:cNvPr id="101" name="Google Shape;101;p5"/>
          <p:cNvSpPr/>
          <p:nvPr/>
        </p:nvSpPr>
        <p:spPr>
          <a:xfrm>
            <a:off x="1362075" y="7943850"/>
            <a:ext cx="310902"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Sans"/>
              <a:buNone/>
            </a:pPr>
            <a:r>
              <a:rPr b="0" i="0" lang="en-US" sz="2100" u="none" cap="none" strike="noStrike">
                <a:solidFill>
                  <a:srgbClr val="2DD4BF"/>
                </a:solidFill>
                <a:latin typeface="IBM Plex Sans"/>
                <a:ea typeface="IBM Plex Sans"/>
                <a:cs typeface="IBM Plex Sans"/>
                <a:sym typeface="IBM Plex Sans"/>
              </a:rPr>
              <a:t>✓</a:t>
            </a:r>
            <a:endParaRPr b="0" i="0" sz="2100" u="none" cap="none" strike="noStrike">
              <a:solidFill>
                <a:schemeClr val="dk1"/>
              </a:solidFill>
              <a:latin typeface="Calibri"/>
              <a:ea typeface="Calibri"/>
              <a:cs typeface="Calibri"/>
              <a:sym typeface="Calibri"/>
            </a:endParaRPr>
          </a:p>
        </p:txBody>
      </p:sp>
      <p:sp>
        <p:nvSpPr>
          <p:cNvPr id="102" name="Google Shape;102;p5"/>
          <p:cNvSpPr/>
          <p:nvPr/>
        </p:nvSpPr>
        <p:spPr>
          <a:xfrm>
            <a:off x="1749177" y="7943850"/>
            <a:ext cx="4323442"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2100"/>
              <a:buFont typeface="IBM Plex Sans"/>
              <a:buNone/>
            </a:pPr>
            <a:r>
              <a:rPr b="0" i="0" lang="en-US" sz="2100" u="none" cap="none" strike="noStrike">
                <a:solidFill>
                  <a:srgbClr val="B8C2D6"/>
                </a:solidFill>
                <a:latin typeface="IBM Plex Sans"/>
                <a:ea typeface="IBM Plex Sans"/>
                <a:cs typeface="IBM Plex Sans"/>
                <a:sym typeface="IBM Plex Sans"/>
              </a:rPr>
              <a:t>Exclude from future training runs</a:t>
            </a:r>
            <a:endParaRPr b="0" i="0" sz="2100" u="none" cap="none" strike="noStrike">
              <a:solidFill>
                <a:schemeClr val="dk1"/>
              </a:solidFill>
              <a:latin typeface="Calibri"/>
              <a:ea typeface="Calibri"/>
              <a:cs typeface="Calibri"/>
              <a:sym typeface="Calibri"/>
            </a:endParaRPr>
          </a:p>
        </p:txBody>
      </p:sp>
      <p:sp>
        <p:nvSpPr>
          <p:cNvPr id="103" name="Google Shape;103;p5"/>
          <p:cNvSpPr/>
          <p:nvPr/>
        </p:nvSpPr>
        <p:spPr>
          <a:xfrm>
            <a:off x="1362075" y="8486775"/>
            <a:ext cx="310902"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Sans"/>
              <a:buNone/>
            </a:pPr>
            <a:r>
              <a:rPr b="0" i="0" lang="en-US" sz="2100" u="none" cap="none" strike="noStrike">
                <a:solidFill>
                  <a:srgbClr val="2DD4BF"/>
                </a:solidFill>
                <a:latin typeface="IBM Plex Sans"/>
                <a:ea typeface="IBM Plex Sans"/>
                <a:cs typeface="IBM Plex Sans"/>
                <a:sym typeface="IBM Plex Sans"/>
              </a:rPr>
              <a:t>✓</a:t>
            </a:r>
            <a:endParaRPr b="0" i="0" sz="2100" u="none" cap="none" strike="noStrike">
              <a:solidFill>
                <a:schemeClr val="dk1"/>
              </a:solidFill>
              <a:latin typeface="Calibri"/>
              <a:ea typeface="Calibri"/>
              <a:cs typeface="Calibri"/>
              <a:sym typeface="Calibri"/>
            </a:endParaRPr>
          </a:p>
        </p:txBody>
      </p:sp>
      <p:sp>
        <p:nvSpPr>
          <p:cNvPr id="104" name="Google Shape;104;p5"/>
          <p:cNvSpPr/>
          <p:nvPr/>
        </p:nvSpPr>
        <p:spPr>
          <a:xfrm>
            <a:off x="1749177" y="8486775"/>
            <a:ext cx="3571845"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2100"/>
              <a:buFont typeface="IBM Plex Sans"/>
              <a:buNone/>
            </a:pPr>
            <a:r>
              <a:rPr b="0" i="0" lang="en-US" sz="2100" u="none" cap="none" strike="noStrike">
                <a:solidFill>
                  <a:srgbClr val="B8C2D6"/>
                </a:solidFill>
                <a:latin typeface="IBM Plex Sans"/>
                <a:ea typeface="IBM Plex Sans"/>
                <a:cs typeface="IBM Plex Sans"/>
                <a:sym typeface="IBM Plex Sans"/>
              </a:rPr>
              <a:t>Drop from retrieval indexes</a:t>
            </a:r>
            <a:endParaRPr b="0" i="0" sz="2100" u="none" cap="none" strike="noStrike">
              <a:solidFill>
                <a:schemeClr val="dk1"/>
              </a:solidFill>
              <a:latin typeface="Calibri"/>
              <a:ea typeface="Calibri"/>
              <a:cs typeface="Calibri"/>
              <a:sym typeface="Calibri"/>
            </a:endParaRPr>
          </a:p>
        </p:txBody>
      </p:sp>
      <p:sp>
        <p:nvSpPr>
          <p:cNvPr id="105" name="Google Shape;105;p5"/>
          <p:cNvSpPr/>
          <p:nvPr/>
        </p:nvSpPr>
        <p:spPr>
          <a:xfrm>
            <a:off x="1362075" y="9029700"/>
            <a:ext cx="310902"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Sans"/>
              <a:buNone/>
            </a:pPr>
            <a:r>
              <a:rPr b="0" i="0" lang="en-US" sz="2100" u="none" cap="none" strike="noStrike">
                <a:solidFill>
                  <a:srgbClr val="2DD4BF"/>
                </a:solidFill>
                <a:latin typeface="IBM Plex Sans"/>
                <a:ea typeface="IBM Plex Sans"/>
                <a:cs typeface="IBM Plex Sans"/>
                <a:sym typeface="IBM Plex Sans"/>
              </a:rPr>
              <a:t>✓</a:t>
            </a:r>
            <a:endParaRPr b="0" i="0" sz="2100" u="none" cap="none" strike="noStrike">
              <a:solidFill>
                <a:schemeClr val="dk1"/>
              </a:solidFill>
              <a:latin typeface="Calibri"/>
              <a:ea typeface="Calibri"/>
              <a:cs typeface="Calibri"/>
              <a:sym typeface="Calibri"/>
            </a:endParaRPr>
          </a:p>
        </p:txBody>
      </p:sp>
      <p:sp>
        <p:nvSpPr>
          <p:cNvPr id="106" name="Google Shape;106;p5"/>
          <p:cNvSpPr/>
          <p:nvPr/>
        </p:nvSpPr>
        <p:spPr>
          <a:xfrm>
            <a:off x="1749177" y="9029700"/>
            <a:ext cx="3405842"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2100"/>
              <a:buFont typeface="IBM Plex Sans"/>
              <a:buNone/>
            </a:pPr>
            <a:r>
              <a:rPr b="0" i="0" lang="en-US" sz="2100" u="none" cap="none" strike="noStrike">
                <a:solidFill>
                  <a:srgbClr val="B8C2D6"/>
                </a:solidFill>
                <a:latin typeface="IBM Plex Sans"/>
                <a:ea typeface="IBM Plex Sans"/>
                <a:cs typeface="IBM Plex Sans"/>
                <a:sym typeface="IBM Plex Sans"/>
              </a:rPr>
              <a:t>Filter outputs at inference</a:t>
            </a:r>
            <a:endParaRPr b="0" i="0" sz="2100" u="none" cap="none" strike="noStrike">
              <a:solidFill>
                <a:schemeClr val="dk1"/>
              </a:solidFill>
              <a:latin typeface="Calibri"/>
              <a:ea typeface="Calibri"/>
              <a:cs typeface="Calibri"/>
              <a:sym typeface="Calibri"/>
            </a:endParaRPr>
          </a:p>
        </p:txBody>
      </p:sp>
      <p:pic>
        <p:nvPicPr>
          <p:cNvPr descr="preencoded.png" id="107" name="Google Shape;107;p5"/>
          <p:cNvPicPr preferRelativeResize="0"/>
          <p:nvPr/>
        </p:nvPicPr>
        <p:blipFill rotWithShape="1">
          <a:blip r:embed="rId4">
            <a:alphaModFix/>
          </a:blip>
          <a:srcRect b="0" l="0" r="0" t="0"/>
          <a:stretch/>
        </p:blipFill>
        <p:spPr>
          <a:xfrm>
            <a:off x="8891588" y="5709642"/>
            <a:ext cx="495300" cy="285750"/>
          </a:xfrm>
          <a:prstGeom prst="rect">
            <a:avLst/>
          </a:prstGeom>
          <a:noFill/>
          <a:ln>
            <a:noFill/>
          </a:ln>
        </p:spPr>
      </p:pic>
      <p:sp>
        <p:nvSpPr>
          <p:cNvPr id="108" name="Google Shape;108;p5"/>
          <p:cNvSpPr/>
          <p:nvPr/>
        </p:nvSpPr>
        <p:spPr>
          <a:xfrm>
            <a:off x="9663113" y="1989683"/>
            <a:ext cx="7634288" cy="7725817"/>
          </a:xfrm>
          <a:prstGeom prst="roundRect">
            <a:avLst>
              <a:gd fmla="val 1996"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10039350" y="2327821"/>
            <a:ext cx="756999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MODEL LAYER</a:t>
            </a:r>
            <a:endParaRPr b="0" i="0" sz="1800" u="none" cap="none" strike="noStrike">
              <a:solidFill>
                <a:schemeClr val="dk1"/>
              </a:solidFill>
              <a:latin typeface="Calibri"/>
              <a:ea typeface="Calibri"/>
              <a:cs typeface="Calibri"/>
              <a:sym typeface="Calibri"/>
            </a:endParaRPr>
          </a:p>
        </p:txBody>
      </p:sp>
      <p:sp>
        <p:nvSpPr>
          <p:cNvPr id="110" name="Google Shape;110;p5"/>
          <p:cNvSpPr/>
          <p:nvPr/>
        </p:nvSpPr>
        <p:spPr>
          <a:xfrm>
            <a:off x="10039350" y="2708821"/>
            <a:ext cx="7569994" cy="6667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3900"/>
              <a:buFont typeface="Space Grotesk"/>
              <a:buNone/>
            </a:pPr>
            <a:r>
              <a:rPr b="1" i="0" lang="en-US" sz="3900" u="none" cap="none" strike="noStrike">
                <a:solidFill>
                  <a:srgbClr val="EAF0FA"/>
                </a:solidFill>
                <a:latin typeface="Space Grotesk"/>
                <a:ea typeface="Space Grotesk"/>
                <a:cs typeface="Space Grotesk"/>
                <a:sym typeface="Space Grotesk"/>
              </a:rPr>
              <a:t>Not solved</a:t>
            </a:r>
            <a:endParaRPr b="0" i="0" sz="3900" u="none" cap="none" strike="noStrike">
              <a:solidFill>
                <a:schemeClr val="dk1"/>
              </a:solidFill>
              <a:latin typeface="Calibri"/>
              <a:ea typeface="Calibri"/>
              <a:cs typeface="Calibri"/>
              <a:sym typeface="Calibri"/>
            </a:endParaRPr>
          </a:p>
        </p:txBody>
      </p:sp>
      <p:sp>
        <p:nvSpPr>
          <p:cNvPr id="111" name="Google Shape;111;p5"/>
          <p:cNvSpPr/>
          <p:nvPr/>
        </p:nvSpPr>
        <p:spPr>
          <a:xfrm>
            <a:off x="10039350" y="5385792"/>
            <a:ext cx="23633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Mono"/>
              <a:buNone/>
            </a:pPr>
            <a:r>
              <a:rPr b="0" i="0" lang="en-US" sz="2100" u="none" cap="none" strike="noStrike">
                <a:solidFill>
                  <a:srgbClr val="2DD4BF"/>
                </a:solidFill>
                <a:latin typeface="IBM Plex Mono"/>
                <a:ea typeface="IBM Plex Mono"/>
                <a:cs typeface="IBM Plex Mono"/>
                <a:sym typeface="IBM Plex Mono"/>
              </a:rPr>
              <a:t>?</a:t>
            </a:r>
            <a:endParaRPr b="0" i="0" sz="2100" u="none" cap="none" strike="noStrike">
              <a:solidFill>
                <a:schemeClr val="dk1"/>
              </a:solidFill>
              <a:latin typeface="Calibri"/>
              <a:ea typeface="Calibri"/>
              <a:cs typeface="Calibri"/>
              <a:sym typeface="Calibri"/>
            </a:endParaRPr>
          </a:p>
        </p:txBody>
      </p:sp>
      <p:sp>
        <p:nvSpPr>
          <p:cNvPr id="112" name="Google Shape;112;p5"/>
          <p:cNvSpPr/>
          <p:nvPr/>
        </p:nvSpPr>
        <p:spPr>
          <a:xfrm>
            <a:off x="10351889" y="5385792"/>
            <a:ext cx="5609883"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Prove the content is gone from the weights</a:t>
            </a:r>
            <a:endParaRPr b="0" i="0" sz="2100" u="none" cap="none" strike="noStrike">
              <a:solidFill>
                <a:schemeClr val="dk1"/>
              </a:solidFill>
              <a:latin typeface="Calibri"/>
              <a:ea typeface="Calibri"/>
              <a:cs typeface="Calibri"/>
              <a:sym typeface="Calibri"/>
            </a:endParaRPr>
          </a:p>
        </p:txBody>
      </p:sp>
      <p:sp>
        <p:nvSpPr>
          <p:cNvPr id="113" name="Google Shape;113;p5"/>
          <p:cNvSpPr/>
          <p:nvPr/>
        </p:nvSpPr>
        <p:spPr>
          <a:xfrm>
            <a:off x="10039350" y="5928717"/>
            <a:ext cx="23633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Mono"/>
              <a:buNone/>
            </a:pPr>
            <a:r>
              <a:rPr b="0" i="0" lang="en-US" sz="2100" u="none" cap="none" strike="noStrike">
                <a:solidFill>
                  <a:srgbClr val="2DD4BF"/>
                </a:solidFill>
                <a:latin typeface="IBM Plex Mono"/>
                <a:ea typeface="IBM Plex Mono"/>
                <a:cs typeface="IBM Plex Mono"/>
                <a:sym typeface="IBM Plex Mono"/>
              </a:rPr>
              <a:t>?</a:t>
            </a:r>
            <a:endParaRPr b="0" i="0" sz="2100" u="none" cap="none" strike="noStrike">
              <a:solidFill>
                <a:schemeClr val="dk1"/>
              </a:solidFill>
              <a:latin typeface="Calibri"/>
              <a:ea typeface="Calibri"/>
              <a:cs typeface="Calibri"/>
              <a:sym typeface="Calibri"/>
            </a:endParaRPr>
          </a:p>
        </p:txBody>
      </p:sp>
      <p:sp>
        <p:nvSpPr>
          <p:cNvPr id="114" name="Google Shape;114;p5"/>
          <p:cNvSpPr/>
          <p:nvPr/>
        </p:nvSpPr>
        <p:spPr>
          <a:xfrm>
            <a:off x="10351889" y="5928717"/>
            <a:ext cx="520207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Prove it stays gone after further training</a:t>
            </a:r>
            <a:endParaRPr b="0" i="0" sz="2100" u="none" cap="none" strike="noStrike">
              <a:solidFill>
                <a:schemeClr val="dk1"/>
              </a:solidFill>
              <a:latin typeface="Calibri"/>
              <a:ea typeface="Calibri"/>
              <a:cs typeface="Calibri"/>
              <a:sym typeface="Calibri"/>
            </a:endParaRPr>
          </a:p>
        </p:txBody>
      </p:sp>
      <p:sp>
        <p:nvSpPr>
          <p:cNvPr id="115" name="Google Shape;115;p5"/>
          <p:cNvSpPr/>
          <p:nvPr/>
        </p:nvSpPr>
        <p:spPr>
          <a:xfrm>
            <a:off x="10039350" y="6471642"/>
            <a:ext cx="23633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Mono"/>
              <a:buNone/>
            </a:pPr>
            <a:r>
              <a:rPr b="0" i="0" lang="en-US" sz="2100" u="none" cap="none" strike="noStrike">
                <a:solidFill>
                  <a:srgbClr val="2DD4BF"/>
                </a:solidFill>
                <a:latin typeface="IBM Plex Mono"/>
                <a:ea typeface="IBM Plex Mono"/>
                <a:cs typeface="IBM Plex Mono"/>
                <a:sym typeface="IBM Plex Mono"/>
              </a:rPr>
              <a:t>?</a:t>
            </a:r>
            <a:endParaRPr b="0" i="0" sz="2100" u="none" cap="none" strike="noStrike">
              <a:solidFill>
                <a:schemeClr val="dk1"/>
              </a:solidFill>
              <a:latin typeface="Calibri"/>
              <a:ea typeface="Calibri"/>
              <a:cs typeface="Calibri"/>
              <a:sym typeface="Calibri"/>
            </a:endParaRPr>
          </a:p>
        </p:txBody>
      </p:sp>
      <p:sp>
        <p:nvSpPr>
          <p:cNvPr id="116" name="Google Shape;116;p5"/>
          <p:cNvSpPr/>
          <p:nvPr/>
        </p:nvSpPr>
        <p:spPr>
          <a:xfrm>
            <a:off x="10351889" y="6471642"/>
            <a:ext cx="422668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Do it per request, not per retrain</a:t>
            </a:r>
            <a:endParaRPr b="0" i="0" sz="2100" u="none" cap="none" strike="noStrike">
              <a:solidFill>
                <a:schemeClr val="dk1"/>
              </a:solidFill>
              <a:latin typeface="Calibri"/>
              <a:ea typeface="Calibri"/>
              <a:cs typeface="Calibri"/>
              <a:sym typeface="Calibri"/>
            </a:endParaRPr>
          </a:p>
        </p:txBody>
      </p:sp>
      <p:sp>
        <p:nvSpPr>
          <p:cNvPr id="117" name="Google Shape;117;p5"/>
          <p:cNvSpPr/>
          <p:nvPr/>
        </p:nvSpPr>
        <p:spPr>
          <a:xfrm>
            <a:off x="10039350" y="8872389"/>
            <a:ext cx="6881813"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10039350" y="9053364"/>
            <a:ext cx="708826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ForgetBench measures this layer.</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123" name="Shape 123"/>
        <p:cNvGrpSpPr/>
        <p:nvPr/>
      </p:nvGrpSpPr>
      <p:grpSpPr>
        <a:xfrm>
          <a:off x="0" y="0"/>
          <a:ext cx="0" cy="0"/>
          <a:chOff x="0" y="0"/>
          <a:chExt cx="0" cy="0"/>
        </a:xfrm>
      </p:grpSpPr>
      <p:sp>
        <p:nvSpPr>
          <p:cNvPr id="124" name="Google Shape;124;p6"/>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6"/>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127" name="Google Shape;127;p6"/>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04</a:t>
            </a:r>
            <a:endParaRPr b="0" i="0" sz="1800" u="none" cap="none" strike="noStrike">
              <a:solidFill>
                <a:schemeClr val="dk1"/>
              </a:solidFill>
              <a:latin typeface="Calibri"/>
              <a:ea typeface="Calibri"/>
              <a:cs typeface="Calibri"/>
              <a:sym typeface="Calibri"/>
            </a:endParaRPr>
          </a:p>
        </p:txBody>
      </p:sp>
      <p:sp>
        <p:nvSpPr>
          <p:cNvPr id="128" name="Google Shape;128;p6"/>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129" name="Google Shape;129;p6"/>
          <p:cNvSpPr/>
          <p:nvPr/>
        </p:nvSpPr>
        <p:spPr>
          <a:xfrm>
            <a:off x="1732955" y="666750"/>
            <a:ext cx="221288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THE PROBLEM</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Scrubbed Content Comes Back</a:t>
            </a:r>
            <a:endParaRPr b="0" i="0" sz="4350" u="none" cap="none" strike="noStrike">
              <a:solidFill>
                <a:schemeClr val="dk1"/>
              </a:solidFill>
              <a:latin typeface="Calibri"/>
              <a:ea typeface="Calibri"/>
              <a:cs typeface="Calibri"/>
              <a:sym typeface="Calibri"/>
            </a:endParaRPr>
          </a:p>
        </p:txBody>
      </p:sp>
      <p:sp>
        <p:nvSpPr>
          <p:cNvPr id="131" name="Google Shape;131;p6"/>
          <p:cNvSpPr/>
          <p:nvPr/>
        </p:nvSpPr>
        <p:spPr>
          <a:xfrm>
            <a:off x="990600" y="3018830"/>
            <a:ext cx="6436519" cy="1543050"/>
          </a:xfrm>
          <a:prstGeom prst="roundRect">
            <a:avLst>
              <a:gd fmla="val 9877"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1266825" y="3237905"/>
            <a:ext cx="647247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STEP 1</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1266825" y="3599855"/>
            <a:ext cx="6472476"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Scrub passes the test</a:t>
            </a:r>
            <a:endParaRPr b="0" i="0" sz="2250" u="none" cap="none" strike="noStrike">
              <a:solidFill>
                <a:schemeClr val="dk1"/>
              </a:solidFill>
              <a:latin typeface="Calibri"/>
              <a:ea typeface="Calibri"/>
              <a:cs typeface="Calibri"/>
              <a:sym typeface="Calibri"/>
            </a:endParaRPr>
          </a:p>
        </p:txBody>
      </p:sp>
      <p:sp>
        <p:nvSpPr>
          <p:cNvPr id="134" name="Google Shape;134;p6"/>
          <p:cNvSpPr/>
          <p:nvPr/>
        </p:nvSpPr>
        <p:spPr>
          <a:xfrm>
            <a:off x="1266825" y="4028480"/>
            <a:ext cx="6472476"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Ask directly — the content is gone.</a:t>
            </a:r>
            <a:endParaRPr b="0" i="0" sz="1875" u="none" cap="none" strike="noStrike">
              <a:solidFill>
                <a:schemeClr val="dk1"/>
              </a:solidFill>
              <a:latin typeface="Calibri"/>
              <a:ea typeface="Calibri"/>
              <a:cs typeface="Calibri"/>
              <a:sym typeface="Calibri"/>
            </a:endParaRPr>
          </a:p>
        </p:txBody>
      </p:sp>
      <p:pic>
        <p:nvPicPr>
          <p:cNvPr descr="preencoded.png" id="135" name="Google Shape;135;p6"/>
          <p:cNvPicPr preferRelativeResize="0"/>
          <p:nvPr/>
        </p:nvPicPr>
        <p:blipFill rotWithShape="1">
          <a:blip r:embed="rId4">
            <a:alphaModFix/>
          </a:blip>
          <a:srcRect b="0" l="0" r="0" t="0"/>
          <a:stretch/>
        </p:blipFill>
        <p:spPr>
          <a:xfrm>
            <a:off x="4094559" y="4657130"/>
            <a:ext cx="228600" cy="285750"/>
          </a:xfrm>
          <a:prstGeom prst="rect">
            <a:avLst/>
          </a:prstGeom>
          <a:noFill/>
          <a:ln>
            <a:noFill/>
          </a:ln>
        </p:spPr>
      </p:pic>
      <p:sp>
        <p:nvSpPr>
          <p:cNvPr id="136" name="Google Shape;136;p6"/>
          <p:cNvSpPr/>
          <p:nvPr/>
        </p:nvSpPr>
        <p:spPr>
          <a:xfrm>
            <a:off x="990600" y="5076230"/>
            <a:ext cx="6436519" cy="1543050"/>
          </a:xfrm>
          <a:prstGeom prst="roundRect">
            <a:avLst>
              <a:gd fmla="val 9877"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1266825" y="5295305"/>
            <a:ext cx="647247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STEP 2</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1266825" y="5657255"/>
            <a:ext cx="6472476"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Light fine-tune attack</a:t>
            </a:r>
            <a:endParaRPr b="0" i="0" sz="2250" u="none" cap="none" strike="noStrike">
              <a:solidFill>
                <a:schemeClr val="dk1"/>
              </a:solidFill>
              <a:latin typeface="Calibri"/>
              <a:ea typeface="Calibri"/>
              <a:cs typeface="Calibri"/>
              <a:sym typeface="Calibri"/>
            </a:endParaRPr>
          </a:p>
        </p:txBody>
      </p:sp>
      <p:sp>
        <p:nvSpPr>
          <p:cNvPr id="139" name="Google Shape;139;p6"/>
          <p:cNvSpPr/>
          <p:nvPr/>
        </p:nvSpPr>
        <p:spPr>
          <a:xfrm>
            <a:off x="1266825" y="6085880"/>
            <a:ext cx="6472476"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Fifteen ordinary training steps.</a:t>
            </a:r>
            <a:endParaRPr b="0" i="0" sz="1875" u="none" cap="none" strike="noStrike">
              <a:solidFill>
                <a:schemeClr val="dk1"/>
              </a:solidFill>
              <a:latin typeface="Calibri"/>
              <a:ea typeface="Calibri"/>
              <a:cs typeface="Calibri"/>
              <a:sym typeface="Calibri"/>
            </a:endParaRPr>
          </a:p>
        </p:txBody>
      </p:sp>
      <p:pic>
        <p:nvPicPr>
          <p:cNvPr descr="preencoded.png" id="140" name="Google Shape;140;p6"/>
          <p:cNvPicPr preferRelativeResize="0"/>
          <p:nvPr/>
        </p:nvPicPr>
        <p:blipFill rotWithShape="1">
          <a:blip r:embed="rId5">
            <a:alphaModFix/>
          </a:blip>
          <a:srcRect b="0" l="0" r="0" t="0"/>
          <a:stretch/>
        </p:blipFill>
        <p:spPr>
          <a:xfrm>
            <a:off x="4094559" y="6714530"/>
            <a:ext cx="228600" cy="285750"/>
          </a:xfrm>
          <a:prstGeom prst="rect">
            <a:avLst/>
          </a:prstGeom>
          <a:noFill/>
          <a:ln>
            <a:noFill/>
          </a:ln>
        </p:spPr>
      </p:pic>
      <p:sp>
        <p:nvSpPr>
          <p:cNvPr id="141" name="Google Shape;141;p6"/>
          <p:cNvSpPr/>
          <p:nvPr/>
        </p:nvSpPr>
        <p:spPr>
          <a:xfrm>
            <a:off x="990600" y="7133630"/>
            <a:ext cx="6436519" cy="1552575"/>
          </a:xfrm>
          <a:prstGeom prst="roundRect">
            <a:avLst>
              <a:gd fmla="val 9816"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1271588" y="7357467"/>
            <a:ext cx="6461998"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STEP 3</a:t>
            </a:r>
            <a:endParaRPr b="0" i="0" sz="1800" u="none" cap="none" strike="noStrike">
              <a:solidFill>
                <a:schemeClr val="dk1"/>
              </a:solidFill>
              <a:latin typeface="Calibri"/>
              <a:ea typeface="Calibri"/>
              <a:cs typeface="Calibri"/>
              <a:sym typeface="Calibri"/>
            </a:endParaRPr>
          </a:p>
        </p:txBody>
      </p:sp>
      <p:sp>
        <p:nvSpPr>
          <p:cNvPr id="143" name="Google Shape;143;p6"/>
          <p:cNvSpPr/>
          <p:nvPr/>
        </p:nvSpPr>
        <p:spPr>
          <a:xfrm>
            <a:off x="1271588" y="7719417"/>
            <a:ext cx="6461998"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Content resurfaces</a:t>
            </a:r>
            <a:endParaRPr b="0" i="0" sz="2250" u="none" cap="none" strike="noStrike">
              <a:solidFill>
                <a:schemeClr val="dk1"/>
              </a:solidFill>
              <a:latin typeface="Calibri"/>
              <a:ea typeface="Calibri"/>
              <a:cs typeface="Calibri"/>
              <a:sym typeface="Calibri"/>
            </a:endParaRPr>
          </a:p>
        </p:txBody>
      </p:sp>
      <p:sp>
        <p:nvSpPr>
          <p:cNvPr id="144" name="Google Shape;144;p6"/>
          <p:cNvSpPr/>
          <p:nvPr/>
        </p:nvSpPr>
        <p:spPr>
          <a:xfrm>
            <a:off x="1271588" y="8148042"/>
            <a:ext cx="6461998"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It was suppressed, not removed.</a:t>
            </a:r>
            <a:endParaRPr b="0" i="0" sz="1875" u="none" cap="none" strike="noStrike">
              <a:solidFill>
                <a:schemeClr val="dk1"/>
              </a:solidFill>
              <a:latin typeface="Calibri"/>
              <a:ea typeface="Calibri"/>
              <a:cs typeface="Calibri"/>
              <a:sym typeface="Calibri"/>
            </a:endParaRPr>
          </a:p>
        </p:txBody>
      </p:sp>
      <p:sp>
        <p:nvSpPr>
          <p:cNvPr id="145" name="Google Shape;145;p6"/>
          <p:cNvSpPr/>
          <p:nvPr/>
        </p:nvSpPr>
        <p:spPr>
          <a:xfrm>
            <a:off x="7808119" y="1989683"/>
            <a:ext cx="9489281" cy="7725817"/>
          </a:xfrm>
          <a:prstGeom prst="roundRect">
            <a:avLst>
              <a:gd fmla="val 197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8198644" y="2323058"/>
            <a:ext cx="409391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WE REPRODUCED IT · NPO</a:t>
            </a:r>
            <a:endParaRPr b="0" i="0" sz="1800" u="none" cap="none" strike="noStrike">
              <a:solidFill>
                <a:schemeClr val="dk1"/>
              </a:solidFill>
              <a:latin typeface="Calibri"/>
              <a:ea typeface="Calibri"/>
              <a:cs typeface="Calibri"/>
              <a:sym typeface="Calibri"/>
            </a:endParaRPr>
          </a:p>
        </p:txBody>
      </p:sp>
      <p:sp>
        <p:nvSpPr>
          <p:cNvPr id="147" name="Google Shape;147;p6"/>
          <p:cNvSpPr/>
          <p:nvPr/>
        </p:nvSpPr>
        <p:spPr>
          <a:xfrm>
            <a:off x="14300746" y="2323058"/>
            <a:ext cx="286674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forget-set log-prob</a:t>
            </a:r>
            <a:endParaRPr b="0" i="0" sz="1800" u="none" cap="none" strike="noStrike">
              <a:solidFill>
                <a:schemeClr val="dk1"/>
              </a:solidFill>
              <a:latin typeface="Calibri"/>
              <a:ea typeface="Calibri"/>
              <a:cs typeface="Calibri"/>
              <a:sym typeface="Calibri"/>
            </a:endParaRPr>
          </a:p>
        </p:txBody>
      </p:sp>
      <p:sp>
        <p:nvSpPr>
          <p:cNvPr id="148" name="Google Shape;148;p6"/>
          <p:cNvSpPr/>
          <p:nvPr/>
        </p:nvSpPr>
        <p:spPr>
          <a:xfrm>
            <a:off x="9460409" y="4560094"/>
            <a:ext cx="16597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AFTER SCRUB</a:t>
            </a:r>
            <a:endParaRPr b="0" i="0" sz="1800" u="none" cap="none" strike="noStrike">
              <a:solidFill>
                <a:schemeClr val="dk1"/>
              </a:solidFill>
              <a:latin typeface="Calibri"/>
              <a:ea typeface="Calibri"/>
              <a:cs typeface="Calibri"/>
              <a:sym typeface="Calibri"/>
            </a:endParaRPr>
          </a:p>
        </p:txBody>
      </p:sp>
      <p:sp>
        <p:nvSpPr>
          <p:cNvPr id="149" name="Google Shape;149;p6"/>
          <p:cNvSpPr/>
          <p:nvPr/>
        </p:nvSpPr>
        <p:spPr>
          <a:xfrm>
            <a:off x="8762256" y="4960144"/>
            <a:ext cx="3195801" cy="1181100"/>
          </a:xfrm>
          <a:prstGeom prst="rect">
            <a:avLst/>
          </a:prstGeom>
          <a:noFill/>
          <a:ln>
            <a:noFill/>
          </a:ln>
        </p:spPr>
        <p:txBody>
          <a:bodyPr anchorCtr="0" anchor="t" bIns="25400" lIns="25400" spcFirstLastPara="1" rIns="25400" wrap="square" tIns="25400">
            <a:noAutofit/>
          </a:bodyPr>
          <a:lstStyle/>
          <a:p>
            <a:pPr indent="0" lvl="0" marL="0" marR="0" rtl="0" algn="l">
              <a:lnSpc>
                <a:spcPct val="78431"/>
              </a:lnSpc>
              <a:spcBef>
                <a:spcPts val="0"/>
              </a:spcBef>
              <a:spcAft>
                <a:spcPts val="0"/>
              </a:spcAft>
              <a:buClr>
                <a:srgbClr val="B8C2D6"/>
              </a:buClr>
              <a:buSzPts val="9000"/>
              <a:buFont typeface="Space Grotesk"/>
              <a:buNone/>
            </a:pPr>
            <a:r>
              <a:rPr b="1" i="0" lang="en-US" sz="9000" u="none" cap="none" strike="noStrike">
                <a:solidFill>
                  <a:srgbClr val="B8C2D6"/>
                </a:solidFill>
                <a:latin typeface="Space Grotesk"/>
                <a:ea typeface="Space Grotesk"/>
                <a:cs typeface="Space Grotesk"/>
                <a:sym typeface="Space Grotesk"/>
              </a:rPr>
              <a:t>−4.87</a:t>
            </a:r>
            <a:endParaRPr b="0" i="0" sz="9000" u="none" cap="none" strike="noStrike">
              <a:solidFill>
                <a:schemeClr val="dk1"/>
              </a:solidFill>
              <a:latin typeface="Calibri"/>
              <a:ea typeface="Calibri"/>
              <a:cs typeface="Calibri"/>
              <a:sym typeface="Calibri"/>
            </a:endParaRPr>
          </a:p>
        </p:txBody>
      </p:sp>
      <p:pic>
        <p:nvPicPr>
          <p:cNvPr descr="preencoded.png" id="150" name="Google Shape;150;p6"/>
          <p:cNvPicPr preferRelativeResize="0"/>
          <p:nvPr/>
        </p:nvPicPr>
        <p:blipFill rotWithShape="1">
          <a:blip r:embed="rId6">
            <a:alphaModFix/>
          </a:blip>
          <a:srcRect b="0" l="0" r="0" t="0"/>
          <a:stretch/>
        </p:blipFill>
        <p:spPr>
          <a:xfrm>
            <a:off x="11991380" y="5141119"/>
            <a:ext cx="1143000" cy="381000"/>
          </a:xfrm>
          <a:prstGeom prst="rect">
            <a:avLst/>
          </a:prstGeom>
          <a:noFill/>
          <a:ln>
            <a:noFill/>
          </a:ln>
        </p:spPr>
      </p:pic>
      <p:sp>
        <p:nvSpPr>
          <p:cNvPr id="151" name="Google Shape;151;p6"/>
          <p:cNvSpPr/>
          <p:nvPr/>
        </p:nvSpPr>
        <p:spPr>
          <a:xfrm>
            <a:off x="13529072" y="4560094"/>
            <a:ext cx="30175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AFTER 15-STEP ATTACK</a:t>
            </a:r>
            <a:endParaRPr b="0" i="0" sz="1800" u="none" cap="none" strike="noStrike">
              <a:solidFill>
                <a:schemeClr val="dk1"/>
              </a:solidFill>
              <a:latin typeface="Calibri"/>
              <a:ea typeface="Calibri"/>
              <a:cs typeface="Calibri"/>
              <a:sym typeface="Calibri"/>
            </a:endParaRPr>
          </a:p>
        </p:txBody>
      </p:sp>
      <p:sp>
        <p:nvSpPr>
          <p:cNvPr id="152" name="Google Shape;152;p6"/>
          <p:cNvSpPr/>
          <p:nvPr/>
        </p:nvSpPr>
        <p:spPr>
          <a:xfrm>
            <a:off x="13458230" y="4960144"/>
            <a:ext cx="3173537" cy="1181100"/>
          </a:xfrm>
          <a:prstGeom prst="rect">
            <a:avLst/>
          </a:prstGeom>
          <a:noFill/>
          <a:ln>
            <a:noFill/>
          </a:ln>
        </p:spPr>
        <p:txBody>
          <a:bodyPr anchorCtr="0" anchor="t" bIns="25400" lIns="25400" spcFirstLastPara="1" rIns="25400" wrap="square" tIns="25400">
            <a:noAutofit/>
          </a:bodyPr>
          <a:lstStyle/>
          <a:p>
            <a:pPr indent="0" lvl="0" marL="0" marR="0" rtl="0" algn="l">
              <a:lnSpc>
                <a:spcPct val="78431"/>
              </a:lnSpc>
              <a:spcBef>
                <a:spcPts val="0"/>
              </a:spcBef>
              <a:spcAft>
                <a:spcPts val="0"/>
              </a:spcAft>
              <a:buClr>
                <a:srgbClr val="2DD4BF"/>
              </a:buClr>
              <a:buSzPts val="9000"/>
              <a:buFont typeface="Space Grotesk"/>
              <a:buNone/>
            </a:pPr>
            <a:r>
              <a:rPr b="1" i="0" lang="en-US" sz="9000" u="none" cap="none" strike="noStrike">
                <a:solidFill>
                  <a:srgbClr val="2DD4BF"/>
                </a:solidFill>
                <a:latin typeface="Space Grotesk"/>
                <a:ea typeface="Space Grotesk"/>
                <a:cs typeface="Space Grotesk"/>
                <a:sym typeface="Space Grotesk"/>
              </a:rPr>
              <a:t>−0.76</a:t>
            </a:r>
            <a:endParaRPr b="0" i="0" sz="9000" u="none" cap="none" strike="noStrike">
              <a:solidFill>
                <a:schemeClr val="dk1"/>
              </a:solidFill>
              <a:latin typeface="Calibri"/>
              <a:ea typeface="Calibri"/>
              <a:cs typeface="Calibri"/>
              <a:sym typeface="Calibri"/>
            </a:endParaRPr>
          </a:p>
        </p:txBody>
      </p:sp>
      <p:sp>
        <p:nvSpPr>
          <p:cNvPr id="153" name="Google Shape;153;p6"/>
          <p:cNvSpPr/>
          <p:nvPr/>
        </p:nvSpPr>
        <p:spPr>
          <a:xfrm>
            <a:off x="8198644" y="8035528"/>
            <a:ext cx="8708231"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8198644" y="8235553"/>
            <a:ext cx="8969478" cy="784622"/>
          </a:xfrm>
          <a:prstGeom prst="rect">
            <a:avLst/>
          </a:prstGeom>
          <a:noFill/>
          <a:ln>
            <a:noFill/>
          </a:ln>
        </p:spPr>
        <p:txBody>
          <a:bodyPr anchorCtr="0" anchor="t" bIns="25400" lIns="25400" spcFirstLastPara="1" rIns="25400" wrap="square" tIns="25400">
            <a:noAutofit/>
          </a:bodyPr>
          <a:lstStyle/>
          <a:p>
            <a:pPr indent="0" lvl="0" marL="0" marR="0" rtl="0" algn="l">
              <a:lnSpc>
                <a:spcPct val="105946"/>
              </a:lnSpc>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NPO scrubs the forget set to −4.87; a 15-step attack brings it back to −0.76.</a:t>
            </a:r>
            <a:endParaRPr b="0" i="0" sz="2100" u="none" cap="none" strike="noStrike">
              <a:solidFill>
                <a:schemeClr val="dk1"/>
              </a:solidFill>
              <a:latin typeface="Calibri"/>
              <a:ea typeface="Calibri"/>
              <a:cs typeface="Calibri"/>
              <a:sym typeface="Calibri"/>
            </a:endParaRPr>
          </a:p>
        </p:txBody>
      </p:sp>
      <p:sp>
        <p:nvSpPr>
          <p:cNvPr id="155" name="Google Shape;155;p6"/>
          <p:cNvSpPr/>
          <p:nvPr/>
        </p:nvSpPr>
        <p:spPr>
          <a:xfrm>
            <a:off x="8198644" y="9077325"/>
            <a:ext cx="957905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Consistent with arXiv:2406.13356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160" name="Shape 160"/>
        <p:cNvGrpSpPr/>
        <p:nvPr/>
      </p:nvGrpSpPr>
      <p:grpSpPr>
        <a:xfrm>
          <a:off x="0" y="0"/>
          <a:ext cx="0" cy="0"/>
          <a:chOff x="0" y="0"/>
          <a:chExt cx="0" cy="0"/>
        </a:xfrm>
      </p:grpSpPr>
      <p:sp>
        <p:nvSpPr>
          <p:cNvPr id="161" name="Google Shape;161;p7"/>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 name="Google Shape;163;p7"/>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164" name="Google Shape;164;p7"/>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05</a:t>
            </a:r>
            <a:endParaRPr b="0" i="0" sz="1800" u="none" cap="none" strike="noStrike">
              <a:solidFill>
                <a:schemeClr val="dk1"/>
              </a:solidFill>
              <a:latin typeface="Calibri"/>
              <a:ea typeface="Calibri"/>
              <a:cs typeface="Calibri"/>
              <a:sym typeface="Calibri"/>
            </a:endParaRPr>
          </a:p>
        </p:txBody>
      </p:sp>
      <p:sp>
        <p:nvSpPr>
          <p:cNvPr id="165" name="Google Shape;165;p7"/>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166" name="Google Shape;166;p7"/>
          <p:cNvSpPr/>
          <p:nvPr/>
        </p:nvSpPr>
        <p:spPr>
          <a:xfrm>
            <a:off x="1732955" y="666750"/>
            <a:ext cx="341992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LITERATURE REVIEW</a:t>
            </a:r>
            <a:endParaRPr b="0" i="0" sz="1800" u="none" cap="none" strike="noStrike">
              <a:solidFill>
                <a:schemeClr val="dk1"/>
              </a:solidFill>
              <a:latin typeface="Calibri"/>
              <a:ea typeface="Calibri"/>
              <a:cs typeface="Calibri"/>
              <a:sym typeface="Calibri"/>
            </a:endParaRPr>
          </a:p>
        </p:txBody>
      </p:sp>
      <p:sp>
        <p:nvSpPr>
          <p:cNvPr id="167" name="Google Shape;167;p7"/>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What the Field Has — and What It Misses</a:t>
            </a:r>
            <a:endParaRPr b="0" i="0" sz="4350" u="none" cap="none" strike="noStrike">
              <a:solidFill>
                <a:schemeClr val="dk1"/>
              </a:solidFill>
              <a:latin typeface="Calibri"/>
              <a:ea typeface="Calibri"/>
              <a:cs typeface="Calibri"/>
              <a:sym typeface="Calibri"/>
            </a:endParaRPr>
          </a:p>
        </p:txBody>
      </p:sp>
      <p:sp>
        <p:nvSpPr>
          <p:cNvPr id="168" name="Google Shape;168;p7"/>
          <p:cNvSpPr/>
          <p:nvPr/>
        </p:nvSpPr>
        <p:spPr>
          <a:xfrm>
            <a:off x="990600" y="3585567"/>
            <a:ext cx="3905250" cy="4476750"/>
          </a:xfrm>
          <a:prstGeom prst="roundRect">
            <a:avLst>
              <a:gd fmla="val 3902"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1266825" y="3899892"/>
            <a:ext cx="3688080" cy="495300"/>
          </a:xfrm>
          <a:prstGeom prst="rect">
            <a:avLst/>
          </a:prstGeom>
          <a:noFill/>
          <a:ln>
            <a:noFill/>
          </a:ln>
        </p:spPr>
        <p:txBody>
          <a:bodyPr anchorCtr="0" anchor="t" bIns="25400" lIns="25400" spcFirstLastPara="1" rIns="25400" wrap="square" tIns="25400">
            <a:noAutofit/>
          </a:bodyPr>
          <a:lstStyle/>
          <a:p>
            <a:pPr indent="0" lvl="0" marL="0" marR="0" rtl="0" algn="l">
              <a:lnSpc>
                <a:spcPct val="78689"/>
              </a:lnSpc>
              <a:spcBef>
                <a:spcPts val="0"/>
              </a:spcBef>
              <a:spcAft>
                <a:spcPts val="0"/>
              </a:spcAft>
              <a:buClr>
                <a:srgbClr val="EAF0FA"/>
              </a:buClr>
              <a:buSzPts val="3600"/>
              <a:buFont typeface="Space Grotesk"/>
              <a:buNone/>
            </a:pPr>
            <a:r>
              <a:rPr b="1" i="0" lang="en-US" sz="3600" u="none" cap="none" strike="noStrike">
                <a:solidFill>
                  <a:srgbClr val="EAF0FA"/>
                </a:solidFill>
                <a:latin typeface="Space Grotesk"/>
                <a:ea typeface="Space Grotesk"/>
                <a:cs typeface="Space Grotesk"/>
                <a:sym typeface="Space Grotesk"/>
              </a:rPr>
              <a:t>2021</a:t>
            </a:r>
            <a:endParaRPr b="0" i="0" sz="3600" u="none" cap="none" strike="noStrike">
              <a:solidFill>
                <a:schemeClr val="dk1"/>
              </a:solidFill>
              <a:latin typeface="Calibri"/>
              <a:ea typeface="Calibri"/>
              <a:cs typeface="Calibri"/>
              <a:sym typeface="Calibri"/>
            </a:endParaRPr>
          </a:p>
        </p:txBody>
      </p:sp>
      <p:sp>
        <p:nvSpPr>
          <p:cNvPr id="170" name="Google Shape;170;p7"/>
          <p:cNvSpPr/>
          <p:nvPr/>
        </p:nvSpPr>
        <p:spPr>
          <a:xfrm>
            <a:off x="1266825" y="4471392"/>
            <a:ext cx="3688080"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SISA</a:t>
            </a:r>
            <a:endParaRPr b="0" i="0" sz="2400" u="none" cap="none" strike="noStrike">
              <a:solidFill>
                <a:schemeClr val="dk1"/>
              </a:solidFill>
              <a:latin typeface="Calibri"/>
              <a:ea typeface="Calibri"/>
              <a:cs typeface="Calibri"/>
              <a:sym typeface="Calibri"/>
            </a:endParaRPr>
          </a:p>
        </p:txBody>
      </p:sp>
      <p:sp>
        <p:nvSpPr>
          <p:cNvPr id="171" name="Google Shape;171;p7"/>
          <p:cNvSpPr/>
          <p:nvPr/>
        </p:nvSpPr>
        <p:spPr>
          <a:xfrm>
            <a:off x="1266825" y="5061942"/>
            <a:ext cx="3453384" cy="1586954"/>
          </a:xfrm>
          <a:prstGeom prst="rect">
            <a:avLst/>
          </a:prstGeom>
          <a:noFill/>
          <a:ln>
            <a:noFill/>
          </a:ln>
        </p:spPr>
        <p:txBody>
          <a:bodyPr anchorCtr="0" anchor="t" bIns="25400" lIns="25400" spcFirstLastPara="1" rIns="25400" wrap="square" tIns="25400">
            <a:noAutofit/>
          </a:bodyPr>
          <a:lstStyle/>
          <a:p>
            <a:pPr indent="0" lvl="0" marL="0" marR="0" rtl="0" algn="l">
              <a:lnSpc>
                <a:spcPct val="111857"/>
              </a:lnSpc>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Exact unlearning by sharding — retrain only the affected shard.</a:t>
            </a:r>
            <a:endParaRPr b="0" i="0" sz="2025" u="none" cap="none" strike="noStrike">
              <a:solidFill>
                <a:schemeClr val="dk1"/>
              </a:solidFill>
              <a:latin typeface="Calibri"/>
              <a:ea typeface="Calibri"/>
              <a:cs typeface="Calibri"/>
              <a:sym typeface="Calibri"/>
            </a:endParaRPr>
          </a:p>
        </p:txBody>
      </p:sp>
      <p:sp>
        <p:nvSpPr>
          <p:cNvPr id="172" name="Google Shape;172;p7"/>
          <p:cNvSpPr/>
          <p:nvPr/>
        </p:nvSpPr>
        <p:spPr>
          <a:xfrm>
            <a:off x="1266825" y="6801296"/>
            <a:ext cx="3688080" cy="346621"/>
          </a:xfrm>
          <a:prstGeom prst="rect">
            <a:avLst/>
          </a:prstGeom>
          <a:noFill/>
          <a:ln>
            <a:noFill/>
          </a:ln>
        </p:spPr>
        <p:txBody>
          <a:bodyPr anchorCtr="0" anchor="t" bIns="25400" lIns="25400" spcFirstLastPara="1" rIns="25400" wrap="square" tIns="25400">
            <a:noAutofit/>
          </a:bodyPr>
          <a:lstStyle/>
          <a:p>
            <a:pPr indent="0" lvl="0" marL="0" marR="0" rtl="0" algn="l">
              <a:lnSpc>
                <a:spcPct val="101250"/>
              </a:lnSpc>
              <a:spcBef>
                <a:spcPts val="0"/>
              </a:spcBef>
              <a:spcAft>
                <a:spcPts val="0"/>
              </a:spcAft>
              <a:buClr>
                <a:srgbClr val="EAF0FA"/>
              </a:buClr>
              <a:buSzPts val="1800"/>
              <a:buFont typeface="IBM Plex Mono"/>
              <a:buNone/>
            </a:pPr>
            <a:r>
              <a:rPr b="0" i="0" lang="en-US" sz="1800" u="none" cap="none" strike="noStrike">
                <a:solidFill>
                  <a:srgbClr val="EAF0FA"/>
                </a:solidFill>
                <a:latin typeface="IBM Plex Mono"/>
                <a:ea typeface="IBM Plex Mono"/>
                <a:cs typeface="IBM Plex Mono"/>
                <a:sym typeface="IBM Plex Mono"/>
              </a:rPr>
              <a:t>EXACT · RETRAIN-SCALE</a:t>
            </a:r>
            <a:endParaRPr b="0" i="0" sz="1800" u="none" cap="none" strike="noStrike">
              <a:solidFill>
                <a:schemeClr val="dk1"/>
              </a:solidFill>
              <a:latin typeface="Calibri"/>
              <a:ea typeface="Calibri"/>
              <a:cs typeface="Calibri"/>
              <a:sym typeface="Calibri"/>
            </a:endParaRPr>
          </a:p>
        </p:txBody>
      </p:sp>
      <p:sp>
        <p:nvSpPr>
          <p:cNvPr id="173" name="Google Shape;173;p7"/>
          <p:cNvSpPr/>
          <p:nvPr/>
        </p:nvSpPr>
        <p:spPr>
          <a:xfrm>
            <a:off x="1266825" y="7300317"/>
            <a:ext cx="335280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1266825" y="7443192"/>
            <a:ext cx="345338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Bourtoule et al.</a:t>
            </a:r>
            <a:endParaRPr b="0" i="0" sz="1800" u="none" cap="none" strike="noStrike">
              <a:solidFill>
                <a:schemeClr val="dk1"/>
              </a:solidFill>
              <a:latin typeface="Calibri"/>
              <a:ea typeface="Calibri"/>
              <a:cs typeface="Calibri"/>
              <a:sym typeface="Calibri"/>
            </a:endParaRPr>
          </a:p>
        </p:txBody>
      </p:sp>
      <p:sp>
        <p:nvSpPr>
          <p:cNvPr id="175" name="Google Shape;175;p7"/>
          <p:cNvSpPr/>
          <p:nvPr/>
        </p:nvSpPr>
        <p:spPr>
          <a:xfrm>
            <a:off x="5124450" y="3585567"/>
            <a:ext cx="3905250" cy="4476750"/>
          </a:xfrm>
          <a:prstGeom prst="roundRect">
            <a:avLst>
              <a:gd fmla="val 3902"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5400675" y="3899892"/>
            <a:ext cx="3688080" cy="495300"/>
          </a:xfrm>
          <a:prstGeom prst="rect">
            <a:avLst/>
          </a:prstGeom>
          <a:noFill/>
          <a:ln>
            <a:noFill/>
          </a:ln>
        </p:spPr>
        <p:txBody>
          <a:bodyPr anchorCtr="0" anchor="t" bIns="25400" lIns="25400" spcFirstLastPara="1" rIns="25400" wrap="square" tIns="25400">
            <a:noAutofit/>
          </a:bodyPr>
          <a:lstStyle/>
          <a:p>
            <a:pPr indent="0" lvl="0" marL="0" marR="0" rtl="0" algn="l">
              <a:lnSpc>
                <a:spcPct val="78689"/>
              </a:lnSpc>
              <a:spcBef>
                <a:spcPts val="0"/>
              </a:spcBef>
              <a:spcAft>
                <a:spcPts val="0"/>
              </a:spcAft>
              <a:buClr>
                <a:srgbClr val="EAF0FA"/>
              </a:buClr>
              <a:buSzPts val="3600"/>
              <a:buFont typeface="Space Grotesk"/>
              <a:buNone/>
            </a:pPr>
            <a:r>
              <a:rPr b="1" i="0" lang="en-US" sz="3600" u="none" cap="none" strike="noStrike">
                <a:solidFill>
                  <a:srgbClr val="EAF0FA"/>
                </a:solidFill>
                <a:latin typeface="Space Grotesk"/>
                <a:ea typeface="Space Grotesk"/>
                <a:cs typeface="Space Grotesk"/>
                <a:sym typeface="Space Grotesk"/>
              </a:rPr>
              <a:t>2024</a:t>
            </a:r>
            <a:endParaRPr b="0" i="0" sz="3600" u="none" cap="none" strike="noStrike">
              <a:solidFill>
                <a:schemeClr val="dk1"/>
              </a:solidFill>
              <a:latin typeface="Calibri"/>
              <a:ea typeface="Calibri"/>
              <a:cs typeface="Calibri"/>
              <a:sym typeface="Calibri"/>
            </a:endParaRPr>
          </a:p>
        </p:txBody>
      </p:sp>
      <p:sp>
        <p:nvSpPr>
          <p:cNvPr id="177" name="Google Shape;177;p7"/>
          <p:cNvSpPr/>
          <p:nvPr/>
        </p:nvSpPr>
        <p:spPr>
          <a:xfrm>
            <a:off x="5400675" y="4471392"/>
            <a:ext cx="3688080"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NPO · RMU</a:t>
            </a:r>
            <a:endParaRPr b="0" i="0" sz="2400" u="none" cap="none" strike="noStrike">
              <a:solidFill>
                <a:schemeClr val="dk1"/>
              </a:solidFill>
              <a:latin typeface="Calibri"/>
              <a:ea typeface="Calibri"/>
              <a:cs typeface="Calibri"/>
              <a:sym typeface="Calibri"/>
            </a:endParaRPr>
          </a:p>
        </p:txBody>
      </p:sp>
      <p:sp>
        <p:nvSpPr>
          <p:cNvPr id="178" name="Google Shape;178;p7"/>
          <p:cNvSpPr/>
          <p:nvPr/>
        </p:nvSpPr>
        <p:spPr>
          <a:xfrm>
            <a:off x="5400675" y="5061942"/>
            <a:ext cx="3453384" cy="1586954"/>
          </a:xfrm>
          <a:prstGeom prst="rect">
            <a:avLst/>
          </a:prstGeom>
          <a:noFill/>
          <a:ln>
            <a:noFill/>
          </a:ln>
        </p:spPr>
        <p:txBody>
          <a:bodyPr anchorCtr="0" anchor="t" bIns="25400" lIns="25400" spcFirstLastPara="1" rIns="25400" wrap="square" tIns="25400">
            <a:noAutofit/>
          </a:bodyPr>
          <a:lstStyle/>
          <a:p>
            <a:pPr indent="0" lvl="0" marL="0" marR="0" rtl="0" algn="l">
              <a:lnSpc>
                <a:spcPct val="111857"/>
              </a:lnSpc>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Preference-loss and representation scrubs at one training pass.</a:t>
            </a:r>
            <a:endParaRPr b="0" i="0" sz="2025" u="none" cap="none" strike="noStrike">
              <a:solidFill>
                <a:schemeClr val="dk1"/>
              </a:solidFill>
              <a:latin typeface="Calibri"/>
              <a:ea typeface="Calibri"/>
              <a:cs typeface="Calibri"/>
              <a:sym typeface="Calibri"/>
            </a:endParaRPr>
          </a:p>
        </p:txBody>
      </p:sp>
      <p:sp>
        <p:nvSpPr>
          <p:cNvPr id="179" name="Google Shape;179;p7"/>
          <p:cNvSpPr/>
          <p:nvPr/>
        </p:nvSpPr>
        <p:spPr>
          <a:xfrm>
            <a:off x="5400675" y="6801296"/>
            <a:ext cx="3688080" cy="346621"/>
          </a:xfrm>
          <a:prstGeom prst="rect">
            <a:avLst/>
          </a:prstGeom>
          <a:noFill/>
          <a:ln>
            <a:noFill/>
          </a:ln>
        </p:spPr>
        <p:txBody>
          <a:bodyPr anchorCtr="0" anchor="t" bIns="25400" lIns="25400" spcFirstLastPara="1" rIns="25400" wrap="square" tIns="25400">
            <a:noAutofit/>
          </a:bodyPr>
          <a:lstStyle/>
          <a:p>
            <a:pPr indent="0" lvl="0" marL="0" marR="0" rtl="0" algn="l">
              <a:lnSpc>
                <a:spcPct val="101250"/>
              </a:lnSpc>
              <a:spcBef>
                <a:spcPts val="0"/>
              </a:spcBef>
              <a:spcAft>
                <a:spcPts val="0"/>
              </a:spcAft>
              <a:buClr>
                <a:srgbClr val="EAF0FA"/>
              </a:buClr>
              <a:buSzPts val="1800"/>
              <a:buFont typeface="IBM Plex Mono"/>
              <a:buNone/>
            </a:pPr>
            <a:r>
              <a:rPr b="0" i="0" lang="en-US" sz="1800" u="none" cap="none" strike="noStrike">
                <a:solidFill>
                  <a:srgbClr val="EAF0FA"/>
                </a:solidFill>
                <a:latin typeface="IBM Plex Mono"/>
                <a:ea typeface="IBM Plex Mono"/>
                <a:cs typeface="IBM Plex Mono"/>
                <a:sym typeface="IBM Plex Mono"/>
              </a:rPr>
              <a:t>CHEAP · APPROXIMATE</a:t>
            </a:r>
            <a:endParaRPr b="0" i="0" sz="1800" u="none" cap="none" strike="noStrike">
              <a:solidFill>
                <a:schemeClr val="dk1"/>
              </a:solidFill>
              <a:latin typeface="Calibri"/>
              <a:ea typeface="Calibri"/>
              <a:cs typeface="Calibri"/>
              <a:sym typeface="Calibri"/>
            </a:endParaRPr>
          </a:p>
        </p:txBody>
      </p:sp>
      <p:sp>
        <p:nvSpPr>
          <p:cNvPr id="180" name="Google Shape;180;p7"/>
          <p:cNvSpPr/>
          <p:nvPr/>
        </p:nvSpPr>
        <p:spPr>
          <a:xfrm>
            <a:off x="5400675" y="7300317"/>
            <a:ext cx="335280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5400675" y="7443192"/>
            <a:ext cx="345338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Zhang; Li et al.</a:t>
            </a:r>
            <a:endParaRPr b="0" i="0" sz="1800" u="none" cap="none" strike="noStrike">
              <a:solidFill>
                <a:schemeClr val="dk1"/>
              </a:solidFill>
              <a:latin typeface="Calibri"/>
              <a:ea typeface="Calibri"/>
              <a:cs typeface="Calibri"/>
              <a:sym typeface="Calibri"/>
            </a:endParaRPr>
          </a:p>
        </p:txBody>
      </p:sp>
      <p:sp>
        <p:nvSpPr>
          <p:cNvPr id="182" name="Google Shape;182;p7"/>
          <p:cNvSpPr/>
          <p:nvPr/>
        </p:nvSpPr>
        <p:spPr>
          <a:xfrm>
            <a:off x="9258300" y="3585567"/>
            <a:ext cx="3905250" cy="4476750"/>
          </a:xfrm>
          <a:prstGeom prst="roundRect">
            <a:avLst>
              <a:gd fmla="val 3902"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9534525" y="3899892"/>
            <a:ext cx="3688080" cy="495300"/>
          </a:xfrm>
          <a:prstGeom prst="rect">
            <a:avLst/>
          </a:prstGeom>
          <a:noFill/>
          <a:ln>
            <a:noFill/>
          </a:ln>
        </p:spPr>
        <p:txBody>
          <a:bodyPr anchorCtr="0" anchor="t" bIns="25400" lIns="25400" spcFirstLastPara="1" rIns="25400" wrap="square" tIns="25400">
            <a:noAutofit/>
          </a:bodyPr>
          <a:lstStyle/>
          <a:p>
            <a:pPr indent="0" lvl="0" marL="0" marR="0" rtl="0" algn="l">
              <a:lnSpc>
                <a:spcPct val="78689"/>
              </a:lnSpc>
              <a:spcBef>
                <a:spcPts val="0"/>
              </a:spcBef>
              <a:spcAft>
                <a:spcPts val="0"/>
              </a:spcAft>
              <a:buClr>
                <a:srgbClr val="EAF0FA"/>
              </a:buClr>
              <a:buSzPts val="3600"/>
              <a:buFont typeface="Space Grotesk"/>
              <a:buNone/>
            </a:pPr>
            <a:r>
              <a:rPr b="1" i="0" lang="en-US" sz="3600" u="none" cap="none" strike="noStrike">
                <a:solidFill>
                  <a:srgbClr val="EAF0FA"/>
                </a:solidFill>
                <a:latin typeface="Space Grotesk"/>
                <a:ea typeface="Space Grotesk"/>
                <a:cs typeface="Space Grotesk"/>
                <a:sym typeface="Space Grotesk"/>
              </a:rPr>
              <a:t>2024</a:t>
            </a:r>
            <a:endParaRPr b="0" i="0" sz="3600" u="none" cap="none" strike="noStrike">
              <a:solidFill>
                <a:schemeClr val="dk1"/>
              </a:solidFill>
              <a:latin typeface="Calibri"/>
              <a:ea typeface="Calibri"/>
              <a:cs typeface="Calibri"/>
              <a:sym typeface="Calibri"/>
            </a:endParaRPr>
          </a:p>
        </p:txBody>
      </p:sp>
      <p:sp>
        <p:nvSpPr>
          <p:cNvPr id="184" name="Google Shape;184;p7"/>
          <p:cNvSpPr/>
          <p:nvPr/>
        </p:nvSpPr>
        <p:spPr>
          <a:xfrm>
            <a:off x="9534525" y="4471392"/>
            <a:ext cx="3688080"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Relearning attacks</a:t>
            </a:r>
            <a:endParaRPr b="0" i="0" sz="2400" u="none" cap="none" strike="noStrike">
              <a:solidFill>
                <a:schemeClr val="dk1"/>
              </a:solidFill>
              <a:latin typeface="Calibri"/>
              <a:ea typeface="Calibri"/>
              <a:cs typeface="Calibri"/>
              <a:sym typeface="Calibri"/>
            </a:endParaRPr>
          </a:p>
        </p:txBody>
      </p:sp>
      <p:sp>
        <p:nvSpPr>
          <p:cNvPr id="185" name="Google Shape;185;p7"/>
          <p:cNvSpPr/>
          <p:nvPr/>
        </p:nvSpPr>
        <p:spPr>
          <a:xfrm>
            <a:off x="9534525" y="5061942"/>
            <a:ext cx="3453384" cy="1586954"/>
          </a:xfrm>
          <a:prstGeom prst="rect">
            <a:avLst/>
          </a:prstGeom>
          <a:noFill/>
          <a:ln>
            <a:noFill/>
          </a:ln>
        </p:spPr>
        <p:txBody>
          <a:bodyPr anchorCtr="0" anchor="t" bIns="25400" lIns="25400" spcFirstLastPara="1" rIns="25400" wrap="square" tIns="25400">
            <a:noAutofit/>
          </a:bodyPr>
          <a:lstStyle/>
          <a:p>
            <a:pPr indent="0" lvl="0" marL="0" marR="0" rtl="0" algn="l">
              <a:lnSpc>
                <a:spcPct val="111857"/>
              </a:lnSpc>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A light fine-tune revives forgotten content.</a:t>
            </a:r>
            <a:endParaRPr b="0" i="0" sz="2025" u="none" cap="none" strike="noStrike">
              <a:solidFill>
                <a:schemeClr val="dk1"/>
              </a:solidFill>
              <a:latin typeface="Calibri"/>
              <a:ea typeface="Calibri"/>
              <a:cs typeface="Calibri"/>
              <a:sym typeface="Calibri"/>
            </a:endParaRPr>
          </a:p>
        </p:txBody>
      </p:sp>
      <p:sp>
        <p:nvSpPr>
          <p:cNvPr id="186" name="Google Shape;186;p7"/>
          <p:cNvSpPr/>
          <p:nvPr/>
        </p:nvSpPr>
        <p:spPr>
          <a:xfrm>
            <a:off x="9534525" y="6801296"/>
            <a:ext cx="3688080" cy="346621"/>
          </a:xfrm>
          <a:prstGeom prst="rect">
            <a:avLst/>
          </a:prstGeom>
          <a:noFill/>
          <a:ln>
            <a:noFill/>
          </a:ln>
        </p:spPr>
        <p:txBody>
          <a:bodyPr anchorCtr="0" anchor="t" bIns="25400" lIns="25400" spcFirstLastPara="1" rIns="25400" wrap="square" tIns="25400">
            <a:noAutofit/>
          </a:bodyPr>
          <a:lstStyle/>
          <a:p>
            <a:pPr indent="0" lvl="0" marL="0" marR="0" rtl="0" algn="l">
              <a:lnSpc>
                <a:spcPct val="101250"/>
              </a:lnSpc>
              <a:spcBef>
                <a:spcPts val="0"/>
              </a:spcBef>
              <a:spcAft>
                <a:spcPts val="0"/>
              </a:spcAft>
              <a:buClr>
                <a:srgbClr val="EAF0FA"/>
              </a:buClr>
              <a:buSzPts val="1800"/>
              <a:buFont typeface="IBM Plex Mono"/>
              <a:buNone/>
            </a:pPr>
            <a:r>
              <a:rPr b="0" i="0" lang="en-US" sz="1800" u="none" cap="none" strike="noStrike">
                <a:solidFill>
                  <a:srgbClr val="EAF0FA"/>
                </a:solidFill>
                <a:latin typeface="IBM Plex Mono"/>
                <a:ea typeface="IBM Plex Mono"/>
                <a:cs typeface="IBM Plex Mono"/>
                <a:sym typeface="IBM Plex Mono"/>
              </a:rPr>
              <a:t>THE THREAT</a:t>
            </a:r>
            <a:endParaRPr b="0" i="0" sz="1800" u="none" cap="none" strike="noStrike">
              <a:solidFill>
                <a:schemeClr val="dk1"/>
              </a:solidFill>
              <a:latin typeface="Calibri"/>
              <a:ea typeface="Calibri"/>
              <a:cs typeface="Calibri"/>
              <a:sym typeface="Calibri"/>
            </a:endParaRPr>
          </a:p>
        </p:txBody>
      </p:sp>
      <p:sp>
        <p:nvSpPr>
          <p:cNvPr id="187" name="Google Shape;187;p7"/>
          <p:cNvSpPr/>
          <p:nvPr/>
        </p:nvSpPr>
        <p:spPr>
          <a:xfrm>
            <a:off x="9534525" y="7300317"/>
            <a:ext cx="335280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9534525" y="7443192"/>
            <a:ext cx="345338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arXiv:2406.13356</a:t>
            </a:r>
            <a:endParaRPr b="0" i="0" sz="1800" u="none" cap="none" strike="noStrike">
              <a:solidFill>
                <a:schemeClr val="dk1"/>
              </a:solidFill>
              <a:latin typeface="Calibri"/>
              <a:ea typeface="Calibri"/>
              <a:cs typeface="Calibri"/>
              <a:sym typeface="Calibri"/>
            </a:endParaRPr>
          </a:p>
        </p:txBody>
      </p:sp>
      <p:sp>
        <p:nvSpPr>
          <p:cNvPr id="189" name="Google Shape;189;p7"/>
          <p:cNvSpPr/>
          <p:nvPr/>
        </p:nvSpPr>
        <p:spPr>
          <a:xfrm>
            <a:off x="13392150" y="3585567"/>
            <a:ext cx="3905250" cy="4476750"/>
          </a:xfrm>
          <a:prstGeom prst="roundRect">
            <a:avLst>
              <a:gd fmla="val 3902"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13673138" y="3904655"/>
            <a:ext cx="3677602" cy="495300"/>
          </a:xfrm>
          <a:prstGeom prst="rect">
            <a:avLst/>
          </a:prstGeom>
          <a:noFill/>
          <a:ln>
            <a:noFill/>
          </a:ln>
        </p:spPr>
        <p:txBody>
          <a:bodyPr anchorCtr="0" anchor="t" bIns="25400" lIns="25400" spcFirstLastPara="1" rIns="25400" wrap="square" tIns="25400">
            <a:noAutofit/>
          </a:bodyPr>
          <a:lstStyle/>
          <a:p>
            <a:pPr indent="0" lvl="0" marL="0" marR="0" rtl="0" algn="l">
              <a:lnSpc>
                <a:spcPct val="78689"/>
              </a:lnSpc>
              <a:spcBef>
                <a:spcPts val="0"/>
              </a:spcBef>
              <a:spcAft>
                <a:spcPts val="0"/>
              </a:spcAft>
              <a:buClr>
                <a:srgbClr val="2DD4BF"/>
              </a:buClr>
              <a:buSzPts val="3600"/>
              <a:buFont typeface="Space Grotesk"/>
              <a:buNone/>
            </a:pPr>
            <a:r>
              <a:rPr b="1" i="0" lang="en-US" sz="3600" u="none" cap="none" strike="noStrike">
                <a:solidFill>
                  <a:srgbClr val="2DD4BF"/>
                </a:solidFill>
                <a:latin typeface="Space Grotesk"/>
                <a:ea typeface="Space Grotesk"/>
                <a:cs typeface="Space Grotesk"/>
                <a:sym typeface="Space Grotesk"/>
              </a:rPr>
              <a:t>2024</a:t>
            </a:r>
            <a:endParaRPr b="0" i="0" sz="3600" u="none" cap="none" strike="noStrike">
              <a:solidFill>
                <a:schemeClr val="dk1"/>
              </a:solidFill>
              <a:latin typeface="Calibri"/>
              <a:ea typeface="Calibri"/>
              <a:cs typeface="Calibri"/>
              <a:sym typeface="Calibri"/>
            </a:endParaRPr>
          </a:p>
        </p:txBody>
      </p:sp>
      <p:sp>
        <p:nvSpPr>
          <p:cNvPr id="191" name="Google Shape;191;p7"/>
          <p:cNvSpPr/>
          <p:nvPr/>
        </p:nvSpPr>
        <p:spPr>
          <a:xfrm>
            <a:off x="13673138" y="4476155"/>
            <a:ext cx="3677602"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TOFU · MUSE</a:t>
            </a:r>
            <a:endParaRPr b="0" i="0" sz="2400" u="none" cap="none" strike="noStrike">
              <a:solidFill>
                <a:schemeClr val="dk1"/>
              </a:solidFill>
              <a:latin typeface="Calibri"/>
              <a:ea typeface="Calibri"/>
              <a:cs typeface="Calibri"/>
              <a:sym typeface="Calibri"/>
            </a:endParaRPr>
          </a:p>
        </p:txBody>
      </p:sp>
      <p:sp>
        <p:nvSpPr>
          <p:cNvPr id="192" name="Google Shape;192;p7"/>
          <p:cNvSpPr/>
          <p:nvPr/>
        </p:nvSpPr>
        <p:spPr>
          <a:xfrm>
            <a:off x="13673138" y="5066705"/>
            <a:ext cx="3443573" cy="1268909"/>
          </a:xfrm>
          <a:prstGeom prst="rect">
            <a:avLst/>
          </a:prstGeom>
          <a:noFill/>
          <a:ln>
            <a:noFill/>
          </a:ln>
        </p:spPr>
        <p:txBody>
          <a:bodyPr anchorCtr="0" anchor="t" bIns="25400" lIns="25400" spcFirstLastPara="1" rIns="25400" wrap="square" tIns="25400">
            <a:noAutofit/>
          </a:bodyPr>
          <a:lstStyle/>
          <a:p>
            <a:pPr indent="0" lvl="0" marL="0" marR="0" rtl="0" algn="l">
              <a:lnSpc>
                <a:spcPct val="111857"/>
              </a:lnSpc>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Standard forget and retain benchmarks.</a:t>
            </a:r>
            <a:endParaRPr b="0" i="0" sz="2025" u="none" cap="none" strike="noStrike">
              <a:solidFill>
                <a:schemeClr val="dk1"/>
              </a:solidFill>
              <a:latin typeface="Calibri"/>
              <a:ea typeface="Calibri"/>
              <a:cs typeface="Calibri"/>
              <a:sym typeface="Calibri"/>
            </a:endParaRPr>
          </a:p>
        </p:txBody>
      </p:sp>
      <p:sp>
        <p:nvSpPr>
          <p:cNvPr id="193" name="Google Shape;193;p7"/>
          <p:cNvSpPr/>
          <p:nvPr/>
        </p:nvSpPr>
        <p:spPr>
          <a:xfrm>
            <a:off x="13673138" y="6488013"/>
            <a:ext cx="3443573" cy="655141"/>
          </a:xfrm>
          <a:prstGeom prst="rect">
            <a:avLst/>
          </a:prstGeom>
          <a:noFill/>
          <a:ln>
            <a:noFill/>
          </a:ln>
        </p:spPr>
        <p:txBody>
          <a:bodyPr anchorCtr="0" anchor="t" bIns="25400" lIns="25400" spcFirstLastPara="1" rIns="25400" wrap="square" tIns="25400">
            <a:noAutofit/>
          </a:bodyPr>
          <a:lstStyle/>
          <a:p>
            <a:pPr indent="0" lvl="0" marL="0" marR="0" rtl="0" algn="l">
              <a:lnSpc>
                <a:spcPct val="101250"/>
              </a:lnSpc>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SCORE ONCE — NEVER AFTER AN ATTACK</a:t>
            </a:r>
            <a:endParaRPr b="0" i="0" sz="1800" u="none" cap="none" strike="noStrike">
              <a:solidFill>
                <a:schemeClr val="dk1"/>
              </a:solidFill>
              <a:latin typeface="Calibri"/>
              <a:ea typeface="Calibri"/>
              <a:cs typeface="Calibri"/>
              <a:sym typeface="Calibri"/>
            </a:endParaRPr>
          </a:p>
        </p:txBody>
      </p:sp>
      <p:sp>
        <p:nvSpPr>
          <p:cNvPr id="194" name="Google Shape;194;p7"/>
          <p:cNvSpPr/>
          <p:nvPr/>
        </p:nvSpPr>
        <p:spPr>
          <a:xfrm>
            <a:off x="13673138" y="7295555"/>
            <a:ext cx="3343275"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13673138" y="7438430"/>
            <a:ext cx="344357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Maini; Shi et 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200" name="Shape 200"/>
        <p:cNvGrpSpPr/>
        <p:nvPr/>
      </p:nvGrpSpPr>
      <p:grpSpPr>
        <a:xfrm>
          <a:off x="0" y="0"/>
          <a:ext cx="0" cy="0"/>
          <a:chOff x="0" y="0"/>
          <a:chExt cx="0" cy="0"/>
        </a:xfrm>
      </p:grpSpPr>
      <p:sp>
        <p:nvSpPr>
          <p:cNvPr id="201" name="Google Shape;201;p8"/>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8"/>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204" name="Google Shape;204;p8"/>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06</a:t>
            </a:r>
            <a:endParaRPr b="0" i="0" sz="1800" u="none" cap="none" strike="noStrike">
              <a:solidFill>
                <a:schemeClr val="dk1"/>
              </a:solidFill>
              <a:latin typeface="Calibri"/>
              <a:ea typeface="Calibri"/>
              <a:cs typeface="Calibri"/>
              <a:sym typeface="Calibri"/>
            </a:endParaRPr>
          </a:p>
        </p:txBody>
      </p:sp>
      <p:sp>
        <p:nvSpPr>
          <p:cNvPr id="205" name="Google Shape;205;p8"/>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206" name="Google Shape;206;p8"/>
          <p:cNvSpPr/>
          <p:nvPr/>
        </p:nvSpPr>
        <p:spPr>
          <a:xfrm>
            <a:off x="1732955" y="666750"/>
            <a:ext cx="241408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RESEARCH GAP</a:t>
            </a:r>
            <a:endParaRPr b="0" i="0" sz="1800" u="none" cap="none" strike="noStrike">
              <a:solidFill>
                <a:schemeClr val="dk1"/>
              </a:solidFill>
              <a:latin typeface="Calibri"/>
              <a:ea typeface="Calibri"/>
              <a:cs typeface="Calibri"/>
              <a:sym typeface="Calibri"/>
            </a:endParaRPr>
          </a:p>
        </p:txBody>
      </p:sp>
      <p:sp>
        <p:nvSpPr>
          <p:cNvPr id="207" name="Google Shape;207;p8"/>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The Cheap-and-Durable Corner Is Empty</a:t>
            </a:r>
            <a:endParaRPr b="0" i="0" sz="4350" u="none" cap="none" strike="noStrike">
              <a:solidFill>
                <a:schemeClr val="dk1"/>
              </a:solidFill>
              <a:latin typeface="Calibri"/>
              <a:ea typeface="Calibri"/>
              <a:cs typeface="Calibri"/>
              <a:sym typeface="Calibri"/>
            </a:endParaRPr>
          </a:p>
        </p:txBody>
      </p:sp>
      <p:sp>
        <p:nvSpPr>
          <p:cNvPr id="208" name="Google Shape;208;p8"/>
          <p:cNvSpPr/>
          <p:nvPr/>
        </p:nvSpPr>
        <p:spPr>
          <a:xfrm>
            <a:off x="990600" y="1951583"/>
            <a:ext cx="9720114" cy="7763917"/>
          </a:xfrm>
          <a:prstGeom prst="roundRect">
            <a:avLst>
              <a:gd fmla="val 196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1323975" y="2227808"/>
            <a:ext cx="316338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COST × DURABILITY</a:t>
            </a:r>
            <a:endParaRPr b="0" i="0" sz="1800" u="none" cap="none" strike="noStrike">
              <a:solidFill>
                <a:schemeClr val="dk1"/>
              </a:solidFill>
              <a:latin typeface="Calibri"/>
              <a:ea typeface="Calibri"/>
              <a:cs typeface="Calibri"/>
              <a:sym typeface="Calibri"/>
            </a:endParaRPr>
          </a:p>
        </p:txBody>
      </p:sp>
      <p:sp>
        <p:nvSpPr>
          <p:cNvPr id="210" name="Google Shape;210;p8"/>
          <p:cNvSpPr/>
          <p:nvPr/>
        </p:nvSpPr>
        <p:spPr>
          <a:xfrm>
            <a:off x="9142809" y="2227808"/>
            <a:ext cx="13579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schematic</a:t>
            </a:r>
            <a:endParaRPr b="0" i="0" sz="1800" u="none" cap="none" strike="noStrike">
              <a:solidFill>
                <a:schemeClr val="dk1"/>
              </a:solidFill>
              <a:latin typeface="Calibri"/>
              <a:ea typeface="Calibri"/>
              <a:cs typeface="Calibri"/>
              <a:sym typeface="Calibri"/>
            </a:endParaRPr>
          </a:p>
        </p:txBody>
      </p:sp>
      <p:sp>
        <p:nvSpPr>
          <p:cNvPr id="211" name="Google Shape;211;p8"/>
          <p:cNvSpPr/>
          <p:nvPr/>
        </p:nvSpPr>
        <p:spPr>
          <a:xfrm>
            <a:off x="1895475" y="9058275"/>
            <a:ext cx="8386614" cy="19050"/>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1895475" y="2742158"/>
            <a:ext cx="19050" cy="6335167"/>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1914525" y="2742158"/>
            <a:ext cx="4016425" cy="3031629"/>
          </a:xfrm>
          <a:custGeom>
            <a:rect b="b" l="l" r="r" t="t"/>
            <a:pathLst>
              <a:path extrusionOk="0" h="3031629" w="4016425">
                <a:moveTo>
                  <a:pt x="0" y="0"/>
                </a:moveTo>
                <a:lnTo>
                  <a:pt x="4016425" y="0"/>
                </a:lnTo>
                <a:lnTo>
                  <a:pt x="4016425" y="2898279"/>
                </a:lnTo>
                <a:cubicBezTo>
                  <a:pt x="4016425" y="2971926"/>
                  <a:pt x="3956722" y="3031629"/>
                  <a:pt x="3883075" y="3031629"/>
                </a:cubicBezTo>
                <a:lnTo>
                  <a:pt x="0" y="3031629"/>
                </a:lnTo>
                <a:lnTo>
                  <a:pt x="0" y="0"/>
                </a:lnTo>
                <a:close/>
              </a:path>
            </a:pathLst>
          </a:custGeom>
          <a:solidFill>
            <a:srgbClr val="2DD4B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1914525" y="5759500"/>
            <a:ext cx="4016425" cy="14288"/>
          </a:xfrm>
          <a:prstGeom prst="rect">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5916662" y="2742158"/>
            <a:ext cx="14288" cy="3031629"/>
          </a:xfrm>
          <a:prstGeom prst="rect">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2332881" y="3499991"/>
            <a:ext cx="942975"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950"/>
              <a:buFont typeface="IBM Plex Mono"/>
              <a:buNone/>
            </a:pPr>
            <a:r>
              <a:rPr b="0" i="0" lang="en-US" sz="1950" u="none" cap="none" strike="noStrike">
                <a:solidFill>
                  <a:srgbClr val="2DD4BF"/>
                </a:solidFill>
                <a:latin typeface="IBM Plex Mono"/>
                <a:ea typeface="IBM Plex Mono"/>
                <a:cs typeface="IBM Plex Mono"/>
                <a:sym typeface="IBM Plex Mono"/>
              </a:rPr>
              <a:t>EMPTY</a:t>
            </a:r>
            <a:endParaRPr b="0" i="0" sz="1950" u="none" cap="none" strike="noStrike">
              <a:solidFill>
                <a:schemeClr val="dk1"/>
              </a:solidFill>
              <a:latin typeface="Calibri"/>
              <a:ea typeface="Calibri"/>
              <a:cs typeface="Calibri"/>
              <a:sym typeface="Calibri"/>
            </a:endParaRPr>
          </a:p>
        </p:txBody>
      </p:sp>
      <p:sp>
        <p:nvSpPr>
          <p:cNvPr id="217" name="Google Shape;217;p8"/>
          <p:cNvSpPr/>
          <p:nvPr/>
        </p:nvSpPr>
        <p:spPr>
          <a:xfrm>
            <a:off x="2332881" y="4257973"/>
            <a:ext cx="153348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HRU's target</a:t>
            </a:r>
            <a:endParaRPr b="0" i="0" sz="1950" u="none" cap="none" strike="noStrike">
              <a:solidFill>
                <a:schemeClr val="dk1"/>
              </a:solidFill>
              <a:latin typeface="Calibri"/>
              <a:ea typeface="Calibri"/>
              <a:cs typeface="Calibri"/>
              <a:sym typeface="Calibri"/>
            </a:endParaRPr>
          </a:p>
        </p:txBody>
      </p:sp>
      <p:sp>
        <p:nvSpPr>
          <p:cNvPr id="218" name="Google Shape;218;p8"/>
          <p:cNvSpPr/>
          <p:nvPr/>
        </p:nvSpPr>
        <p:spPr>
          <a:xfrm>
            <a:off x="8345835" y="3657451"/>
            <a:ext cx="190500" cy="190500"/>
          </a:xfrm>
          <a:prstGeom prst="ellipse">
            <a:avLst/>
          </a:prstGeom>
          <a:solidFill>
            <a:srgbClr val="B8C2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7341840" y="4036368"/>
            <a:ext cx="190500" cy="190500"/>
          </a:xfrm>
          <a:prstGeom prst="ellipse">
            <a:avLst/>
          </a:prstGeom>
          <a:solidFill>
            <a:srgbClr val="B8C2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6934944" y="4636889"/>
            <a:ext cx="2139866"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Full retrain · SISA</a:t>
            </a:r>
            <a:endParaRPr b="0" i="0" sz="1950" u="none" cap="none" strike="noStrike">
              <a:solidFill>
                <a:schemeClr val="dk1"/>
              </a:solidFill>
              <a:latin typeface="Calibri"/>
              <a:ea typeface="Calibri"/>
              <a:cs typeface="Calibri"/>
              <a:sym typeface="Calibri"/>
            </a:endParaRPr>
          </a:p>
        </p:txBody>
      </p:sp>
      <p:sp>
        <p:nvSpPr>
          <p:cNvPr id="221" name="Google Shape;221;p8"/>
          <p:cNvSpPr/>
          <p:nvPr/>
        </p:nvSpPr>
        <p:spPr>
          <a:xfrm>
            <a:off x="6934944" y="5205413"/>
            <a:ext cx="2123658"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Sans"/>
              <a:buNone/>
            </a:pPr>
            <a:r>
              <a:rPr b="0" i="0" lang="en-US" sz="1800" u="none" cap="none" strike="noStrike">
                <a:solidFill>
                  <a:srgbClr val="7C89A3"/>
                </a:solidFill>
                <a:latin typeface="IBM Plex Sans"/>
                <a:ea typeface="IBM Plex Sans"/>
                <a:cs typeface="IBM Plex Sans"/>
                <a:sym typeface="IBM Plex Sans"/>
              </a:rPr>
              <a:t>durable, expensive</a:t>
            </a:r>
            <a:endParaRPr b="0" i="0" sz="1800" u="none" cap="none" strike="noStrike">
              <a:solidFill>
                <a:schemeClr val="dk1"/>
              </a:solidFill>
              <a:latin typeface="Calibri"/>
              <a:ea typeface="Calibri"/>
              <a:cs typeface="Calibri"/>
              <a:sym typeface="Calibri"/>
            </a:endParaRPr>
          </a:p>
        </p:txBody>
      </p:sp>
      <p:sp>
        <p:nvSpPr>
          <p:cNvPr id="222" name="Google Shape;222;p8"/>
          <p:cNvSpPr/>
          <p:nvPr/>
        </p:nvSpPr>
        <p:spPr>
          <a:xfrm>
            <a:off x="2823270" y="7699772"/>
            <a:ext cx="190500" cy="190500"/>
          </a:xfrm>
          <a:prstGeom prst="ellipse">
            <a:avLst/>
          </a:prstGeom>
          <a:solidFill>
            <a:srgbClr val="7C89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3492698" y="8078688"/>
            <a:ext cx="190500" cy="190500"/>
          </a:xfrm>
          <a:prstGeom prst="ellipse">
            <a:avLst/>
          </a:prstGeom>
          <a:solidFill>
            <a:srgbClr val="7C89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4162127" y="7573417"/>
            <a:ext cx="190500" cy="190500"/>
          </a:xfrm>
          <a:prstGeom prst="ellipse">
            <a:avLst/>
          </a:prstGeom>
          <a:solidFill>
            <a:srgbClr val="7C89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4759375" y="6658124"/>
            <a:ext cx="350308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NPO · RMU · Gradient ascent</a:t>
            </a:r>
            <a:endParaRPr b="0" i="0" sz="1950" u="none" cap="none" strike="noStrike">
              <a:solidFill>
                <a:schemeClr val="dk1"/>
              </a:solidFill>
              <a:latin typeface="Calibri"/>
              <a:ea typeface="Calibri"/>
              <a:cs typeface="Calibri"/>
              <a:sym typeface="Calibri"/>
            </a:endParaRPr>
          </a:p>
        </p:txBody>
      </p:sp>
      <p:sp>
        <p:nvSpPr>
          <p:cNvPr id="226" name="Google Shape;226;p8"/>
          <p:cNvSpPr/>
          <p:nvPr/>
        </p:nvSpPr>
        <p:spPr>
          <a:xfrm>
            <a:off x="4759375" y="7226498"/>
            <a:ext cx="323460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Sans"/>
              <a:buNone/>
            </a:pPr>
            <a:r>
              <a:rPr b="0" i="0" lang="en-US" sz="1800" u="none" cap="none" strike="noStrike">
                <a:solidFill>
                  <a:srgbClr val="7C89A3"/>
                </a:solidFill>
                <a:latin typeface="IBM Plex Sans"/>
                <a:ea typeface="IBM Plex Sans"/>
                <a:cs typeface="IBM Plex Sans"/>
                <a:sym typeface="IBM Plex Sans"/>
              </a:rPr>
              <a:t>cheap, collapse under attack</a:t>
            </a:r>
            <a:endParaRPr b="0" i="0" sz="1800" u="none" cap="none" strike="noStrike">
              <a:solidFill>
                <a:schemeClr val="dk1"/>
              </a:solidFill>
              <a:latin typeface="Calibri"/>
              <a:ea typeface="Calibri"/>
              <a:cs typeface="Calibri"/>
              <a:sym typeface="Calibri"/>
            </a:endParaRPr>
          </a:p>
        </p:txBody>
      </p:sp>
      <p:sp>
        <p:nvSpPr>
          <p:cNvPr id="227" name="Google Shape;227;p8"/>
          <p:cNvSpPr/>
          <p:nvPr/>
        </p:nvSpPr>
        <p:spPr>
          <a:xfrm>
            <a:off x="1442807" y="9191625"/>
            <a:ext cx="9387200" cy="342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COST →</a:t>
            </a:r>
            <a:endParaRPr b="0" i="0" sz="1800" u="none" cap="none" strike="noStrike">
              <a:solidFill>
                <a:schemeClr val="dk1"/>
              </a:solidFill>
              <a:latin typeface="Calibri"/>
              <a:ea typeface="Calibri"/>
              <a:cs typeface="Calibri"/>
              <a:sym typeface="Calibri"/>
            </a:endParaRPr>
          </a:p>
        </p:txBody>
      </p:sp>
      <p:sp>
        <p:nvSpPr>
          <p:cNvPr id="228" name="Google Shape;228;p8"/>
          <p:cNvSpPr/>
          <p:nvPr/>
        </p:nvSpPr>
        <p:spPr>
          <a:xfrm rot="-5400000">
            <a:off x="276225" y="6506096"/>
            <a:ext cx="194310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DURABILITY →</a:t>
            </a:r>
            <a:endParaRPr b="0" i="0" sz="1800" u="none" cap="none" strike="noStrike">
              <a:solidFill>
                <a:schemeClr val="dk1"/>
              </a:solidFill>
              <a:latin typeface="Calibri"/>
              <a:ea typeface="Calibri"/>
              <a:cs typeface="Calibri"/>
              <a:sym typeface="Calibri"/>
            </a:endParaRPr>
          </a:p>
        </p:txBody>
      </p:sp>
      <p:sp>
        <p:nvSpPr>
          <p:cNvPr id="229" name="Google Shape;229;p8"/>
          <p:cNvSpPr/>
          <p:nvPr/>
        </p:nvSpPr>
        <p:spPr>
          <a:xfrm>
            <a:off x="11053614" y="1951583"/>
            <a:ext cx="6243786" cy="2470547"/>
          </a:xfrm>
          <a:prstGeom prst="roundRect">
            <a:avLst>
              <a:gd fmla="val 616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11348889" y="2611785"/>
            <a:ext cx="621856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EXACT</a:t>
            </a:r>
            <a:endParaRPr b="0" i="0" sz="1800" u="none" cap="none" strike="noStrike">
              <a:solidFill>
                <a:schemeClr val="dk1"/>
              </a:solidFill>
              <a:latin typeface="Calibri"/>
              <a:ea typeface="Calibri"/>
              <a:cs typeface="Calibri"/>
              <a:sym typeface="Calibri"/>
            </a:endParaRPr>
          </a:p>
        </p:txBody>
      </p:sp>
      <p:sp>
        <p:nvSpPr>
          <p:cNvPr id="231" name="Google Shape;231;p8"/>
          <p:cNvSpPr/>
          <p:nvPr/>
        </p:nvSpPr>
        <p:spPr>
          <a:xfrm>
            <a:off x="11348889" y="2992785"/>
            <a:ext cx="6218560"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Durable but expensive</a:t>
            </a:r>
            <a:endParaRPr b="0" i="0" sz="2250" u="none" cap="none" strike="noStrike">
              <a:solidFill>
                <a:schemeClr val="dk1"/>
              </a:solidFill>
              <a:latin typeface="Calibri"/>
              <a:ea typeface="Calibri"/>
              <a:cs typeface="Calibri"/>
              <a:sym typeface="Calibri"/>
            </a:endParaRPr>
          </a:p>
        </p:txBody>
      </p:sp>
      <p:sp>
        <p:nvSpPr>
          <p:cNvPr id="232" name="Google Shape;232;p8"/>
          <p:cNvSpPr/>
          <p:nvPr/>
        </p:nvSpPr>
        <p:spPr>
          <a:xfrm>
            <a:off x="11348889" y="3440460"/>
            <a:ext cx="6218560"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Retraining cost scales with the whole corpus.</a:t>
            </a:r>
            <a:endParaRPr b="0" i="0" sz="1875" u="none" cap="none" strike="noStrike">
              <a:solidFill>
                <a:schemeClr val="dk1"/>
              </a:solidFill>
              <a:latin typeface="Calibri"/>
              <a:ea typeface="Calibri"/>
              <a:cs typeface="Calibri"/>
              <a:sym typeface="Calibri"/>
            </a:endParaRPr>
          </a:p>
        </p:txBody>
      </p:sp>
      <p:sp>
        <p:nvSpPr>
          <p:cNvPr id="233" name="Google Shape;233;p8"/>
          <p:cNvSpPr/>
          <p:nvPr/>
        </p:nvSpPr>
        <p:spPr>
          <a:xfrm>
            <a:off x="11053614" y="4593580"/>
            <a:ext cx="6243786" cy="2470547"/>
          </a:xfrm>
          <a:prstGeom prst="roundRect">
            <a:avLst>
              <a:gd fmla="val 616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11348889" y="5253782"/>
            <a:ext cx="621856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APPROXIMATE</a:t>
            </a:r>
            <a:endParaRPr b="0" i="0" sz="1800" u="none" cap="none" strike="noStrike">
              <a:solidFill>
                <a:schemeClr val="dk1"/>
              </a:solidFill>
              <a:latin typeface="Calibri"/>
              <a:ea typeface="Calibri"/>
              <a:cs typeface="Calibri"/>
              <a:sym typeface="Calibri"/>
            </a:endParaRPr>
          </a:p>
        </p:txBody>
      </p:sp>
      <p:sp>
        <p:nvSpPr>
          <p:cNvPr id="235" name="Google Shape;235;p8"/>
          <p:cNvSpPr/>
          <p:nvPr/>
        </p:nvSpPr>
        <p:spPr>
          <a:xfrm>
            <a:off x="11348889" y="5634782"/>
            <a:ext cx="6218560"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Cheap but fragile</a:t>
            </a:r>
            <a:endParaRPr b="0" i="0" sz="2250" u="none" cap="none" strike="noStrike">
              <a:solidFill>
                <a:schemeClr val="dk1"/>
              </a:solidFill>
              <a:latin typeface="Calibri"/>
              <a:ea typeface="Calibri"/>
              <a:cs typeface="Calibri"/>
              <a:sym typeface="Calibri"/>
            </a:endParaRPr>
          </a:p>
        </p:txBody>
      </p:sp>
      <p:sp>
        <p:nvSpPr>
          <p:cNvPr id="236" name="Google Shape;236;p8"/>
          <p:cNvSpPr/>
          <p:nvPr/>
        </p:nvSpPr>
        <p:spPr>
          <a:xfrm>
            <a:off x="11348889" y="6082457"/>
            <a:ext cx="6218560"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Forgetting collapses under a light attack.</a:t>
            </a:r>
            <a:endParaRPr b="0" i="0" sz="1875" u="none" cap="none" strike="noStrike">
              <a:solidFill>
                <a:schemeClr val="dk1"/>
              </a:solidFill>
              <a:latin typeface="Calibri"/>
              <a:ea typeface="Calibri"/>
              <a:cs typeface="Calibri"/>
              <a:sym typeface="Calibri"/>
            </a:endParaRPr>
          </a:p>
        </p:txBody>
      </p:sp>
      <p:sp>
        <p:nvSpPr>
          <p:cNvPr id="237" name="Google Shape;237;p8"/>
          <p:cNvSpPr/>
          <p:nvPr/>
        </p:nvSpPr>
        <p:spPr>
          <a:xfrm>
            <a:off x="11053614" y="7235577"/>
            <a:ext cx="6243786" cy="2480072"/>
          </a:xfrm>
          <a:prstGeom prst="roundRect">
            <a:avLst>
              <a:gd fmla="val 6145"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11353651" y="7900541"/>
            <a:ext cx="62080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THE CORNER</a:t>
            </a:r>
            <a:endParaRPr b="0" i="0" sz="1800" u="none" cap="none" strike="noStrike">
              <a:solidFill>
                <a:schemeClr val="dk1"/>
              </a:solidFill>
              <a:latin typeface="Calibri"/>
              <a:ea typeface="Calibri"/>
              <a:cs typeface="Calibri"/>
              <a:sym typeface="Calibri"/>
            </a:endParaRPr>
          </a:p>
        </p:txBody>
      </p:sp>
      <p:sp>
        <p:nvSpPr>
          <p:cNvPr id="239" name="Google Shape;239;p8"/>
          <p:cNvSpPr/>
          <p:nvPr/>
        </p:nvSpPr>
        <p:spPr>
          <a:xfrm>
            <a:off x="11353651" y="8281541"/>
            <a:ext cx="6208082"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Cheap and durable</a:t>
            </a:r>
            <a:endParaRPr b="0" i="0" sz="2250" u="none" cap="none" strike="noStrike">
              <a:solidFill>
                <a:schemeClr val="dk1"/>
              </a:solidFill>
              <a:latin typeface="Calibri"/>
              <a:ea typeface="Calibri"/>
              <a:cs typeface="Calibri"/>
              <a:sym typeface="Calibri"/>
            </a:endParaRPr>
          </a:p>
        </p:txBody>
      </p:sp>
      <p:sp>
        <p:nvSpPr>
          <p:cNvPr id="240" name="Google Shape;240;p8"/>
          <p:cNvSpPr/>
          <p:nvPr/>
        </p:nvSpPr>
        <p:spPr>
          <a:xfrm>
            <a:off x="11353651" y="8729216"/>
            <a:ext cx="6208082"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No existing method sits here. HRU is built for it.</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245" name="Shape 245"/>
        <p:cNvGrpSpPr/>
        <p:nvPr/>
      </p:nvGrpSpPr>
      <p:grpSpPr>
        <a:xfrm>
          <a:off x="0" y="0"/>
          <a:ext cx="0" cy="0"/>
          <a:chOff x="0" y="0"/>
          <a:chExt cx="0" cy="0"/>
        </a:xfrm>
      </p:grpSpPr>
      <p:sp>
        <p:nvSpPr>
          <p:cNvPr id="246" name="Google Shape;246;p9"/>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8" name="Google Shape;248;p9"/>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249" name="Google Shape;249;p9"/>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07</a:t>
            </a:r>
            <a:endParaRPr b="0" i="0" sz="1800" u="none" cap="none" strike="noStrike">
              <a:solidFill>
                <a:schemeClr val="dk1"/>
              </a:solidFill>
              <a:latin typeface="Calibri"/>
              <a:ea typeface="Calibri"/>
              <a:cs typeface="Calibri"/>
              <a:sym typeface="Calibri"/>
            </a:endParaRPr>
          </a:p>
        </p:txBody>
      </p:sp>
      <p:sp>
        <p:nvSpPr>
          <p:cNvPr id="250" name="Google Shape;250;p9"/>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251" name="Google Shape;251;p9"/>
          <p:cNvSpPr/>
          <p:nvPr/>
        </p:nvSpPr>
        <p:spPr>
          <a:xfrm>
            <a:off x="1732955" y="666750"/>
            <a:ext cx="201184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OUR METHOD</a:t>
            </a:r>
            <a:endParaRPr b="0" i="0" sz="1800" u="none" cap="none" strike="noStrike">
              <a:solidFill>
                <a:schemeClr val="dk1"/>
              </a:solidFill>
              <a:latin typeface="Calibri"/>
              <a:ea typeface="Calibri"/>
              <a:cs typeface="Calibri"/>
              <a:sym typeface="Calibri"/>
            </a:endParaRPr>
          </a:p>
        </p:txBody>
      </p:sp>
      <p:sp>
        <p:nvSpPr>
          <p:cNvPr id="252" name="Google Shape;252;p9"/>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HRU: Forget Into a Flat Minimum</a:t>
            </a:r>
            <a:endParaRPr b="0" i="0" sz="4350" u="none" cap="none" strike="noStrike">
              <a:solidFill>
                <a:schemeClr val="dk1"/>
              </a:solidFill>
              <a:latin typeface="Calibri"/>
              <a:ea typeface="Calibri"/>
              <a:cs typeface="Calibri"/>
              <a:sym typeface="Calibri"/>
            </a:endParaRPr>
          </a:p>
        </p:txBody>
      </p:sp>
      <p:sp>
        <p:nvSpPr>
          <p:cNvPr id="253" name="Google Shape;253;p9"/>
          <p:cNvSpPr/>
          <p:nvPr/>
        </p:nvSpPr>
        <p:spPr>
          <a:xfrm>
            <a:off x="990600" y="1951583"/>
            <a:ext cx="8993386" cy="7763917"/>
          </a:xfrm>
          <a:prstGeom prst="roundRect">
            <a:avLst>
              <a:gd fmla="val 196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1304925" y="2227808"/>
            <a:ext cx="920121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WHERE THE SCRUB LANDS</a:t>
            </a:r>
            <a:endParaRPr b="0" i="0" sz="1800" u="none" cap="none" strike="noStrike">
              <a:solidFill>
                <a:schemeClr val="dk1"/>
              </a:solidFill>
              <a:latin typeface="Calibri"/>
              <a:ea typeface="Calibri"/>
              <a:cs typeface="Calibri"/>
              <a:sym typeface="Calibri"/>
            </a:endParaRPr>
          </a:p>
        </p:txBody>
      </p:sp>
      <p:pic>
        <p:nvPicPr>
          <p:cNvPr descr="preencoded.png" id="255" name="Google Shape;255;p9"/>
          <p:cNvPicPr preferRelativeResize="0"/>
          <p:nvPr/>
        </p:nvPicPr>
        <p:blipFill rotWithShape="1">
          <a:blip r:embed="rId4">
            <a:alphaModFix/>
          </a:blip>
          <a:srcRect b="0" l="0" r="0" t="0"/>
          <a:stretch/>
        </p:blipFill>
        <p:spPr>
          <a:xfrm>
            <a:off x="1304925" y="2704058"/>
            <a:ext cx="8364736" cy="5908923"/>
          </a:xfrm>
          <a:prstGeom prst="rect">
            <a:avLst/>
          </a:prstGeom>
          <a:noFill/>
          <a:ln>
            <a:noFill/>
          </a:ln>
        </p:spPr>
      </p:pic>
      <p:sp>
        <p:nvSpPr>
          <p:cNvPr id="256" name="Google Shape;256;p9"/>
          <p:cNvSpPr/>
          <p:nvPr/>
        </p:nvSpPr>
        <p:spPr>
          <a:xfrm>
            <a:off x="1304925" y="8708231"/>
            <a:ext cx="4474875"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Sharp minimum · NPO</a:t>
            </a:r>
            <a:endParaRPr b="0" i="0" sz="2100" u="none" cap="none" strike="noStrike">
              <a:solidFill>
                <a:schemeClr val="dk1"/>
              </a:solidFill>
              <a:latin typeface="Calibri"/>
              <a:ea typeface="Calibri"/>
              <a:cs typeface="Calibri"/>
              <a:sym typeface="Calibri"/>
            </a:endParaRPr>
          </a:p>
        </p:txBody>
      </p:sp>
      <p:sp>
        <p:nvSpPr>
          <p:cNvPr id="257" name="Google Shape;257;p9"/>
          <p:cNvSpPr/>
          <p:nvPr/>
        </p:nvSpPr>
        <p:spPr>
          <a:xfrm>
            <a:off x="1304925" y="9117806"/>
            <a:ext cx="4474875"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A small attack step climbs out.</a:t>
            </a:r>
            <a:endParaRPr b="0" i="0" sz="1875" u="none" cap="none" strike="noStrike">
              <a:solidFill>
                <a:schemeClr val="dk1"/>
              </a:solidFill>
              <a:latin typeface="Calibri"/>
              <a:ea typeface="Calibri"/>
              <a:cs typeface="Calibri"/>
              <a:sym typeface="Calibri"/>
            </a:endParaRPr>
          </a:p>
        </p:txBody>
      </p:sp>
      <p:sp>
        <p:nvSpPr>
          <p:cNvPr id="258" name="Google Shape;258;p9"/>
          <p:cNvSpPr/>
          <p:nvPr/>
        </p:nvSpPr>
        <p:spPr>
          <a:xfrm>
            <a:off x="5601593" y="8708231"/>
            <a:ext cx="4474875"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Sans"/>
              <a:buNone/>
            </a:pPr>
            <a:r>
              <a:rPr b="0" i="0" lang="en-US" sz="2100" u="none" cap="none" strike="noStrike">
                <a:solidFill>
                  <a:srgbClr val="2DD4BF"/>
                </a:solidFill>
                <a:latin typeface="IBM Plex Sans"/>
                <a:ea typeface="IBM Plex Sans"/>
                <a:cs typeface="IBM Plex Sans"/>
                <a:sym typeface="IBM Plex Sans"/>
              </a:rPr>
              <a:t>Flat minimum · HRU</a:t>
            </a:r>
            <a:endParaRPr b="0" i="0" sz="2100" u="none" cap="none" strike="noStrike">
              <a:solidFill>
                <a:schemeClr val="dk1"/>
              </a:solidFill>
              <a:latin typeface="Calibri"/>
              <a:ea typeface="Calibri"/>
              <a:cs typeface="Calibri"/>
              <a:sym typeface="Calibri"/>
            </a:endParaRPr>
          </a:p>
        </p:txBody>
      </p:sp>
      <p:sp>
        <p:nvSpPr>
          <p:cNvPr id="259" name="Google Shape;259;p9"/>
          <p:cNvSpPr/>
          <p:nvPr/>
        </p:nvSpPr>
        <p:spPr>
          <a:xfrm>
            <a:off x="5601593" y="9117806"/>
            <a:ext cx="4474875"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The same step stays inside the basin.</a:t>
            </a:r>
            <a:endParaRPr b="0" i="0" sz="1875" u="none" cap="none" strike="noStrike">
              <a:solidFill>
                <a:schemeClr val="dk1"/>
              </a:solidFill>
              <a:latin typeface="Calibri"/>
              <a:ea typeface="Calibri"/>
              <a:cs typeface="Calibri"/>
              <a:sym typeface="Calibri"/>
            </a:endParaRPr>
          </a:p>
        </p:txBody>
      </p:sp>
      <p:sp>
        <p:nvSpPr>
          <p:cNvPr id="260" name="Google Shape;260;p9"/>
          <p:cNvSpPr/>
          <p:nvPr/>
        </p:nvSpPr>
        <p:spPr>
          <a:xfrm>
            <a:off x="10326886" y="1951583"/>
            <a:ext cx="766756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THE HARDENING LOOP</a:t>
            </a:r>
            <a:endParaRPr b="0" i="0" sz="1800" u="none" cap="none" strike="noStrike">
              <a:solidFill>
                <a:schemeClr val="dk1"/>
              </a:solidFill>
              <a:latin typeface="Calibri"/>
              <a:ea typeface="Calibri"/>
              <a:cs typeface="Calibri"/>
              <a:sym typeface="Calibri"/>
            </a:endParaRPr>
          </a:p>
        </p:txBody>
      </p:sp>
      <p:sp>
        <p:nvSpPr>
          <p:cNvPr id="261" name="Google Shape;261;p9"/>
          <p:cNvSpPr/>
          <p:nvPr/>
        </p:nvSpPr>
        <p:spPr>
          <a:xfrm>
            <a:off x="10326886" y="2351633"/>
            <a:ext cx="6970514" cy="1984772"/>
          </a:xfrm>
          <a:prstGeom prst="roundRect">
            <a:avLst>
              <a:gd fmla="val 7678"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10588823" y="3096369"/>
            <a:ext cx="495300" cy="495300"/>
          </a:xfrm>
          <a:prstGeom prst="roundRect">
            <a:avLst>
              <a:gd fmla="val 23077"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10550723" y="3096369"/>
            <a:ext cx="571500" cy="533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020"/>
              </a:buClr>
              <a:buSzPts val="1950"/>
              <a:buFont typeface="IBM Plex Mono"/>
              <a:buNone/>
            </a:pPr>
            <a:r>
              <a:rPr b="0" i="0" lang="en-US" sz="1950" u="none" cap="none" strike="noStrike">
                <a:solidFill>
                  <a:srgbClr val="0A1020"/>
                </a:solidFill>
                <a:latin typeface="IBM Plex Mono"/>
                <a:ea typeface="IBM Plex Mono"/>
                <a:cs typeface="IBM Plex Mono"/>
                <a:sym typeface="IBM Plex Mono"/>
              </a:rPr>
              <a:t>1</a:t>
            </a:r>
            <a:endParaRPr b="0" i="0" sz="1950" u="none" cap="none" strike="noStrike">
              <a:solidFill>
                <a:schemeClr val="dk1"/>
              </a:solidFill>
              <a:latin typeface="Calibri"/>
              <a:ea typeface="Calibri"/>
              <a:cs typeface="Calibri"/>
              <a:sym typeface="Calibri"/>
            </a:endParaRPr>
          </a:p>
        </p:txBody>
      </p:sp>
      <p:sp>
        <p:nvSpPr>
          <p:cNvPr id="264" name="Google Shape;264;p9"/>
          <p:cNvSpPr/>
          <p:nvPr/>
        </p:nvSpPr>
        <p:spPr>
          <a:xfrm>
            <a:off x="11293673" y="2984450"/>
            <a:ext cx="5816977"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Scrub</a:t>
            </a:r>
            <a:endParaRPr b="0" i="0" sz="2250" u="none" cap="none" strike="noStrike">
              <a:solidFill>
                <a:schemeClr val="dk1"/>
              </a:solidFill>
              <a:latin typeface="Calibri"/>
              <a:ea typeface="Calibri"/>
              <a:cs typeface="Calibri"/>
              <a:sym typeface="Calibri"/>
            </a:endParaRPr>
          </a:p>
        </p:txBody>
      </p:sp>
      <p:sp>
        <p:nvSpPr>
          <p:cNvPr id="265" name="Google Shape;265;p9"/>
          <p:cNvSpPr/>
          <p:nvPr/>
        </p:nvSpPr>
        <p:spPr>
          <a:xfrm>
            <a:off x="11293673" y="3394025"/>
            <a:ext cx="5816977" cy="347663"/>
          </a:xfrm>
          <a:prstGeom prst="rect">
            <a:avLst/>
          </a:prstGeom>
          <a:noFill/>
          <a:ln>
            <a:noFill/>
          </a:ln>
        </p:spPr>
        <p:txBody>
          <a:bodyPr anchorCtr="0" anchor="t" bIns="25400" lIns="25400" spcFirstLastPara="1" rIns="25400" wrap="square" tIns="25400">
            <a:noAutofit/>
          </a:bodyPr>
          <a:lstStyle/>
          <a:p>
            <a:pPr indent="0" lvl="0" marL="0" marR="0" rtl="0" algn="l">
              <a:lnSpc>
                <a:spcPct val="98485"/>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Sharpness-aware NPO loss seeks a flat minimum.</a:t>
            </a:r>
            <a:endParaRPr b="0" i="0" sz="1875" u="none" cap="none" strike="noStrike">
              <a:solidFill>
                <a:schemeClr val="dk1"/>
              </a:solidFill>
              <a:latin typeface="Calibri"/>
              <a:ea typeface="Calibri"/>
              <a:cs typeface="Calibri"/>
              <a:sym typeface="Calibri"/>
            </a:endParaRPr>
          </a:p>
        </p:txBody>
      </p:sp>
      <p:pic>
        <p:nvPicPr>
          <p:cNvPr descr="preencoded.png" id="266" name="Google Shape;266;p9"/>
          <p:cNvPicPr preferRelativeResize="0"/>
          <p:nvPr/>
        </p:nvPicPr>
        <p:blipFill rotWithShape="1">
          <a:blip r:embed="rId5">
            <a:alphaModFix/>
          </a:blip>
          <a:srcRect b="0" l="0" r="0" t="0"/>
          <a:stretch/>
        </p:blipFill>
        <p:spPr>
          <a:xfrm>
            <a:off x="13697843" y="4431655"/>
            <a:ext cx="228600" cy="266700"/>
          </a:xfrm>
          <a:prstGeom prst="rect">
            <a:avLst/>
          </a:prstGeom>
          <a:noFill/>
          <a:ln>
            <a:noFill/>
          </a:ln>
        </p:spPr>
      </p:pic>
      <p:sp>
        <p:nvSpPr>
          <p:cNvPr id="267" name="Google Shape;267;p9"/>
          <p:cNvSpPr/>
          <p:nvPr/>
        </p:nvSpPr>
        <p:spPr>
          <a:xfrm>
            <a:off x="10326886" y="4831705"/>
            <a:ext cx="6970514" cy="1975247"/>
          </a:xfrm>
          <a:prstGeom prst="roundRect">
            <a:avLst>
              <a:gd fmla="val 7715"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10584061" y="5571679"/>
            <a:ext cx="495300" cy="495300"/>
          </a:xfrm>
          <a:prstGeom prst="roundRect">
            <a:avLst>
              <a:gd fmla="val 23077" name="adj"/>
            </a:avLst>
          </a:prstGeom>
          <a:solidFill>
            <a:srgbClr val="2DD4BF">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10545961" y="5571679"/>
            <a:ext cx="571500" cy="533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DD4BF"/>
              </a:buClr>
              <a:buSzPts val="1950"/>
              <a:buFont typeface="IBM Plex Mono"/>
              <a:buNone/>
            </a:pPr>
            <a:r>
              <a:rPr b="0" i="0" lang="en-US" sz="1950" u="none" cap="none" strike="noStrike">
                <a:solidFill>
                  <a:srgbClr val="2DD4BF"/>
                </a:solidFill>
                <a:latin typeface="IBM Plex Mono"/>
                <a:ea typeface="IBM Plex Mono"/>
                <a:cs typeface="IBM Plex Mono"/>
                <a:sym typeface="IBM Plex Mono"/>
              </a:rPr>
              <a:t>2</a:t>
            </a:r>
            <a:endParaRPr b="0" i="0" sz="1950" u="none" cap="none" strike="noStrike">
              <a:solidFill>
                <a:schemeClr val="dk1"/>
              </a:solidFill>
              <a:latin typeface="Calibri"/>
              <a:ea typeface="Calibri"/>
              <a:cs typeface="Calibri"/>
              <a:sym typeface="Calibri"/>
            </a:endParaRPr>
          </a:p>
        </p:txBody>
      </p:sp>
      <p:sp>
        <p:nvSpPr>
          <p:cNvPr id="270" name="Google Shape;270;p9"/>
          <p:cNvSpPr/>
          <p:nvPr/>
        </p:nvSpPr>
        <p:spPr>
          <a:xfrm>
            <a:off x="11288911" y="5459760"/>
            <a:ext cx="4970100"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Probe</a:t>
            </a:r>
            <a:endParaRPr b="0" i="0" sz="2250" u="none" cap="none" strike="noStrike">
              <a:solidFill>
                <a:schemeClr val="dk1"/>
              </a:solidFill>
              <a:latin typeface="Calibri"/>
              <a:ea typeface="Calibri"/>
              <a:cs typeface="Calibri"/>
              <a:sym typeface="Calibri"/>
            </a:endParaRPr>
          </a:p>
        </p:txBody>
      </p:sp>
      <p:sp>
        <p:nvSpPr>
          <p:cNvPr id="271" name="Google Shape;271;p9"/>
          <p:cNvSpPr/>
          <p:nvPr/>
        </p:nvSpPr>
        <p:spPr>
          <a:xfrm>
            <a:off x="11288911" y="5869335"/>
            <a:ext cx="4970100" cy="347663"/>
          </a:xfrm>
          <a:prstGeom prst="rect">
            <a:avLst/>
          </a:prstGeom>
          <a:noFill/>
          <a:ln>
            <a:noFill/>
          </a:ln>
        </p:spPr>
        <p:txBody>
          <a:bodyPr anchorCtr="0" anchor="t" bIns="25400" lIns="25400" spcFirstLastPara="1" rIns="25400" wrap="square" tIns="25400">
            <a:noAutofit/>
          </a:bodyPr>
          <a:lstStyle/>
          <a:p>
            <a:pPr indent="0" lvl="0" marL="0" marR="0" rtl="0" algn="l">
              <a:lnSpc>
                <a:spcPct val="98485"/>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Simulate a relearning attack on the model.</a:t>
            </a:r>
            <a:endParaRPr b="0" i="0" sz="1875" u="none" cap="none" strike="noStrike">
              <a:solidFill>
                <a:schemeClr val="dk1"/>
              </a:solidFill>
              <a:latin typeface="Calibri"/>
              <a:ea typeface="Calibri"/>
              <a:cs typeface="Calibri"/>
              <a:sym typeface="Calibri"/>
            </a:endParaRPr>
          </a:p>
        </p:txBody>
      </p:sp>
      <p:pic>
        <p:nvPicPr>
          <p:cNvPr descr="preencoded.png" id="272" name="Google Shape;272;p9"/>
          <p:cNvPicPr preferRelativeResize="0"/>
          <p:nvPr/>
        </p:nvPicPr>
        <p:blipFill rotWithShape="1">
          <a:blip r:embed="rId5">
            <a:alphaModFix/>
          </a:blip>
          <a:srcRect b="0" l="0" r="0" t="0"/>
          <a:stretch/>
        </p:blipFill>
        <p:spPr>
          <a:xfrm>
            <a:off x="13697843" y="6902202"/>
            <a:ext cx="228600" cy="266700"/>
          </a:xfrm>
          <a:prstGeom prst="rect">
            <a:avLst/>
          </a:prstGeom>
          <a:noFill/>
          <a:ln>
            <a:noFill/>
          </a:ln>
        </p:spPr>
      </p:pic>
      <p:sp>
        <p:nvSpPr>
          <p:cNvPr id="273" name="Google Shape;273;p9"/>
          <p:cNvSpPr/>
          <p:nvPr/>
        </p:nvSpPr>
        <p:spPr>
          <a:xfrm>
            <a:off x="10326886" y="7302252"/>
            <a:ext cx="6970514" cy="1975247"/>
          </a:xfrm>
          <a:prstGeom prst="roundRect">
            <a:avLst>
              <a:gd fmla="val 7715"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10584061" y="8042225"/>
            <a:ext cx="495300" cy="495300"/>
          </a:xfrm>
          <a:prstGeom prst="roundRect">
            <a:avLst>
              <a:gd fmla="val 23077" name="adj"/>
            </a:avLst>
          </a:prstGeom>
          <a:solidFill>
            <a:srgbClr val="2DD4BF">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10545961" y="8042225"/>
            <a:ext cx="571500" cy="533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DD4BF"/>
              </a:buClr>
              <a:buSzPts val="1950"/>
              <a:buFont typeface="IBM Plex Mono"/>
              <a:buNone/>
            </a:pPr>
            <a:r>
              <a:rPr b="0" i="0" lang="en-US" sz="1950" u="none" cap="none" strike="noStrike">
                <a:solidFill>
                  <a:srgbClr val="2DD4BF"/>
                </a:solidFill>
                <a:latin typeface="IBM Plex Mono"/>
                <a:ea typeface="IBM Plex Mono"/>
                <a:cs typeface="IBM Plex Mono"/>
                <a:sym typeface="IBM Plex Mono"/>
              </a:rPr>
              <a:t>3</a:t>
            </a:r>
            <a:endParaRPr b="0" i="0" sz="1950" u="none" cap="none" strike="noStrike">
              <a:solidFill>
                <a:schemeClr val="dk1"/>
              </a:solidFill>
              <a:latin typeface="Calibri"/>
              <a:ea typeface="Calibri"/>
              <a:cs typeface="Calibri"/>
              <a:sym typeface="Calibri"/>
            </a:endParaRPr>
          </a:p>
        </p:txBody>
      </p:sp>
      <p:sp>
        <p:nvSpPr>
          <p:cNvPr id="276" name="Google Shape;276;p9"/>
          <p:cNvSpPr/>
          <p:nvPr/>
        </p:nvSpPr>
        <p:spPr>
          <a:xfrm>
            <a:off x="11288911" y="7930307"/>
            <a:ext cx="4299213"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Harden</a:t>
            </a:r>
            <a:endParaRPr b="0" i="0" sz="2250" u="none" cap="none" strike="noStrike">
              <a:solidFill>
                <a:schemeClr val="dk1"/>
              </a:solidFill>
              <a:latin typeface="Calibri"/>
              <a:ea typeface="Calibri"/>
              <a:cs typeface="Calibri"/>
              <a:sym typeface="Calibri"/>
            </a:endParaRPr>
          </a:p>
        </p:txBody>
      </p:sp>
      <p:sp>
        <p:nvSpPr>
          <p:cNvPr id="277" name="Google Shape;277;p9"/>
          <p:cNvSpPr/>
          <p:nvPr/>
        </p:nvSpPr>
        <p:spPr>
          <a:xfrm>
            <a:off x="11288911" y="8339882"/>
            <a:ext cx="4299213" cy="347663"/>
          </a:xfrm>
          <a:prstGeom prst="rect">
            <a:avLst/>
          </a:prstGeom>
          <a:noFill/>
          <a:ln>
            <a:noFill/>
          </a:ln>
        </p:spPr>
        <p:txBody>
          <a:bodyPr anchorCtr="0" anchor="t" bIns="25400" lIns="25400" spcFirstLastPara="1" rIns="25400" wrap="square" tIns="25400">
            <a:noAutofit/>
          </a:bodyPr>
          <a:lstStyle/>
          <a:p>
            <a:pPr indent="0" lvl="0" marL="0" marR="0" rtl="0" algn="l">
              <a:lnSpc>
                <a:spcPct val="98485"/>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Push harder on whatever resurfaces.</a:t>
            </a:r>
            <a:endParaRPr b="0" i="0" sz="1875" u="none" cap="none" strike="noStrike">
              <a:solidFill>
                <a:schemeClr val="dk1"/>
              </a:solidFill>
              <a:latin typeface="Calibri"/>
              <a:ea typeface="Calibri"/>
              <a:cs typeface="Calibri"/>
              <a:sym typeface="Calibri"/>
            </a:endParaRPr>
          </a:p>
        </p:txBody>
      </p:sp>
      <p:pic>
        <p:nvPicPr>
          <p:cNvPr descr="preencoded.png" id="278" name="Google Shape;278;p9"/>
          <p:cNvPicPr preferRelativeResize="0"/>
          <p:nvPr/>
        </p:nvPicPr>
        <p:blipFill rotWithShape="1">
          <a:blip r:embed="rId6">
            <a:alphaModFix/>
          </a:blip>
          <a:srcRect b="0" l="0" r="0" t="0"/>
          <a:stretch/>
        </p:blipFill>
        <p:spPr>
          <a:xfrm>
            <a:off x="10403086" y="9439424"/>
            <a:ext cx="381000" cy="247650"/>
          </a:xfrm>
          <a:prstGeom prst="rect">
            <a:avLst/>
          </a:prstGeom>
          <a:noFill/>
          <a:ln>
            <a:noFill/>
          </a:ln>
        </p:spPr>
      </p:pic>
      <p:sp>
        <p:nvSpPr>
          <p:cNvPr id="279" name="Google Shape;279;p9"/>
          <p:cNvSpPr/>
          <p:nvPr/>
        </p:nvSpPr>
        <p:spPr>
          <a:xfrm>
            <a:off x="10917436" y="9410849"/>
            <a:ext cx="256502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repeat each round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284" name="Shape 284"/>
        <p:cNvGrpSpPr/>
        <p:nvPr/>
      </p:nvGrpSpPr>
      <p:grpSpPr>
        <a:xfrm>
          <a:off x="0" y="0"/>
          <a:ext cx="0" cy="0"/>
          <a:chOff x="0" y="0"/>
          <a:chExt cx="0" cy="0"/>
        </a:xfrm>
      </p:grpSpPr>
      <p:sp>
        <p:nvSpPr>
          <p:cNvPr id="285" name="Google Shape;285;p10"/>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7" name="Google Shape;287;p10"/>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288" name="Google Shape;288;p10"/>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08</a:t>
            </a:r>
            <a:endParaRPr b="0" i="0" sz="1800" u="none" cap="none" strike="noStrike">
              <a:solidFill>
                <a:schemeClr val="dk1"/>
              </a:solidFill>
              <a:latin typeface="Calibri"/>
              <a:ea typeface="Calibri"/>
              <a:cs typeface="Calibri"/>
              <a:sym typeface="Calibri"/>
            </a:endParaRPr>
          </a:p>
        </p:txBody>
      </p:sp>
      <p:sp>
        <p:nvSpPr>
          <p:cNvPr id="289" name="Google Shape;289;p10"/>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290" name="Google Shape;290;p10"/>
          <p:cNvSpPr/>
          <p:nvPr/>
        </p:nvSpPr>
        <p:spPr>
          <a:xfrm>
            <a:off x="1732955" y="666750"/>
            <a:ext cx="221288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METHODOLOGY</a:t>
            </a:r>
            <a:endParaRPr b="0" i="0" sz="1800" u="none" cap="none" strike="noStrike">
              <a:solidFill>
                <a:schemeClr val="dk1"/>
              </a:solidFill>
              <a:latin typeface="Calibri"/>
              <a:ea typeface="Calibri"/>
              <a:cs typeface="Calibri"/>
              <a:sym typeface="Calibri"/>
            </a:endParaRPr>
          </a:p>
        </p:txBody>
      </p:sp>
      <p:sp>
        <p:nvSpPr>
          <p:cNvPr id="291" name="Google Shape;291;p10"/>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One Harness, Three Arms</a:t>
            </a:r>
            <a:endParaRPr b="0" i="0" sz="4350" u="none" cap="none" strike="noStrike">
              <a:solidFill>
                <a:schemeClr val="dk1"/>
              </a:solidFill>
              <a:latin typeface="Calibri"/>
              <a:ea typeface="Calibri"/>
              <a:cs typeface="Calibri"/>
              <a:sym typeface="Calibri"/>
            </a:endParaRPr>
          </a:p>
        </p:txBody>
      </p:sp>
      <p:sp>
        <p:nvSpPr>
          <p:cNvPr id="292" name="Google Shape;292;p10"/>
          <p:cNvSpPr/>
          <p:nvPr/>
        </p:nvSpPr>
        <p:spPr>
          <a:xfrm>
            <a:off x="990600" y="3504605"/>
            <a:ext cx="1196132" cy="1066800"/>
          </a:xfrm>
          <a:prstGeom prst="rect">
            <a:avLst/>
          </a:prstGeom>
          <a:noFill/>
          <a:ln>
            <a:noFill/>
          </a:ln>
        </p:spPr>
        <p:txBody>
          <a:bodyPr anchorCtr="0" anchor="t" bIns="25400" lIns="25400" spcFirstLastPara="1" rIns="25400" wrap="square" tIns="25400">
            <a:noAutofit/>
          </a:bodyPr>
          <a:lstStyle/>
          <a:p>
            <a:pPr indent="0" lvl="0" marL="0" marR="0" rtl="0" algn="l">
              <a:lnSpc>
                <a:spcPct val="70588"/>
              </a:lnSpc>
              <a:spcBef>
                <a:spcPts val="0"/>
              </a:spcBef>
              <a:spcAft>
                <a:spcPts val="0"/>
              </a:spcAft>
              <a:buClr>
                <a:srgbClr val="2DD4BF"/>
              </a:buClr>
              <a:buSzPts val="9000"/>
              <a:buFont typeface="Space Grotesk"/>
              <a:buNone/>
            </a:pPr>
            <a:r>
              <a:rPr b="1" i="0" lang="en-US" sz="9000" u="none" cap="none" strike="noStrike">
                <a:solidFill>
                  <a:srgbClr val="2DD4BF"/>
                </a:solidFill>
                <a:latin typeface="Space Grotesk"/>
                <a:ea typeface="Space Grotesk"/>
                <a:cs typeface="Space Grotesk"/>
                <a:sym typeface="Space Grotesk"/>
              </a:rPr>
              <a:t>12</a:t>
            </a:r>
            <a:endParaRPr b="0" i="0" sz="9000" u="none" cap="none" strike="noStrike">
              <a:solidFill>
                <a:schemeClr val="dk1"/>
              </a:solidFill>
              <a:latin typeface="Calibri"/>
              <a:ea typeface="Calibri"/>
              <a:cs typeface="Calibri"/>
              <a:sym typeface="Calibri"/>
            </a:endParaRPr>
          </a:p>
        </p:txBody>
      </p:sp>
      <p:sp>
        <p:nvSpPr>
          <p:cNvPr id="293" name="Google Shape;293;p10"/>
          <p:cNvSpPr/>
          <p:nvPr/>
        </p:nvSpPr>
        <p:spPr>
          <a:xfrm>
            <a:off x="2320082" y="4100066"/>
            <a:ext cx="5172774"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0" i="0" lang="en-US" sz="2400" u="none" cap="none" strike="noStrike">
                <a:solidFill>
                  <a:srgbClr val="EAF0FA"/>
                </a:solidFill>
                <a:latin typeface="IBM Plex Sans"/>
                <a:ea typeface="IBM Plex Sans"/>
                <a:cs typeface="IBM Plex Sans"/>
                <a:sym typeface="IBM Plex Sans"/>
              </a:rPr>
              <a:t>variants, scored on identical terms</a:t>
            </a:r>
            <a:endParaRPr b="0" i="0" sz="2400" u="none" cap="none" strike="noStrike">
              <a:solidFill>
                <a:schemeClr val="dk1"/>
              </a:solidFill>
              <a:latin typeface="Calibri"/>
              <a:ea typeface="Calibri"/>
              <a:cs typeface="Calibri"/>
              <a:sym typeface="Calibri"/>
            </a:endParaRPr>
          </a:p>
        </p:txBody>
      </p:sp>
      <p:sp>
        <p:nvSpPr>
          <p:cNvPr id="294" name="Google Shape;294;p10"/>
          <p:cNvSpPr/>
          <p:nvPr/>
        </p:nvSpPr>
        <p:spPr>
          <a:xfrm>
            <a:off x="990600" y="4800005"/>
            <a:ext cx="5279975" cy="2257425"/>
          </a:xfrm>
          <a:prstGeom prst="roundRect">
            <a:avLst>
              <a:gd fmla="val 6751"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1285875" y="5095280"/>
            <a:ext cx="341561"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3300"/>
              <a:buFont typeface="Space Grotesk"/>
              <a:buNone/>
            </a:pPr>
            <a:r>
              <a:rPr b="1" i="0" lang="en-US" sz="3300" u="none" cap="none" strike="noStrike">
                <a:solidFill>
                  <a:srgbClr val="EAF0FA"/>
                </a:solidFill>
                <a:latin typeface="Space Grotesk"/>
                <a:ea typeface="Space Grotesk"/>
                <a:cs typeface="Space Grotesk"/>
                <a:sym typeface="Space Grotesk"/>
              </a:rPr>
              <a:t>A</a:t>
            </a:r>
            <a:endParaRPr b="0" i="0" sz="3300" u="none" cap="none" strike="noStrike">
              <a:solidFill>
                <a:schemeClr val="dk1"/>
              </a:solidFill>
              <a:latin typeface="Calibri"/>
              <a:ea typeface="Calibri"/>
              <a:cs typeface="Calibri"/>
              <a:sym typeface="Calibri"/>
            </a:endParaRPr>
          </a:p>
        </p:txBody>
      </p:sp>
      <p:sp>
        <p:nvSpPr>
          <p:cNvPr id="296" name="Google Shape;296;p10"/>
          <p:cNvSpPr/>
          <p:nvPr/>
        </p:nvSpPr>
        <p:spPr>
          <a:xfrm>
            <a:off x="4877991" y="5268813"/>
            <a:ext cx="117351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BASELINE</a:t>
            </a:r>
            <a:endParaRPr b="0" i="0" sz="1800" u="none" cap="none" strike="noStrike">
              <a:solidFill>
                <a:schemeClr val="dk1"/>
              </a:solidFill>
              <a:latin typeface="Calibri"/>
              <a:ea typeface="Calibri"/>
              <a:cs typeface="Calibri"/>
              <a:sym typeface="Calibri"/>
            </a:endParaRPr>
          </a:p>
        </p:txBody>
      </p:sp>
      <p:sp>
        <p:nvSpPr>
          <p:cNvPr id="297" name="Google Shape;297;p10"/>
          <p:cNvSpPr/>
          <p:nvPr/>
        </p:nvSpPr>
        <p:spPr>
          <a:xfrm>
            <a:off x="1285875" y="5800130"/>
            <a:ext cx="5158368"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Exact unlearning</a:t>
            </a:r>
            <a:endParaRPr b="0" i="0" sz="2400" u="none" cap="none" strike="noStrike">
              <a:solidFill>
                <a:schemeClr val="dk1"/>
              </a:solidFill>
              <a:latin typeface="Calibri"/>
              <a:ea typeface="Calibri"/>
              <a:cs typeface="Calibri"/>
              <a:sym typeface="Calibri"/>
            </a:endParaRPr>
          </a:p>
        </p:txBody>
      </p:sp>
      <p:sp>
        <p:nvSpPr>
          <p:cNvPr id="298" name="Google Shape;298;p10"/>
          <p:cNvSpPr/>
          <p:nvPr/>
        </p:nvSpPr>
        <p:spPr>
          <a:xfrm>
            <a:off x="1285875" y="6371630"/>
            <a:ext cx="1984325"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1400175" y="6409730"/>
            <a:ext cx="183192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Full retrain</a:t>
            </a:r>
            <a:endParaRPr b="0" i="0" sz="1800" u="none" cap="none" strike="noStrike">
              <a:solidFill>
                <a:schemeClr val="dk1"/>
              </a:solidFill>
              <a:latin typeface="Calibri"/>
              <a:ea typeface="Calibri"/>
              <a:cs typeface="Calibri"/>
              <a:sym typeface="Calibri"/>
            </a:endParaRPr>
          </a:p>
        </p:txBody>
      </p:sp>
      <p:sp>
        <p:nvSpPr>
          <p:cNvPr id="300" name="Google Shape;300;p10"/>
          <p:cNvSpPr/>
          <p:nvPr/>
        </p:nvSpPr>
        <p:spPr>
          <a:xfrm>
            <a:off x="3365450" y="6371630"/>
            <a:ext cx="813941"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3479750" y="6409730"/>
            <a:ext cx="66154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SISA</a:t>
            </a:r>
            <a:endParaRPr b="0" i="0" sz="1800" u="none" cap="none" strike="noStrike">
              <a:solidFill>
                <a:schemeClr val="dk1"/>
              </a:solidFill>
              <a:latin typeface="Calibri"/>
              <a:ea typeface="Calibri"/>
              <a:cs typeface="Calibri"/>
              <a:sym typeface="Calibri"/>
            </a:endParaRPr>
          </a:p>
        </p:txBody>
      </p:sp>
      <p:sp>
        <p:nvSpPr>
          <p:cNvPr id="302" name="Google Shape;302;p10"/>
          <p:cNvSpPr/>
          <p:nvPr/>
        </p:nvSpPr>
        <p:spPr>
          <a:xfrm>
            <a:off x="6499175" y="4800005"/>
            <a:ext cx="5279975" cy="2257425"/>
          </a:xfrm>
          <a:prstGeom prst="roundRect">
            <a:avLst>
              <a:gd fmla="val 6751"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6794450" y="5095280"/>
            <a:ext cx="354211"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3300"/>
              <a:buFont typeface="Space Grotesk"/>
              <a:buNone/>
            </a:pPr>
            <a:r>
              <a:rPr b="1" i="0" lang="en-US" sz="3300" u="none" cap="none" strike="noStrike">
                <a:solidFill>
                  <a:srgbClr val="EAF0FA"/>
                </a:solidFill>
                <a:latin typeface="Space Grotesk"/>
                <a:ea typeface="Space Grotesk"/>
                <a:cs typeface="Space Grotesk"/>
                <a:sym typeface="Space Grotesk"/>
              </a:rPr>
              <a:t>B</a:t>
            </a:r>
            <a:endParaRPr b="0" i="0" sz="3300" u="none" cap="none" strike="noStrike">
              <a:solidFill>
                <a:schemeClr val="dk1"/>
              </a:solidFill>
              <a:latin typeface="Calibri"/>
              <a:ea typeface="Calibri"/>
              <a:cs typeface="Calibri"/>
              <a:sym typeface="Calibri"/>
            </a:endParaRPr>
          </a:p>
        </p:txBody>
      </p:sp>
      <p:sp>
        <p:nvSpPr>
          <p:cNvPr id="304" name="Google Shape;304;p10"/>
          <p:cNvSpPr/>
          <p:nvPr/>
        </p:nvSpPr>
        <p:spPr>
          <a:xfrm>
            <a:off x="10386566" y="5268813"/>
            <a:ext cx="117351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BASELINE</a:t>
            </a:r>
            <a:endParaRPr b="0" i="0" sz="1800" u="none" cap="none" strike="noStrike">
              <a:solidFill>
                <a:schemeClr val="dk1"/>
              </a:solidFill>
              <a:latin typeface="Calibri"/>
              <a:ea typeface="Calibri"/>
              <a:cs typeface="Calibri"/>
              <a:sym typeface="Calibri"/>
            </a:endParaRPr>
          </a:p>
        </p:txBody>
      </p:sp>
      <p:sp>
        <p:nvSpPr>
          <p:cNvPr id="305" name="Google Shape;305;p10"/>
          <p:cNvSpPr/>
          <p:nvPr/>
        </p:nvSpPr>
        <p:spPr>
          <a:xfrm>
            <a:off x="6794450" y="5800130"/>
            <a:ext cx="5158368"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Approximate unlearning</a:t>
            </a:r>
            <a:endParaRPr b="0" i="0" sz="2400" u="none" cap="none" strike="noStrike">
              <a:solidFill>
                <a:schemeClr val="dk1"/>
              </a:solidFill>
              <a:latin typeface="Calibri"/>
              <a:ea typeface="Calibri"/>
              <a:cs typeface="Calibri"/>
              <a:sym typeface="Calibri"/>
            </a:endParaRPr>
          </a:p>
        </p:txBody>
      </p:sp>
      <p:sp>
        <p:nvSpPr>
          <p:cNvPr id="306" name="Google Shape;306;p10"/>
          <p:cNvSpPr/>
          <p:nvPr/>
        </p:nvSpPr>
        <p:spPr>
          <a:xfrm>
            <a:off x="6794450" y="6371630"/>
            <a:ext cx="667643"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6908750" y="6409730"/>
            <a:ext cx="51524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NPO</a:t>
            </a:r>
            <a:endParaRPr b="0" i="0" sz="1800" u="none" cap="none" strike="noStrike">
              <a:solidFill>
                <a:schemeClr val="dk1"/>
              </a:solidFill>
              <a:latin typeface="Calibri"/>
              <a:ea typeface="Calibri"/>
              <a:cs typeface="Calibri"/>
              <a:sym typeface="Calibri"/>
            </a:endParaRPr>
          </a:p>
        </p:txBody>
      </p:sp>
      <p:sp>
        <p:nvSpPr>
          <p:cNvPr id="308" name="Google Shape;308;p10"/>
          <p:cNvSpPr/>
          <p:nvPr/>
        </p:nvSpPr>
        <p:spPr>
          <a:xfrm>
            <a:off x="7557343" y="6371630"/>
            <a:ext cx="667643"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7671643" y="6409730"/>
            <a:ext cx="51524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RMU</a:t>
            </a:r>
            <a:endParaRPr b="0" i="0" sz="1800" u="none" cap="none" strike="noStrike">
              <a:solidFill>
                <a:schemeClr val="dk1"/>
              </a:solidFill>
              <a:latin typeface="Calibri"/>
              <a:ea typeface="Calibri"/>
              <a:cs typeface="Calibri"/>
              <a:sym typeface="Calibri"/>
            </a:endParaRPr>
          </a:p>
        </p:txBody>
      </p:sp>
      <p:sp>
        <p:nvSpPr>
          <p:cNvPr id="310" name="Google Shape;310;p10"/>
          <p:cNvSpPr/>
          <p:nvPr/>
        </p:nvSpPr>
        <p:spPr>
          <a:xfrm>
            <a:off x="8320236" y="6371630"/>
            <a:ext cx="2423220"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8434536" y="6409730"/>
            <a:ext cx="22708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Gradient ascent</a:t>
            </a:r>
            <a:endParaRPr b="0" i="0" sz="1800" u="none" cap="none" strike="noStrike">
              <a:solidFill>
                <a:schemeClr val="dk1"/>
              </a:solidFill>
              <a:latin typeface="Calibri"/>
              <a:ea typeface="Calibri"/>
              <a:cs typeface="Calibri"/>
              <a:sym typeface="Calibri"/>
            </a:endParaRPr>
          </a:p>
        </p:txBody>
      </p:sp>
      <p:sp>
        <p:nvSpPr>
          <p:cNvPr id="312" name="Google Shape;312;p10"/>
          <p:cNvSpPr/>
          <p:nvPr/>
        </p:nvSpPr>
        <p:spPr>
          <a:xfrm>
            <a:off x="12007751" y="4800005"/>
            <a:ext cx="5289500" cy="2257425"/>
          </a:xfrm>
          <a:prstGeom prst="roundRect">
            <a:avLst>
              <a:gd fmla="val 6751"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12307788" y="5100042"/>
            <a:ext cx="346025"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3300"/>
              <a:buFont typeface="Space Grotesk"/>
              <a:buNone/>
            </a:pPr>
            <a:r>
              <a:rPr b="1" i="0" lang="en-US" sz="3300" u="none" cap="none" strike="noStrike">
                <a:solidFill>
                  <a:srgbClr val="2DD4BF"/>
                </a:solidFill>
                <a:latin typeface="Space Grotesk"/>
                <a:ea typeface="Space Grotesk"/>
                <a:cs typeface="Space Grotesk"/>
                <a:sym typeface="Space Grotesk"/>
              </a:rPr>
              <a:t>C</a:t>
            </a:r>
            <a:endParaRPr b="0" i="0" sz="3300" u="none" cap="none" strike="noStrike">
              <a:solidFill>
                <a:schemeClr val="dk1"/>
              </a:solidFill>
              <a:latin typeface="Calibri"/>
              <a:ea typeface="Calibri"/>
              <a:cs typeface="Calibri"/>
              <a:sym typeface="Calibri"/>
            </a:endParaRPr>
          </a:p>
        </p:txBody>
      </p:sp>
      <p:sp>
        <p:nvSpPr>
          <p:cNvPr id="314" name="Google Shape;314;p10"/>
          <p:cNvSpPr/>
          <p:nvPr/>
        </p:nvSpPr>
        <p:spPr>
          <a:xfrm>
            <a:off x="16448484" y="5273576"/>
            <a:ext cx="62492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OURS</a:t>
            </a:r>
            <a:endParaRPr b="0" i="0" sz="1800" u="none" cap="none" strike="noStrike">
              <a:solidFill>
                <a:schemeClr val="dk1"/>
              </a:solidFill>
              <a:latin typeface="Calibri"/>
              <a:ea typeface="Calibri"/>
              <a:cs typeface="Calibri"/>
              <a:sym typeface="Calibri"/>
            </a:endParaRPr>
          </a:p>
        </p:txBody>
      </p:sp>
      <p:sp>
        <p:nvSpPr>
          <p:cNvPr id="315" name="Google Shape;315;p10"/>
          <p:cNvSpPr/>
          <p:nvPr/>
        </p:nvSpPr>
        <p:spPr>
          <a:xfrm>
            <a:off x="12307788" y="5804892"/>
            <a:ext cx="5158368" cy="4381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400"/>
              <a:buFont typeface="IBM Plex Sans"/>
              <a:buNone/>
            </a:pPr>
            <a:r>
              <a:rPr b="1" i="0" lang="en-US" sz="2400" u="none" cap="none" strike="noStrike">
                <a:solidFill>
                  <a:srgbClr val="EAF0FA"/>
                </a:solidFill>
                <a:latin typeface="IBM Plex Sans"/>
                <a:ea typeface="IBM Plex Sans"/>
                <a:cs typeface="IBM Plex Sans"/>
                <a:sym typeface="IBM Plex Sans"/>
              </a:rPr>
              <a:t>HRU</a:t>
            </a:r>
            <a:endParaRPr b="0" i="0" sz="2400" u="none" cap="none" strike="noStrike">
              <a:solidFill>
                <a:schemeClr val="dk1"/>
              </a:solidFill>
              <a:latin typeface="Calibri"/>
              <a:ea typeface="Calibri"/>
              <a:cs typeface="Calibri"/>
              <a:sym typeface="Calibri"/>
            </a:endParaRPr>
          </a:p>
        </p:txBody>
      </p:sp>
      <p:sp>
        <p:nvSpPr>
          <p:cNvPr id="316" name="Google Shape;316;p10"/>
          <p:cNvSpPr/>
          <p:nvPr/>
        </p:nvSpPr>
        <p:spPr>
          <a:xfrm>
            <a:off x="12307788" y="6376392"/>
            <a:ext cx="681335" cy="381000"/>
          </a:xfrm>
          <a:prstGeom prst="roundRect">
            <a:avLst>
              <a:gd fmla="val 15000"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12422088" y="6414492"/>
            <a:ext cx="5289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HRU</a:t>
            </a:r>
            <a:endParaRPr b="0" i="0" sz="1800" u="none" cap="none" strike="noStrike">
              <a:solidFill>
                <a:schemeClr val="dk1"/>
              </a:solidFill>
              <a:latin typeface="Calibri"/>
              <a:ea typeface="Calibri"/>
              <a:cs typeface="Calibri"/>
              <a:sym typeface="Calibri"/>
            </a:endParaRPr>
          </a:p>
        </p:txBody>
      </p:sp>
      <p:sp>
        <p:nvSpPr>
          <p:cNvPr id="318" name="Google Shape;318;p10"/>
          <p:cNvSpPr/>
          <p:nvPr/>
        </p:nvSpPr>
        <p:spPr>
          <a:xfrm>
            <a:off x="13084373" y="6376392"/>
            <a:ext cx="2340918" cy="381000"/>
          </a:xfrm>
          <a:prstGeom prst="roundRect">
            <a:avLst>
              <a:gd fmla="val 15000"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13198673" y="6414492"/>
            <a:ext cx="2188518"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HRU + sharding</a:t>
            </a:r>
            <a:endParaRPr b="0" i="0" sz="1800" u="none" cap="none" strike="noStrike">
              <a:solidFill>
                <a:schemeClr val="dk1"/>
              </a:solidFill>
              <a:latin typeface="Calibri"/>
              <a:ea typeface="Calibri"/>
              <a:cs typeface="Calibri"/>
              <a:sym typeface="Calibri"/>
            </a:endParaRPr>
          </a:p>
        </p:txBody>
      </p:sp>
      <p:sp>
        <p:nvSpPr>
          <p:cNvPr id="320" name="Google Shape;320;p10"/>
          <p:cNvSpPr/>
          <p:nvPr/>
        </p:nvSpPr>
        <p:spPr>
          <a:xfrm>
            <a:off x="990600" y="7324130"/>
            <a:ext cx="16306800" cy="781050"/>
          </a:xfrm>
          <a:prstGeom prst="roundRect">
            <a:avLst>
              <a:gd fmla="val 19512"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a:off x="1266825" y="7562255"/>
            <a:ext cx="289686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SHARED BY ALL 12</a:t>
            </a:r>
            <a:endParaRPr b="0" i="0" sz="1800" u="none" cap="none" strike="noStrike">
              <a:solidFill>
                <a:schemeClr val="dk1"/>
              </a:solidFill>
              <a:latin typeface="Calibri"/>
              <a:ea typeface="Calibri"/>
              <a:cs typeface="Calibri"/>
              <a:sym typeface="Calibri"/>
            </a:endParaRPr>
          </a:p>
        </p:txBody>
      </p:sp>
      <p:sp>
        <p:nvSpPr>
          <p:cNvPr id="322" name="Google Shape;322;p10"/>
          <p:cNvSpPr/>
          <p:nvPr/>
        </p:nvSpPr>
        <p:spPr>
          <a:xfrm>
            <a:off x="4128939" y="7524155"/>
            <a:ext cx="1691729"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p:nvPr/>
        </p:nvSpPr>
        <p:spPr>
          <a:xfrm>
            <a:off x="4243239" y="7562255"/>
            <a:ext cx="153932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same model</a:t>
            </a:r>
            <a:endParaRPr b="0" i="0" sz="1800" u="none" cap="none" strike="noStrike">
              <a:solidFill>
                <a:schemeClr val="dk1"/>
              </a:solidFill>
              <a:latin typeface="Calibri"/>
              <a:ea typeface="Calibri"/>
              <a:cs typeface="Calibri"/>
              <a:sym typeface="Calibri"/>
            </a:endParaRPr>
          </a:p>
        </p:txBody>
      </p:sp>
      <p:sp>
        <p:nvSpPr>
          <p:cNvPr id="324" name="Google Shape;324;p10"/>
          <p:cNvSpPr/>
          <p:nvPr/>
        </p:nvSpPr>
        <p:spPr>
          <a:xfrm>
            <a:off x="5954018" y="7524155"/>
            <a:ext cx="1545431"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p:nvPr/>
        </p:nvSpPr>
        <p:spPr>
          <a:xfrm>
            <a:off x="6068318" y="7562255"/>
            <a:ext cx="139303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same data</a:t>
            </a:r>
            <a:endParaRPr b="0" i="0" sz="1800" u="none" cap="none" strike="noStrike">
              <a:solidFill>
                <a:schemeClr val="dk1"/>
              </a:solidFill>
              <a:latin typeface="Calibri"/>
              <a:ea typeface="Calibri"/>
              <a:cs typeface="Calibri"/>
              <a:sym typeface="Calibri"/>
            </a:endParaRPr>
          </a:p>
        </p:txBody>
      </p:sp>
      <p:sp>
        <p:nvSpPr>
          <p:cNvPr id="326" name="Google Shape;326;p10"/>
          <p:cNvSpPr/>
          <p:nvPr/>
        </p:nvSpPr>
        <p:spPr>
          <a:xfrm>
            <a:off x="7632799" y="7524155"/>
            <a:ext cx="1838027"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7747099" y="7562255"/>
            <a:ext cx="1685627"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same probes</a:t>
            </a:r>
            <a:endParaRPr b="0" i="0" sz="1800" u="none" cap="none" strike="noStrike">
              <a:solidFill>
                <a:schemeClr val="dk1"/>
              </a:solidFill>
              <a:latin typeface="Calibri"/>
              <a:ea typeface="Calibri"/>
              <a:cs typeface="Calibri"/>
              <a:sym typeface="Calibri"/>
            </a:endParaRPr>
          </a:p>
        </p:txBody>
      </p:sp>
      <p:sp>
        <p:nvSpPr>
          <p:cNvPr id="328" name="Google Shape;328;p10"/>
          <p:cNvSpPr/>
          <p:nvPr/>
        </p:nvSpPr>
        <p:spPr>
          <a:xfrm>
            <a:off x="9604177" y="7524155"/>
            <a:ext cx="1691729"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
          <p:cNvSpPr/>
          <p:nvPr/>
        </p:nvSpPr>
        <p:spPr>
          <a:xfrm>
            <a:off x="9718477" y="7562255"/>
            <a:ext cx="153932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same seeds</a:t>
            </a:r>
            <a:endParaRPr b="0" i="0" sz="1800" u="none" cap="none" strike="noStrike">
              <a:solidFill>
                <a:schemeClr val="dk1"/>
              </a:solidFill>
              <a:latin typeface="Calibri"/>
              <a:ea typeface="Calibri"/>
              <a:cs typeface="Calibri"/>
              <a:sym typeface="Calibri"/>
            </a:endParaRPr>
          </a:p>
        </p:txBody>
      </p:sp>
      <p:sp>
        <p:nvSpPr>
          <p:cNvPr id="330" name="Google Shape;330;p10"/>
          <p:cNvSpPr/>
          <p:nvPr/>
        </p:nvSpPr>
        <p:spPr>
          <a:xfrm>
            <a:off x="11429256" y="7524155"/>
            <a:ext cx="3154710"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11543556" y="7562255"/>
            <a:ext cx="302075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same cost accounting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336" name="Shape 336"/>
        <p:cNvGrpSpPr/>
        <p:nvPr/>
      </p:nvGrpSpPr>
      <p:grpSpPr>
        <a:xfrm>
          <a:off x="0" y="0"/>
          <a:ext cx="0" cy="0"/>
          <a:chOff x="0" y="0"/>
          <a:chExt cx="0" cy="0"/>
        </a:xfrm>
      </p:grpSpPr>
      <p:sp>
        <p:nvSpPr>
          <p:cNvPr id="337" name="Google Shape;337;p11"/>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9" name="Google Shape;339;p11"/>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340" name="Google Shape;340;p11"/>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09</a:t>
            </a:r>
            <a:endParaRPr b="0" i="0" sz="1800" u="none" cap="none" strike="noStrike">
              <a:solidFill>
                <a:schemeClr val="dk1"/>
              </a:solidFill>
              <a:latin typeface="Calibri"/>
              <a:ea typeface="Calibri"/>
              <a:cs typeface="Calibri"/>
              <a:sym typeface="Calibri"/>
            </a:endParaRPr>
          </a:p>
        </p:txBody>
      </p:sp>
      <p:sp>
        <p:nvSpPr>
          <p:cNvPr id="341" name="Google Shape;341;p11"/>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342" name="Google Shape;342;p11"/>
          <p:cNvSpPr/>
          <p:nvPr/>
        </p:nvSpPr>
        <p:spPr>
          <a:xfrm>
            <a:off x="1732955" y="666750"/>
            <a:ext cx="241408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TOOLS &amp; TECH</a:t>
            </a:r>
            <a:endParaRPr b="0" i="0" sz="1800" u="none" cap="none" strike="noStrike">
              <a:solidFill>
                <a:schemeClr val="dk1"/>
              </a:solidFill>
              <a:latin typeface="Calibri"/>
              <a:ea typeface="Calibri"/>
              <a:cs typeface="Calibri"/>
              <a:sym typeface="Calibri"/>
            </a:endParaRPr>
          </a:p>
        </p:txBody>
      </p:sp>
      <p:sp>
        <p:nvSpPr>
          <p:cNvPr id="343" name="Google Shape;343;p11"/>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Small, Reproducible, Single-GPU</a:t>
            </a:r>
            <a:endParaRPr b="0" i="0" sz="4350" u="none" cap="none" strike="noStrike">
              <a:solidFill>
                <a:schemeClr val="dk1"/>
              </a:solidFill>
              <a:latin typeface="Calibri"/>
              <a:ea typeface="Calibri"/>
              <a:cs typeface="Calibri"/>
              <a:sym typeface="Calibri"/>
            </a:endParaRPr>
          </a:p>
        </p:txBody>
      </p:sp>
      <p:sp>
        <p:nvSpPr>
          <p:cNvPr id="344" name="Google Shape;344;p11"/>
          <p:cNvSpPr/>
          <p:nvPr/>
        </p:nvSpPr>
        <p:spPr>
          <a:xfrm>
            <a:off x="990600" y="3705820"/>
            <a:ext cx="3919537" cy="2140744"/>
          </a:xfrm>
          <a:prstGeom prst="roundRect">
            <a:avLst>
              <a:gd fmla="val 711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1285875" y="3982045"/>
            <a:ext cx="3661886" cy="762000"/>
          </a:xfrm>
          <a:prstGeom prst="rect">
            <a:avLst/>
          </a:prstGeom>
          <a:noFill/>
          <a:ln>
            <a:noFill/>
          </a:ln>
        </p:spPr>
        <p:txBody>
          <a:bodyPr anchorCtr="0" anchor="t" bIns="25400" lIns="25400" spcFirstLastPara="1" rIns="25400" wrap="square" tIns="25400">
            <a:noAutofit/>
          </a:bodyPr>
          <a:lstStyle/>
          <a:p>
            <a:pPr indent="0" lvl="0" marL="0" marR="0" rtl="0" algn="l">
              <a:lnSpc>
                <a:spcPct val="74510"/>
              </a:lnSpc>
              <a:spcBef>
                <a:spcPts val="0"/>
              </a:spcBef>
              <a:spcAft>
                <a:spcPts val="0"/>
              </a:spcAft>
              <a:buClr>
                <a:srgbClr val="EAF0FA"/>
              </a:buClr>
              <a:buSzPts val="6000"/>
              <a:buFont typeface="Space Grotesk"/>
              <a:buNone/>
            </a:pPr>
            <a:r>
              <a:rPr b="1" i="0" lang="en-US" sz="6000" u="none" cap="none" strike="noStrike">
                <a:solidFill>
                  <a:srgbClr val="EAF0FA"/>
                </a:solidFill>
                <a:latin typeface="Space Grotesk"/>
                <a:ea typeface="Space Grotesk"/>
                <a:cs typeface="Space Grotesk"/>
                <a:sym typeface="Space Grotesk"/>
              </a:rPr>
              <a:t>124M</a:t>
            </a:r>
            <a:endParaRPr b="0" i="0" sz="6000" u="none" cap="none" strike="noStrike">
              <a:solidFill>
                <a:schemeClr val="dk1"/>
              </a:solidFill>
              <a:latin typeface="Calibri"/>
              <a:ea typeface="Calibri"/>
              <a:cs typeface="Calibri"/>
              <a:sym typeface="Calibri"/>
            </a:endParaRPr>
          </a:p>
        </p:txBody>
      </p:sp>
      <p:sp>
        <p:nvSpPr>
          <p:cNvPr id="346" name="Google Shape;346;p11"/>
          <p:cNvSpPr/>
          <p:nvPr/>
        </p:nvSpPr>
        <p:spPr>
          <a:xfrm>
            <a:off x="1285875" y="4801195"/>
            <a:ext cx="3661886"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GPT-2 parameters</a:t>
            </a:r>
            <a:endParaRPr b="0" i="0" sz="2100" u="none" cap="none" strike="noStrike">
              <a:solidFill>
                <a:schemeClr val="dk1"/>
              </a:solidFill>
              <a:latin typeface="Calibri"/>
              <a:ea typeface="Calibri"/>
              <a:cs typeface="Calibri"/>
              <a:sym typeface="Calibri"/>
            </a:endParaRPr>
          </a:p>
        </p:txBody>
      </p:sp>
      <p:sp>
        <p:nvSpPr>
          <p:cNvPr id="347" name="Google Shape;347;p11"/>
          <p:cNvSpPr/>
          <p:nvPr/>
        </p:nvSpPr>
        <p:spPr>
          <a:xfrm>
            <a:off x="1285875" y="5248870"/>
            <a:ext cx="3661886"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Small open model, full control.</a:t>
            </a:r>
            <a:endParaRPr b="0" i="0" sz="1875" u="none" cap="none" strike="noStrike">
              <a:solidFill>
                <a:schemeClr val="dk1"/>
              </a:solidFill>
              <a:latin typeface="Calibri"/>
              <a:ea typeface="Calibri"/>
              <a:cs typeface="Calibri"/>
              <a:sym typeface="Calibri"/>
            </a:endParaRPr>
          </a:p>
        </p:txBody>
      </p:sp>
      <p:sp>
        <p:nvSpPr>
          <p:cNvPr id="348" name="Google Shape;348;p11"/>
          <p:cNvSpPr/>
          <p:nvPr/>
        </p:nvSpPr>
        <p:spPr>
          <a:xfrm>
            <a:off x="5119688" y="3705820"/>
            <a:ext cx="3919537" cy="2140744"/>
          </a:xfrm>
          <a:prstGeom prst="roundRect">
            <a:avLst>
              <a:gd fmla="val 711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5414963" y="3982045"/>
            <a:ext cx="3661886" cy="762000"/>
          </a:xfrm>
          <a:prstGeom prst="rect">
            <a:avLst/>
          </a:prstGeom>
          <a:noFill/>
          <a:ln>
            <a:noFill/>
          </a:ln>
        </p:spPr>
        <p:txBody>
          <a:bodyPr anchorCtr="0" anchor="t" bIns="25400" lIns="25400" spcFirstLastPara="1" rIns="25400" wrap="square" tIns="25400">
            <a:noAutofit/>
          </a:bodyPr>
          <a:lstStyle/>
          <a:p>
            <a:pPr indent="0" lvl="0" marL="0" marR="0" rtl="0" algn="l">
              <a:lnSpc>
                <a:spcPct val="74510"/>
              </a:lnSpc>
              <a:spcBef>
                <a:spcPts val="0"/>
              </a:spcBef>
              <a:spcAft>
                <a:spcPts val="0"/>
              </a:spcAft>
              <a:buClr>
                <a:srgbClr val="EAF0FA"/>
              </a:buClr>
              <a:buSzPts val="6000"/>
              <a:buFont typeface="Space Grotesk"/>
              <a:buNone/>
            </a:pPr>
            <a:r>
              <a:rPr b="1" i="0" lang="en-US" sz="6000" u="none" cap="none" strike="noStrike">
                <a:solidFill>
                  <a:srgbClr val="EAF0FA"/>
                </a:solidFill>
                <a:latin typeface="Space Grotesk"/>
                <a:ea typeface="Space Grotesk"/>
                <a:cs typeface="Space Grotesk"/>
                <a:sym typeface="Space Grotesk"/>
              </a:rPr>
              <a:t>130</a:t>
            </a:r>
            <a:endParaRPr b="0" i="0" sz="6000" u="none" cap="none" strike="noStrike">
              <a:solidFill>
                <a:schemeClr val="dk1"/>
              </a:solidFill>
              <a:latin typeface="Calibri"/>
              <a:ea typeface="Calibri"/>
              <a:cs typeface="Calibri"/>
              <a:sym typeface="Calibri"/>
            </a:endParaRPr>
          </a:p>
        </p:txBody>
      </p:sp>
      <p:sp>
        <p:nvSpPr>
          <p:cNvPr id="350" name="Google Shape;350;p11"/>
          <p:cNvSpPr/>
          <p:nvPr/>
        </p:nvSpPr>
        <p:spPr>
          <a:xfrm>
            <a:off x="5414963" y="4801195"/>
            <a:ext cx="3661886"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fictional profiles</a:t>
            </a:r>
            <a:endParaRPr b="0" i="0" sz="2100" u="none" cap="none" strike="noStrike">
              <a:solidFill>
                <a:schemeClr val="dk1"/>
              </a:solidFill>
              <a:latin typeface="Calibri"/>
              <a:ea typeface="Calibri"/>
              <a:cs typeface="Calibri"/>
              <a:sym typeface="Calibri"/>
            </a:endParaRPr>
          </a:p>
        </p:txBody>
      </p:sp>
      <p:sp>
        <p:nvSpPr>
          <p:cNvPr id="351" name="Google Shape;351;p11"/>
          <p:cNvSpPr/>
          <p:nvPr/>
        </p:nvSpPr>
        <p:spPr>
          <a:xfrm>
            <a:off x="5414963" y="5248870"/>
            <a:ext cx="3661886"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No real personal data.</a:t>
            </a:r>
            <a:endParaRPr b="0" i="0" sz="1875" u="none" cap="none" strike="noStrike">
              <a:solidFill>
                <a:schemeClr val="dk1"/>
              </a:solidFill>
              <a:latin typeface="Calibri"/>
              <a:ea typeface="Calibri"/>
              <a:cs typeface="Calibri"/>
              <a:sym typeface="Calibri"/>
            </a:endParaRPr>
          </a:p>
        </p:txBody>
      </p:sp>
      <p:sp>
        <p:nvSpPr>
          <p:cNvPr id="352" name="Google Shape;352;p11"/>
          <p:cNvSpPr/>
          <p:nvPr/>
        </p:nvSpPr>
        <p:spPr>
          <a:xfrm>
            <a:off x="9248775" y="3705820"/>
            <a:ext cx="3919537" cy="2140744"/>
          </a:xfrm>
          <a:prstGeom prst="roundRect">
            <a:avLst>
              <a:gd fmla="val 711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9544050" y="3982045"/>
            <a:ext cx="3661886" cy="762000"/>
          </a:xfrm>
          <a:prstGeom prst="rect">
            <a:avLst/>
          </a:prstGeom>
          <a:noFill/>
          <a:ln>
            <a:noFill/>
          </a:ln>
        </p:spPr>
        <p:txBody>
          <a:bodyPr anchorCtr="0" anchor="t" bIns="25400" lIns="25400" spcFirstLastPara="1" rIns="25400" wrap="square" tIns="25400">
            <a:noAutofit/>
          </a:bodyPr>
          <a:lstStyle/>
          <a:p>
            <a:pPr indent="0" lvl="0" marL="0" marR="0" rtl="0" algn="l">
              <a:lnSpc>
                <a:spcPct val="74510"/>
              </a:lnSpc>
              <a:spcBef>
                <a:spcPts val="0"/>
              </a:spcBef>
              <a:spcAft>
                <a:spcPts val="0"/>
              </a:spcAft>
              <a:buClr>
                <a:srgbClr val="EAF0FA"/>
              </a:buClr>
              <a:buSzPts val="6000"/>
              <a:buFont typeface="Space Grotesk"/>
              <a:buNone/>
            </a:pPr>
            <a:r>
              <a:rPr b="1" i="0" lang="en-US" sz="6000" u="none" cap="none" strike="noStrike">
                <a:solidFill>
                  <a:srgbClr val="EAF0FA"/>
                </a:solidFill>
                <a:latin typeface="Space Grotesk"/>
                <a:ea typeface="Space Grotesk"/>
                <a:cs typeface="Space Grotesk"/>
                <a:sym typeface="Space Grotesk"/>
              </a:rPr>
              <a:t>1</a:t>
            </a:r>
            <a:endParaRPr b="0" i="0" sz="6000" u="none" cap="none" strike="noStrike">
              <a:solidFill>
                <a:schemeClr val="dk1"/>
              </a:solidFill>
              <a:latin typeface="Calibri"/>
              <a:ea typeface="Calibri"/>
              <a:cs typeface="Calibri"/>
              <a:sym typeface="Calibri"/>
            </a:endParaRPr>
          </a:p>
        </p:txBody>
      </p:sp>
      <p:sp>
        <p:nvSpPr>
          <p:cNvPr id="354" name="Google Shape;354;p11"/>
          <p:cNvSpPr/>
          <p:nvPr/>
        </p:nvSpPr>
        <p:spPr>
          <a:xfrm>
            <a:off x="9544050" y="4801195"/>
            <a:ext cx="3661886"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Colab T4 GPU</a:t>
            </a:r>
            <a:endParaRPr b="0" i="0" sz="2100" u="none" cap="none" strike="noStrike">
              <a:solidFill>
                <a:schemeClr val="dk1"/>
              </a:solidFill>
              <a:latin typeface="Calibri"/>
              <a:ea typeface="Calibri"/>
              <a:cs typeface="Calibri"/>
              <a:sym typeface="Calibri"/>
            </a:endParaRPr>
          </a:p>
        </p:txBody>
      </p:sp>
      <p:sp>
        <p:nvSpPr>
          <p:cNvPr id="355" name="Google Shape;355;p11"/>
          <p:cNvSpPr/>
          <p:nvPr/>
        </p:nvSpPr>
        <p:spPr>
          <a:xfrm>
            <a:off x="9544050" y="5248870"/>
            <a:ext cx="3661886"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Single-GPU by design.</a:t>
            </a:r>
            <a:endParaRPr b="0" i="0" sz="1875" u="none" cap="none" strike="noStrike">
              <a:solidFill>
                <a:schemeClr val="dk1"/>
              </a:solidFill>
              <a:latin typeface="Calibri"/>
              <a:ea typeface="Calibri"/>
              <a:cs typeface="Calibri"/>
              <a:sym typeface="Calibri"/>
            </a:endParaRPr>
          </a:p>
        </p:txBody>
      </p:sp>
      <p:sp>
        <p:nvSpPr>
          <p:cNvPr id="356" name="Google Shape;356;p11"/>
          <p:cNvSpPr/>
          <p:nvPr/>
        </p:nvSpPr>
        <p:spPr>
          <a:xfrm>
            <a:off x="13377863" y="3705820"/>
            <a:ext cx="3919537" cy="2140744"/>
          </a:xfrm>
          <a:prstGeom prst="roundRect">
            <a:avLst>
              <a:gd fmla="val 7119"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13673138" y="3982045"/>
            <a:ext cx="3661886" cy="762000"/>
          </a:xfrm>
          <a:prstGeom prst="rect">
            <a:avLst/>
          </a:prstGeom>
          <a:noFill/>
          <a:ln>
            <a:noFill/>
          </a:ln>
        </p:spPr>
        <p:txBody>
          <a:bodyPr anchorCtr="0" anchor="t" bIns="25400" lIns="25400" spcFirstLastPara="1" rIns="25400" wrap="square" tIns="25400">
            <a:noAutofit/>
          </a:bodyPr>
          <a:lstStyle/>
          <a:p>
            <a:pPr indent="0" lvl="0" marL="0" marR="0" rtl="0" algn="l">
              <a:lnSpc>
                <a:spcPct val="74510"/>
              </a:lnSpc>
              <a:spcBef>
                <a:spcPts val="0"/>
              </a:spcBef>
              <a:spcAft>
                <a:spcPts val="0"/>
              </a:spcAft>
              <a:buClr>
                <a:srgbClr val="EAF0FA"/>
              </a:buClr>
              <a:buSzPts val="6000"/>
              <a:buFont typeface="Space Grotesk"/>
              <a:buNone/>
            </a:pPr>
            <a:r>
              <a:rPr b="1" i="0" lang="en-US" sz="6000" u="none" cap="none" strike="noStrike">
                <a:solidFill>
                  <a:srgbClr val="EAF0FA"/>
                </a:solidFill>
                <a:latin typeface="Space Grotesk"/>
                <a:ea typeface="Space Grotesk"/>
                <a:cs typeface="Space Grotesk"/>
                <a:sym typeface="Space Grotesk"/>
              </a:rPr>
              <a:t>4</a:t>
            </a:r>
            <a:endParaRPr b="0" i="0" sz="6000" u="none" cap="none" strike="noStrike">
              <a:solidFill>
                <a:schemeClr val="dk1"/>
              </a:solidFill>
              <a:latin typeface="Calibri"/>
              <a:ea typeface="Calibri"/>
              <a:cs typeface="Calibri"/>
              <a:sym typeface="Calibri"/>
            </a:endParaRPr>
          </a:p>
        </p:txBody>
      </p:sp>
      <p:sp>
        <p:nvSpPr>
          <p:cNvPr id="358" name="Google Shape;358;p11"/>
          <p:cNvSpPr/>
          <p:nvPr/>
        </p:nvSpPr>
        <p:spPr>
          <a:xfrm>
            <a:off x="13673138" y="4801195"/>
            <a:ext cx="3661886"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evaluation axes</a:t>
            </a:r>
            <a:endParaRPr b="0" i="0" sz="2100" u="none" cap="none" strike="noStrike">
              <a:solidFill>
                <a:schemeClr val="dk1"/>
              </a:solidFill>
              <a:latin typeface="Calibri"/>
              <a:ea typeface="Calibri"/>
              <a:cs typeface="Calibri"/>
              <a:sym typeface="Calibri"/>
            </a:endParaRPr>
          </a:p>
        </p:txBody>
      </p:sp>
      <p:sp>
        <p:nvSpPr>
          <p:cNvPr id="359" name="Google Shape;359;p11"/>
          <p:cNvSpPr/>
          <p:nvPr/>
        </p:nvSpPr>
        <p:spPr>
          <a:xfrm>
            <a:off x="13673138" y="5248870"/>
            <a:ext cx="3661886" cy="359569"/>
          </a:xfrm>
          <a:prstGeom prst="rect">
            <a:avLst/>
          </a:prstGeom>
          <a:noFill/>
          <a:ln>
            <a:noFill/>
          </a:ln>
        </p:spPr>
        <p:txBody>
          <a:bodyPr anchorCtr="0" anchor="t" bIns="25400" lIns="25400" spcFirstLastPara="1" rIns="25400" wrap="square" tIns="25400">
            <a:noAutofit/>
          </a:bodyPr>
          <a:lstStyle/>
          <a:p>
            <a:pPr indent="0" lvl="0" marL="0" marR="0" rtl="0" algn="l">
              <a:lnSpc>
                <a:spcPct val="102273"/>
              </a:lnSpc>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One of them new.</a:t>
            </a:r>
            <a:endParaRPr b="0" i="0" sz="1875" u="none" cap="none" strike="noStrike">
              <a:solidFill>
                <a:schemeClr val="dk1"/>
              </a:solidFill>
              <a:latin typeface="Calibri"/>
              <a:ea typeface="Calibri"/>
              <a:cs typeface="Calibri"/>
              <a:sym typeface="Calibri"/>
            </a:endParaRPr>
          </a:p>
        </p:txBody>
      </p:sp>
      <p:sp>
        <p:nvSpPr>
          <p:cNvPr id="360" name="Google Shape;360;p11"/>
          <p:cNvSpPr/>
          <p:nvPr/>
        </p:nvSpPr>
        <p:spPr>
          <a:xfrm>
            <a:off x="990600" y="6132314"/>
            <a:ext cx="8992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STACK</a:t>
            </a:r>
            <a:endParaRPr b="0" i="0" sz="1800" u="none" cap="none" strike="noStrike">
              <a:solidFill>
                <a:schemeClr val="dk1"/>
              </a:solidFill>
              <a:latin typeface="Calibri"/>
              <a:ea typeface="Calibri"/>
              <a:cs typeface="Calibri"/>
              <a:sym typeface="Calibri"/>
            </a:endParaRPr>
          </a:p>
        </p:txBody>
      </p:sp>
      <p:sp>
        <p:nvSpPr>
          <p:cNvPr id="361" name="Google Shape;361;p11"/>
          <p:cNvSpPr/>
          <p:nvPr/>
        </p:nvSpPr>
        <p:spPr>
          <a:xfrm>
            <a:off x="2023170" y="6094214"/>
            <a:ext cx="3739902"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2137470" y="6132314"/>
            <a:ext cx="362349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HuggingFace transformers</a:t>
            </a:r>
            <a:endParaRPr b="0" i="0" sz="1800" u="none" cap="none" strike="noStrike">
              <a:solidFill>
                <a:schemeClr val="dk1"/>
              </a:solidFill>
              <a:latin typeface="Calibri"/>
              <a:ea typeface="Calibri"/>
              <a:cs typeface="Calibri"/>
              <a:sym typeface="Calibri"/>
            </a:endParaRPr>
          </a:p>
        </p:txBody>
      </p:sp>
      <p:sp>
        <p:nvSpPr>
          <p:cNvPr id="363" name="Google Shape;363;p11"/>
          <p:cNvSpPr/>
          <p:nvPr/>
        </p:nvSpPr>
        <p:spPr>
          <a:xfrm>
            <a:off x="5896421" y="6094214"/>
            <a:ext cx="1252835"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6010721" y="6132314"/>
            <a:ext cx="11004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PyTorch</a:t>
            </a:r>
            <a:endParaRPr b="0" i="0" sz="1800" u="none" cap="none" strike="noStrike">
              <a:solidFill>
                <a:schemeClr val="dk1"/>
              </a:solidFill>
              <a:latin typeface="Calibri"/>
              <a:ea typeface="Calibri"/>
              <a:cs typeface="Calibri"/>
              <a:sym typeface="Calibri"/>
            </a:endParaRPr>
          </a:p>
        </p:txBody>
      </p:sp>
      <p:sp>
        <p:nvSpPr>
          <p:cNvPr id="365" name="Google Shape;365;p11"/>
          <p:cNvSpPr/>
          <p:nvPr/>
        </p:nvSpPr>
        <p:spPr>
          <a:xfrm>
            <a:off x="7282607" y="6094214"/>
            <a:ext cx="1984325"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7396907" y="6132314"/>
            <a:ext cx="183192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Google Colab</a:t>
            </a:r>
            <a:endParaRPr b="0" i="0" sz="1800" u="none" cap="none" strike="noStrike">
              <a:solidFill>
                <a:schemeClr val="dk1"/>
              </a:solidFill>
              <a:latin typeface="Calibri"/>
              <a:ea typeface="Calibri"/>
              <a:cs typeface="Calibri"/>
              <a:sym typeface="Calibri"/>
            </a:endParaRPr>
          </a:p>
        </p:txBody>
      </p:sp>
      <p:sp>
        <p:nvSpPr>
          <p:cNvPr id="367" name="Google Shape;367;p11"/>
          <p:cNvSpPr/>
          <p:nvPr/>
        </p:nvSpPr>
        <p:spPr>
          <a:xfrm>
            <a:off x="990600" y="6722864"/>
            <a:ext cx="3948112" cy="1181100"/>
          </a:xfrm>
          <a:prstGeom prst="roundRect">
            <a:avLst>
              <a:gd fmla="val 1290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1247775" y="6941939"/>
            <a:ext cx="37771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AXIS 1</a:t>
            </a:r>
            <a:endParaRPr b="0" i="0" sz="1800" u="none" cap="none" strike="noStrike">
              <a:solidFill>
                <a:schemeClr val="dk1"/>
              </a:solidFill>
              <a:latin typeface="Calibri"/>
              <a:ea typeface="Calibri"/>
              <a:cs typeface="Calibri"/>
              <a:sym typeface="Calibri"/>
            </a:endParaRPr>
          </a:p>
        </p:txBody>
      </p:sp>
      <p:sp>
        <p:nvSpPr>
          <p:cNvPr id="369" name="Google Shape;369;p11"/>
          <p:cNvSpPr/>
          <p:nvPr/>
        </p:nvSpPr>
        <p:spPr>
          <a:xfrm>
            <a:off x="1247775" y="7322939"/>
            <a:ext cx="377713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Forget quality</a:t>
            </a:r>
            <a:endParaRPr b="0" i="0" sz="2100" u="none" cap="none" strike="noStrike">
              <a:solidFill>
                <a:schemeClr val="dk1"/>
              </a:solidFill>
              <a:latin typeface="Calibri"/>
              <a:ea typeface="Calibri"/>
              <a:cs typeface="Calibri"/>
              <a:sym typeface="Calibri"/>
            </a:endParaRPr>
          </a:p>
        </p:txBody>
      </p:sp>
      <p:sp>
        <p:nvSpPr>
          <p:cNvPr id="370" name="Google Shape;370;p11"/>
          <p:cNvSpPr/>
          <p:nvPr/>
        </p:nvSpPr>
        <p:spPr>
          <a:xfrm>
            <a:off x="5110163" y="6722864"/>
            <a:ext cx="3948112" cy="1181100"/>
          </a:xfrm>
          <a:prstGeom prst="roundRect">
            <a:avLst>
              <a:gd fmla="val 1290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5367338" y="6941939"/>
            <a:ext cx="37771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AXIS 2</a:t>
            </a:r>
            <a:endParaRPr b="0" i="0" sz="1800" u="none" cap="none" strike="noStrike">
              <a:solidFill>
                <a:schemeClr val="dk1"/>
              </a:solidFill>
              <a:latin typeface="Calibri"/>
              <a:ea typeface="Calibri"/>
              <a:cs typeface="Calibri"/>
              <a:sym typeface="Calibri"/>
            </a:endParaRPr>
          </a:p>
        </p:txBody>
      </p:sp>
      <p:sp>
        <p:nvSpPr>
          <p:cNvPr id="372" name="Google Shape;372;p11"/>
          <p:cNvSpPr/>
          <p:nvPr/>
        </p:nvSpPr>
        <p:spPr>
          <a:xfrm>
            <a:off x="5367338" y="7322939"/>
            <a:ext cx="377713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Retain quality</a:t>
            </a:r>
            <a:endParaRPr b="0" i="0" sz="2100" u="none" cap="none" strike="noStrike">
              <a:solidFill>
                <a:schemeClr val="dk1"/>
              </a:solidFill>
              <a:latin typeface="Calibri"/>
              <a:ea typeface="Calibri"/>
              <a:cs typeface="Calibri"/>
              <a:sym typeface="Calibri"/>
            </a:endParaRPr>
          </a:p>
        </p:txBody>
      </p:sp>
      <p:sp>
        <p:nvSpPr>
          <p:cNvPr id="373" name="Google Shape;373;p11"/>
          <p:cNvSpPr/>
          <p:nvPr/>
        </p:nvSpPr>
        <p:spPr>
          <a:xfrm>
            <a:off x="9229725" y="6722864"/>
            <a:ext cx="3948112" cy="1181100"/>
          </a:xfrm>
          <a:prstGeom prst="roundRect">
            <a:avLst>
              <a:gd fmla="val 12903"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9491663" y="6946702"/>
            <a:ext cx="376666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AXIS 3 · NOVEL</a:t>
            </a:r>
            <a:endParaRPr b="0" i="0" sz="1800" u="none" cap="none" strike="noStrike">
              <a:solidFill>
                <a:schemeClr val="dk1"/>
              </a:solidFill>
              <a:latin typeface="Calibri"/>
              <a:ea typeface="Calibri"/>
              <a:cs typeface="Calibri"/>
              <a:sym typeface="Calibri"/>
            </a:endParaRPr>
          </a:p>
        </p:txBody>
      </p:sp>
      <p:sp>
        <p:nvSpPr>
          <p:cNvPr id="375" name="Google Shape;375;p11"/>
          <p:cNvSpPr/>
          <p:nvPr/>
        </p:nvSpPr>
        <p:spPr>
          <a:xfrm>
            <a:off x="9491663" y="7327702"/>
            <a:ext cx="3766661"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Durability after attack</a:t>
            </a:r>
            <a:endParaRPr b="0" i="0" sz="2100" u="none" cap="none" strike="noStrike">
              <a:solidFill>
                <a:schemeClr val="dk1"/>
              </a:solidFill>
              <a:latin typeface="Calibri"/>
              <a:ea typeface="Calibri"/>
              <a:cs typeface="Calibri"/>
              <a:sym typeface="Calibri"/>
            </a:endParaRPr>
          </a:p>
        </p:txBody>
      </p:sp>
      <p:sp>
        <p:nvSpPr>
          <p:cNvPr id="376" name="Google Shape;376;p11"/>
          <p:cNvSpPr/>
          <p:nvPr/>
        </p:nvSpPr>
        <p:spPr>
          <a:xfrm>
            <a:off x="13349288" y="6722864"/>
            <a:ext cx="3948112" cy="1181100"/>
          </a:xfrm>
          <a:prstGeom prst="roundRect">
            <a:avLst>
              <a:gd fmla="val 1290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13606463" y="6941939"/>
            <a:ext cx="37771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AXIS 4</a:t>
            </a:r>
            <a:endParaRPr b="0" i="0" sz="1800" u="none" cap="none" strike="noStrike">
              <a:solidFill>
                <a:schemeClr val="dk1"/>
              </a:solidFill>
              <a:latin typeface="Calibri"/>
              <a:ea typeface="Calibri"/>
              <a:cs typeface="Calibri"/>
              <a:sym typeface="Calibri"/>
            </a:endParaRPr>
          </a:p>
        </p:txBody>
      </p:sp>
      <p:sp>
        <p:nvSpPr>
          <p:cNvPr id="378" name="Google Shape;378;p11"/>
          <p:cNvSpPr/>
          <p:nvPr/>
        </p:nvSpPr>
        <p:spPr>
          <a:xfrm>
            <a:off x="13606463" y="7322939"/>
            <a:ext cx="377713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Cost</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383" name="Shape 383"/>
        <p:cNvGrpSpPr/>
        <p:nvPr/>
      </p:nvGrpSpPr>
      <p:grpSpPr>
        <a:xfrm>
          <a:off x="0" y="0"/>
          <a:ext cx="0" cy="0"/>
          <a:chOff x="0" y="0"/>
          <a:chExt cx="0" cy="0"/>
        </a:xfrm>
      </p:grpSpPr>
      <p:sp>
        <p:nvSpPr>
          <p:cNvPr id="384" name="Google Shape;384;p12"/>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6" name="Google Shape;386;p12"/>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387" name="Google Shape;387;p12"/>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10</a:t>
            </a:r>
            <a:endParaRPr b="0" i="0" sz="1800" u="none" cap="none" strike="noStrike">
              <a:solidFill>
                <a:schemeClr val="dk1"/>
              </a:solidFill>
              <a:latin typeface="Calibri"/>
              <a:ea typeface="Calibri"/>
              <a:cs typeface="Calibri"/>
              <a:sym typeface="Calibri"/>
            </a:endParaRPr>
          </a:p>
        </p:txBody>
      </p:sp>
      <p:sp>
        <p:nvSpPr>
          <p:cNvPr id="388" name="Google Shape;388;p12"/>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389" name="Google Shape;389;p12"/>
          <p:cNvSpPr/>
          <p:nvPr/>
        </p:nvSpPr>
        <p:spPr>
          <a:xfrm>
            <a:off x="1732955" y="666750"/>
            <a:ext cx="140824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RESULTS</a:t>
            </a:r>
            <a:endParaRPr b="0" i="0" sz="1800" u="none" cap="none" strike="noStrike">
              <a:solidFill>
                <a:schemeClr val="dk1"/>
              </a:solidFill>
              <a:latin typeface="Calibri"/>
              <a:ea typeface="Calibri"/>
              <a:cs typeface="Calibri"/>
              <a:sym typeface="Calibri"/>
            </a:endParaRPr>
          </a:p>
        </p:txBody>
      </p:sp>
      <p:sp>
        <p:nvSpPr>
          <p:cNvPr id="390" name="Google Shape;390;p12"/>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HRU Holds Its Forgetting Best Under Attack</a:t>
            </a:r>
            <a:endParaRPr b="0" i="0" sz="4350" u="none" cap="none" strike="noStrike">
              <a:solidFill>
                <a:schemeClr val="dk1"/>
              </a:solidFill>
              <a:latin typeface="Calibri"/>
              <a:ea typeface="Calibri"/>
              <a:cs typeface="Calibri"/>
              <a:sym typeface="Calibri"/>
            </a:endParaRPr>
          </a:p>
        </p:txBody>
      </p:sp>
      <p:sp>
        <p:nvSpPr>
          <p:cNvPr id="391" name="Google Shape;391;p12"/>
          <p:cNvSpPr/>
          <p:nvPr/>
        </p:nvSpPr>
        <p:spPr>
          <a:xfrm>
            <a:off x="990600" y="1951583"/>
            <a:ext cx="9655373" cy="7763917"/>
          </a:xfrm>
          <a:prstGeom prst="roundRect">
            <a:avLst>
              <a:gd fmla="val 196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1343025" y="2246858"/>
            <a:ext cx="521026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FORGET-SET LOSS AFTER ATTACK</a:t>
            </a:r>
            <a:endParaRPr b="0" i="0" sz="1800" u="none" cap="none" strike="noStrike">
              <a:solidFill>
                <a:schemeClr val="dk1"/>
              </a:solidFill>
              <a:latin typeface="Calibri"/>
              <a:ea typeface="Calibri"/>
              <a:cs typeface="Calibri"/>
              <a:sym typeface="Calibri"/>
            </a:endParaRPr>
          </a:p>
        </p:txBody>
      </p:sp>
      <p:sp>
        <p:nvSpPr>
          <p:cNvPr id="393" name="Google Shape;393;p12"/>
          <p:cNvSpPr/>
          <p:nvPr/>
        </p:nvSpPr>
        <p:spPr>
          <a:xfrm>
            <a:off x="7413129" y="2246858"/>
            <a:ext cx="316846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higher = more durable</a:t>
            </a:r>
            <a:endParaRPr b="0" i="0" sz="1800" u="none" cap="none" strike="noStrike">
              <a:solidFill>
                <a:schemeClr val="dk1"/>
              </a:solidFill>
              <a:latin typeface="Calibri"/>
              <a:ea typeface="Calibri"/>
              <a:cs typeface="Calibri"/>
              <a:sym typeface="Calibri"/>
            </a:endParaRPr>
          </a:p>
        </p:txBody>
      </p:sp>
      <p:sp>
        <p:nvSpPr>
          <p:cNvPr id="394" name="Google Shape;394;p12"/>
          <p:cNvSpPr/>
          <p:nvPr/>
        </p:nvSpPr>
        <p:spPr>
          <a:xfrm>
            <a:off x="1104900" y="3026569"/>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EAF0FA"/>
              </a:buClr>
              <a:buSzPts val="2025"/>
              <a:buFont typeface="IBM Plex Sans"/>
              <a:buNone/>
            </a:pPr>
            <a:r>
              <a:rPr b="1" i="0" lang="en-US" sz="2025" u="none" cap="none" strike="noStrike">
                <a:solidFill>
                  <a:srgbClr val="EAF0FA"/>
                </a:solidFill>
                <a:latin typeface="IBM Plex Sans"/>
                <a:ea typeface="IBM Plex Sans"/>
                <a:cs typeface="IBM Plex Sans"/>
                <a:sym typeface="IBM Plex Sans"/>
              </a:rPr>
              <a:t>HRU</a:t>
            </a:r>
            <a:endParaRPr b="0" i="0" sz="2025" u="none" cap="none" strike="noStrike">
              <a:solidFill>
                <a:schemeClr val="dk1"/>
              </a:solidFill>
              <a:latin typeface="Calibri"/>
              <a:ea typeface="Calibri"/>
              <a:cs typeface="Calibri"/>
              <a:sym typeface="Calibri"/>
            </a:endParaRPr>
          </a:p>
        </p:txBody>
      </p:sp>
      <p:sp>
        <p:nvSpPr>
          <p:cNvPr id="395" name="Google Shape;395;p12"/>
          <p:cNvSpPr/>
          <p:nvPr/>
        </p:nvSpPr>
        <p:spPr>
          <a:xfrm>
            <a:off x="3914775" y="2964656"/>
            <a:ext cx="5559623" cy="457200"/>
          </a:xfrm>
          <a:prstGeom prst="roundRect">
            <a:avLst>
              <a:gd fmla="val 12500" name="adj"/>
            </a:avLst>
          </a:prstGeom>
          <a:solidFill>
            <a:srgbClr val="2DD4BF"/>
          </a:solidFill>
          <a:ln>
            <a:noFill/>
          </a:ln>
          <a:effectLst>
            <a:outerShdw blurRad="228600" rotWithShape="0" algn="bl" dir="16200000" dist="50800">
              <a:srgbClr val="2DD4B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p:nvPr/>
        </p:nvSpPr>
        <p:spPr>
          <a:xfrm>
            <a:off x="9607748" y="3007519"/>
            <a:ext cx="762000"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250"/>
              <a:buFont typeface="IBM Plex Mono"/>
              <a:buNone/>
            </a:pPr>
            <a:r>
              <a:rPr b="0" i="0" lang="en-US" sz="2250" u="none" cap="none" strike="noStrike">
                <a:solidFill>
                  <a:srgbClr val="2DD4BF"/>
                </a:solidFill>
                <a:latin typeface="IBM Plex Mono"/>
                <a:ea typeface="IBM Plex Mono"/>
                <a:cs typeface="IBM Plex Mono"/>
                <a:sym typeface="IBM Plex Mono"/>
              </a:rPr>
              <a:t>1.31</a:t>
            </a:r>
            <a:endParaRPr b="0" i="0" sz="2250" u="none" cap="none" strike="noStrike">
              <a:solidFill>
                <a:schemeClr val="dk1"/>
              </a:solidFill>
              <a:latin typeface="Calibri"/>
              <a:ea typeface="Calibri"/>
              <a:cs typeface="Calibri"/>
              <a:sym typeface="Calibri"/>
            </a:endParaRPr>
          </a:p>
        </p:txBody>
      </p:sp>
      <p:sp>
        <p:nvSpPr>
          <p:cNvPr id="397" name="Google Shape;397;p12"/>
          <p:cNvSpPr/>
          <p:nvPr/>
        </p:nvSpPr>
        <p:spPr>
          <a:xfrm>
            <a:off x="1104900" y="3957340"/>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Gradient ascent</a:t>
            </a:r>
            <a:endParaRPr b="0" i="0" sz="2025" u="none" cap="none" strike="noStrike">
              <a:solidFill>
                <a:schemeClr val="dk1"/>
              </a:solidFill>
              <a:latin typeface="Calibri"/>
              <a:ea typeface="Calibri"/>
              <a:cs typeface="Calibri"/>
              <a:sym typeface="Calibri"/>
            </a:endParaRPr>
          </a:p>
        </p:txBody>
      </p:sp>
      <p:sp>
        <p:nvSpPr>
          <p:cNvPr id="398" name="Google Shape;398;p12"/>
          <p:cNvSpPr/>
          <p:nvPr/>
        </p:nvSpPr>
        <p:spPr>
          <a:xfrm>
            <a:off x="3914775" y="3943052"/>
            <a:ext cx="4968925" cy="361950"/>
          </a:xfrm>
          <a:prstGeom prst="roundRect">
            <a:avLst>
              <a:gd fmla="val 1578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2"/>
          <p:cNvSpPr/>
          <p:nvPr/>
        </p:nvSpPr>
        <p:spPr>
          <a:xfrm>
            <a:off x="9017050" y="3962102"/>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1.09</a:t>
            </a:r>
            <a:endParaRPr b="0" i="0" sz="1950" u="none" cap="none" strike="noStrike">
              <a:solidFill>
                <a:schemeClr val="dk1"/>
              </a:solidFill>
              <a:latin typeface="Calibri"/>
              <a:ea typeface="Calibri"/>
              <a:cs typeface="Calibri"/>
              <a:sym typeface="Calibri"/>
            </a:endParaRPr>
          </a:p>
        </p:txBody>
      </p:sp>
      <p:sp>
        <p:nvSpPr>
          <p:cNvPr id="400" name="Google Shape;400;p12"/>
          <p:cNvSpPr/>
          <p:nvPr/>
        </p:nvSpPr>
        <p:spPr>
          <a:xfrm>
            <a:off x="1104900" y="4840486"/>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NPO</a:t>
            </a:r>
            <a:endParaRPr b="0" i="0" sz="2025" u="none" cap="none" strike="noStrike">
              <a:solidFill>
                <a:schemeClr val="dk1"/>
              </a:solidFill>
              <a:latin typeface="Calibri"/>
              <a:ea typeface="Calibri"/>
              <a:cs typeface="Calibri"/>
              <a:sym typeface="Calibri"/>
            </a:endParaRPr>
          </a:p>
        </p:txBody>
      </p:sp>
      <p:sp>
        <p:nvSpPr>
          <p:cNvPr id="401" name="Google Shape;401;p12"/>
          <p:cNvSpPr/>
          <p:nvPr/>
        </p:nvSpPr>
        <p:spPr>
          <a:xfrm>
            <a:off x="3914775" y="4826198"/>
            <a:ext cx="3463528" cy="361950"/>
          </a:xfrm>
          <a:prstGeom prst="roundRect">
            <a:avLst>
              <a:gd fmla="val 1578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2"/>
          <p:cNvSpPr/>
          <p:nvPr/>
        </p:nvSpPr>
        <p:spPr>
          <a:xfrm>
            <a:off x="7511653" y="4845248"/>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0.76</a:t>
            </a:r>
            <a:endParaRPr b="0" i="0" sz="1950" u="none" cap="none" strike="noStrike">
              <a:solidFill>
                <a:schemeClr val="dk1"/>
              </a:solidFill>
              <a:latin typeface="Calibri"/>
              <a:ea typeface="Calibri"/>
              <a:cs typeface="Calibri"/>
              <a:sym typeface="Calibri"/>
            </a:endParaRPr>
          </a:p>
        </p:txBody>
      </p:sp>
      <p:sp>
        <p:nvSpPr>
          <p:cNvPr id="403" name="Google Shape;403;p12"/>
          <p:cNvSpPr/>
          <p:nvPr/>
        </p:nvSpPr>
        <p:spPr>
          <a:xfrm>
            <a:off x="1104900" y="5723632"/>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Full retrain</a:t>
            </a:r>
            <a:endParaRPr b="0" i="0" sz="2025" u="none" cap="none" strike="noStrike">
              <a:solidFill>
                <a:schemeClr val="dk1"/>
              </a:solidFill>
              <a:latin typeface="Calibri"/>
              <a:ea typeface="Calibri"/>
              <a:cs typeface="Calibri"/>
              <a:sym typeface="Calibri"/>
            </a:endParaRPr>
          </a:p>
        </p:txBody>
      </p:sp>
      <p:sp>
        <p:nvSpPr>
          <p:cNvPr id="404" name="Google Shape;404;p12"/>
          <p:cNvSpPr/>
          <p:nvPr/>
        </p:nvSpPr>
        <p:spPr>
          <a:xfrm>
            <a:off x="3914775" y="5709345"/>
            <a:ext cx="2640806" cy="361950"/>
          </a:xfrm>
          <a:prstGeom prst="roundRect">
            <a:avLst>
              <a:gd fmla="val 1578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6688931" y="5728395"/>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0.58</a:t>
            </a:r>
            <a:endParaRPr b="0" i="0" sz="1950" u="none" cap="none" strike="noStrike">
              <a:solidFill>
                <a:schemeClr val="dk1"/>
              </a:solidFill>
              <a:latin typeface="Calibri"/>
              <a:ea typeface="Calibri"/>
              <a:cs typeface="Calibri"/>
              <a:sym typeface="Calibri"/>
            </a:endParaRPr>
          </a:p>
        </p:txBody>
      </p:sp>
      <p:sp>
        <p:nvSpPr>
          <p:cNvPr id="406" name="Google Shape;406;p12"/>
          <p:cNvSpPr/>
          <p:nvPr/>
        </p:nvSpPr>
        <p:spPr>
          <a:xfrm>
            <a:off x="1104900" y="6606778"/>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SISA</a:t>
            </a:r>
            <a:endParaRPr b="0" i="0" sz="2025" u="none" cap="none" strike="noStrike">
              <a:solidFill>
                <a:schemeClr val="dk1"/>
              </a:solidFill>
              <a:latin typeface="Calibri"/>
              <a:ea typeface="Calibri"/>
              <a:cs typeface="Calibri"/>
              <a:sym typeface="Calibri"/>
            </a:endParaRPr>
          </a:p>
        </p:txBody>
      </p:sp>
      <p:sp>
        <p:nvSpPr>
          <p:cNvPr id="407" name="Google Shape;407;p12"/>
          <p:cNvSpPr/>
          <p:nvPr/>
        </p:nvSpPr>
        <p:spPr>
          <a:xfrm>
            <a:off x="3914775" y="6592491"/>
            <a:ext cx="2098477" cy="361950"/>
          </a:xfrm>
          <a:prstGeom prst="roundRect">
            <a:avLst>
              <a:gd fmla="val 1578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2"/>
          <p:cNvSpPr/>
          <p:nvPr/>
        </p:nvSpPr>
        <p:spPr>
          <a:xfrm>
            <a:off x="6146602" y="6611541"/>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0.46</a:t>
            </a:r>
            <a:endParaRPr b="0" i="0" sz="1950" u="none" cap="none" strike="noStrike">
              <a:solidFill>
                <a:schemeClr val="dk1"/>
              </a:solidFill>
              <a:latin typeface="Calibri"/>
              <a:ea typeface="Calibri"/>
              <a:cs typeface="Calibri"/>
              <a:sym typeface="Calibri"/>
            </a:endParaRPr>
          </a:p>
        </p:txBody>
      </p:sp>
      <p:sp>
        <p:nvSpPr>
          <p:cNvPr id="409" name="Google Shape;409;p12"/>
          <p:cNvSpPr/>
          <p:nvPr/>
        </p:nvSpPr>
        <p:spPr>
          <a:xfrm>
            <a:off x="1104900" y="7489924"/>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RMU</a:t>
            </a:r>
            <a:endParaRPr b="0" i="0" sz="2025" u="none" cap="none" strike="noStrike">
              <a:solidFill>
                <a:schemeClr val="dk1"/>
              </a:solidFill>
              <a:latin typeface="Calibri"/>
              <a:ea typeface="Calibri"/>
              <a:cs typeface="Calibri"/>
              <a:sym typeface="Calibri"/>
            </a:endParaRPr>
          </a:p>
        </p:txBody>
      </p:sp>
      <p:sp>
        <p:nvSpPr>
          <p:cNvPr id="410" name="Google Shape;410;p12"/>
          <p:cNvSpPr/>
          <p:nvPr/>
        </p:nvSpPr>
        <p:spPr>
          <a:xfrm>
            <a:off x="3914775" y="7475637"/>
            <a:ext cx="2047577" cy="361950"/>
          </a:xfrm>
          <a:prstGeom prst="roundRect">
            <a:avLst>
              <a:gd fmla="val 1578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6095702" y="7494687"/>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0.45</a:t>
            </a:r>
            <a:endParaRPr b="0" i="0" sz="1950" u="none" cap="none" strike="noStrike">
              <a:solidFill>
                <a:schemeClr val="dk1"/>
              </a:solidFill>
              <a:latin typeface="Calibri"/>
              <a:ea typeface="Calibri"/>
              <a:cs typeface="Calibri"/>
              <a:sym typeface="Calibri"/>
            </a:endParaRPr>
          </a:p>
        </p:txBody>
      </p:sp>
      <p:sp>
        <p:nvSpPr>
          <p:cNvPr id="412" name="Google Shape;412;p12"/>
          <p:cNvSpPr/>
          <p:nvPr/>
        </p:nvSpPr>
        <p:spPr>
          <a:xfrm>
            <a:off x="1104900" y="8373070"/>
            <a:ext cx="2619375" cy="37147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2025"/>
              <a:buFont typeface="IBM Plex Sans"/>
              <a:buNone/>
            </a:pPr>
            <a:r>
              <a:rPr b="0" i="0" lang="en-US" sz="2025" u="none" cap="none" strike="noStrike">
                <a:solidFill>
                  <a:srgbClr val="B8C2D6"/>
                </a:solidFill>
                <a:latin typeface="IBM Plex Sans"/>
                <a:ea typeface="IBM Plex Sans"/>
                <a:cs typeface="IBM Plex Sans"/>
                <a:sym typeface="IBM Plex Sans"/>
              </a:rPr>
              <a:t>HRU + sharding</a:t>
            </a:r>
            <a:endParaRPr b="0" i="0" sz="2025" u="none" cap="none" strike="noStrike">
              <a:solidFill>
                <a:schemeClr val="dk1"/>
              </a:solidFill>
              <a:latin typeface="Calibri"/>
              <a:ea typeface="Calibri"/>
              <a:cs typeface="Calibri"/>
              <a:sym typeface="Calibri"/>
            </a:endParaRPr>
          </a:p>
        </p:txBody>
      </p:sp>
      <p:sp>
        <p:nvSpPr>
          <p:cNvPr id="413" name="Google Shape;413;p12"/>
          <p:cNvSpPr/>
          <p:nvPr/>
        </p:nvSpPr>
        <p:spPr>
          <a:xfrm>
            <a:off x="3914775" y="8358783"/>
            <a:ext cx="1913632" cy="361950"/>
          </a:xfrm>
          <a:prstGeom prst="roundRect">
            <a:avLst>
              <a:gd fmla="val 1578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2"/>
          <p:cNvSpPr/>
          <p:nvPr/>
        </p:nvSpPr>
        <p:spPr>
          <a:xfrm>
            <a:off x="5961757" y="8377833"/>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0.42</a:t>
            </a:r>
            <a:endParaRPr b="0" i="0" sz="1950" u="none" cap="none" strike="noStrike">
              <a:solidFill>
                <a:schemeClr val="dk1"/>
              </a:solidFill>
              <a:latin typeface="Calibri"/>
              <a:ea typeface="Calibri"/>
              <a:cs typeface="Calibri"/>
              <a:sym typeface="Calibri"/>
            </a:endParaRPr>
          </a:p>
        </p:txBody>
      </p:sp>
      <p:sp>
        <p:nvSpPr>
          <p:cNvPr id="415" name="Google Shape;415;p12"/>
          <p:cNvSpPr/>
          <p:nvPr/>
        </p:nvSpPr>
        <p:spPr>
          <a:xfrm>
            <a:off x="1343025" y="9115425"/>
            <a:ext cx="984557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Selected variants of 12 tested</a:t>
            </a:r>
            <a:endParaRPr b="0" i="0" sz="1800" u="none" cap="none" strike="noStrike">
              <a:solidFill>
                <a:schemeClr val="dk1"/>
              </a:solidFill>
              <a:latin typeface="Calibri"/>
              <a:ea typeface="Calibri"/>
              <a:cs typeface="Calibri"/>
              <a:sym typeface="Calibri"/>
            </a:endParaRPr>
          </a:p>
        </p:txBody>
      </p:sp>
      <p:sp>
        <p:nvSpPr>
          <p:cNvPr id="416" name="Google Shape;416;p12"/>
          <p:cNvSpPr/>
          <p:nvPr/>
        </p:nvSpPr>
        <p:spPr>
          <a:xfrm>
            <a:off x="10988873" y="1951583"/>
            <a:ext cx="6308527" cy="7763917"/>
          </a:xfrm>
          <a:prstGeom prst="roundRect">
            <a:avLst>
              <a:gd fmla="val 2416"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11346061" y="4226719"/>
            <a:ext cx="6153567"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HRU</a:t>
            </a:r>
            <a:endParaRPr b="0" i="0" sz="1800" u="none" cap="none" strike="noStrike">
              <a:solidFill>
                <a:schemeClr val="dk1"/>
              </a:solidFill>
              <a:latin typeface="Calibri"/>
              <a:ea typeface="Calibri"/>
              <a:cs typeface="Calibri"/>
              <a:sym typeface="Calibri"/>
            </a:endParaRPr>
          </a:p>
        </p:txBody>
      </p:sp>
      <p:sp>
        <p:nvSpPr>
          <p:cNvPr id="418" name="Google Shape;418;p12"/>
          <p:cNvSpPr/>
          <p:nvPr/>
        </p:nvSpPr>
        <p:spPr>
          <a:xfrm>
            <a:off x="11346061" y="4683919"/>
            <a:ext cx="6153567" cy="1323975"/>
          </a:xfrm>
          <a:prstGeom prst="rect">
            <a:avLst/>
          </a:prstGeom>
          <a:noFill/>
          <a:ln>
            <a:noFill/>
          </a:ln>
        </p:spPr>
        <p:txBody>
          <a:bodyPr anchorCtr="0" anchor="t" bIns="25400" lIns="25400" spcFirstLastPara="1" rIns="25400" wrap="square" tIns="25400">
            <a:noAutofit/>
          </a:bodyPr>
          <a:lstStyle/>
          <a:p>
            <a:pPr indent="0" lvl="0" marL="0" marR="0" rtl="0" algn="l">
              <a:lnSpc>
                <a:spcPct val="70313"/>
              </a:lnSpc>
              <a:spcBef>
                <a:spcPts val="0"/>
              </a:spcBef>
              <a:spcAft>
                <a:spcPts val="0"/>
              </a:spcAft>
              <a:buClr>
                <a:srgbClr val="2DD4BF"/>
              </a:buClr>
              <a:buSzPts val="11250"/>
              <a:buFont typeface="Space Grotesk"/>
              <a:buNone/>
            </a:pPr>
            <a:r>
              <a:rPr b="1" i="0" lang="en-US" sz="11250" u="none" cap="none" strike="noStrike">
                <a:solidFill>
                  <a:srgbClr val="2DD4BF"/>
                </a:solidFill>
                <a:latin typeface="Space Grotesk"/>
                <a:ea typeface="Space Grotesk"/>
                <a:cs typeface="Space Grotesk"/>
                <a:sym typeface="Space Grotesk"/>
              </a:rPr>
              <a:t>1.31</a:t>
            </a:r>
            <a:endParaRPr b="0" i="0" sz="11250" u="none" cap="none" strike="noStrike">
              <a:solidFill>
                <a:schemeClr val="dk1"/>
              </a:solidFill>
              <a:latin typeface="Calibri"/>
              <a:ea typeface="Calibri"/>
              <a:cs typeface="Calibri"/>
              <a:sym typeface="Calibri"/>
            </a:endParaRPr>
          </a:p>
        </p:txBody>
      </p:sp>
      <p:sp>
        <p:nvSpPr>
          <p:cNvPr id="419" name="Google Shape;419;p12"/>
          <p:cNvSpPr/>
          <p:nvPr/>
        </p:nvSpPr>
        <p:spPr>
          <a:xfrm>
            <a:off x="11346061" y="6122194"/>
            <a:ext cx="5761976" cy="879872"/>
          </a:xfrm>
          <a:prstGeom prst="rect">
            <a:avLst/>
          </a:prstGeom>
          <a:noFill/>
          <a:ln>
            <a:noFill/>
          </a:ln>
        </p:spPr>
        <p:txBody>
          <a:bodyPr anchorCtr="0" anchor="t" bIns="25400" lIns="25400" spcFirstLastPara="1" rIns="25400" wrap="square" tIns="25400">
            <a:noAutofit/>
          </a:bodyPr>
          <a:lstStyle/>
          <a:p>
            <a:pPr indent="0" lvl="0" marL="0" marR="0" rtl="0" algn="l">
              <a:lnSpc>
                <a:spcPct val="100455"/>
              </a:lnSpc>
              <a:spcBef>
                <a:spcPts val="0"/>
              </a:spcBef>
              <a:spcAft>
                <a:spcPts val="0"/>
              </a:spcAft>
              <a:buClr>
                <a:srgbClr val="EAF0FA"/>
              </a:buClr>
              <a:buSzPts val="2550"/>
              <a:buFont typeface="IBM Plex Sans"/>
              <a:buNone/>
            </a:pPr>
            <a:r>
              <a:rPr b="0" i="0" lang="en-US" sz="2550" u="none" cap="none" strike="noStrike">
                <a:solidFill>
                  <a:srgbClr val="EAF0FA"/>
                </a:solidFill>
                <a:latin typeface="IBM Plex Sans"/>
                <a:ea typeface="IBM Plex Sans"/>
                <a:cs typeface="IBM Plex Sans"/>
                <a:sym typeface="IBM Plex Sans"/>
              </a:rPr>
              <a:t>Best of all 12 methods tested — ahead of full retraining.</a:t>
            </a:r>
            <a:endParaRPr b="0" i="0" sz="2550" u="none" cap="none" strike="noStrike">
              <a:solidFill>
                <a:schemeClr val="dk1"/>
              </a:solidFill>
              <a:latin typeface="Calibri"/>
              <a:ea typeface="Calibri"/>
              <a:cs typeface="Calibri"/>
              <a:sym typeface="Calibri"/>
            </a:endParaRPr>
          </a:p>
        </p:txBody>
      </p:sp>
      <p:sp>
        <p:nvSpPr>
          <p:cNvPr id="420" name="Google Shape;420;p12"/>
          <p:cNvSpPr/>
          <p:nvPr/>
        </p:nvSpPr>
        <p:spPr>
          <a:xfrm>
            <a:off x="11346061" y="7116366"/>
            <a:ext cx="615356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Full retrain: 0.58</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425" name="Shape 425"/>
        <p:cNvGrpSpPr/>
        <p:nvPr/>
      </p:nvGrpSpPr>
      <p:grpSpPr>
        <a:xfrm>
          <a:off x="0" y="0"/>
          <a:ext cx="0" cy="0"/>
          <a:chOff x="0" y="0"/>
          <a:chExt cx="0" cy="0"/>
        </a:xfrm>
      </p:grpSpPr>
      <p:sp>
        <p:nvSpPr>
          <p:cNvPr id="426" name="Google Shape;426;p13"/>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8" name="Google Shape;428;p13"/>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429" name="Google Shape;429;p13"/>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11</a:t>
            </a:r>
            <a:endParaRPr b="0" i="0" sz="1800" u="none" cap="none" strike="noStrike">
              <a:solidFill>
                <a:schemeClr val="dk1"/>
              </a:solidFill>
              <a:latin typeface="Calibri"/>
              <a:ea typeface="Calibri"/>
              <a:cs typeface="Calibri"/>
              <a:sym typeface="Calibri"/>
            </a:endParaRPr>
          </a:p>
        </p:txBody>
      </p:sp>
      <p:sp>
        <p:nvSpPr>
          <p:cNvPr id="430" name="Google Shape;430;p13"/>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431" name="Google Shape;431;p13"/>
          <p:cNvSpPr/>
          <p:nvPr/>
        </p:nvSpPr>
        <p:spPr>
          <a:xfrm>
            <a:off x="1732955" y="666750"/>
            <a:ext cx="140824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RESULTS</a:t>
            </a:r>
            <a:endParaRPr b="0" i="0" sz="1800" u="none" cap="none" strike="noStrike">
              <a:solidFill>
                <a:schemeClr val="dk1"/>
              </a:solidFill>
              <a:latin typeface="Calibri"/>
              <a:ea typeface="Calibri"/>
              <a:cs typeface="Calibri"/>
              <a:sym typeface="Calibri"/>
            </a:endParaRPr>
          </a:p>
        </p:txBody>
      </p:sp>
      <p:sp>
        <p:nvSpPr>
          <p:cNvPr id="432" name="Google Shape;432;p13"/>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Not Just Aggressive Forgetting</a:t>
            </a:r>
            <a:endParaRPr b="0" i="0" sz="4350" u="none" cap="none" strike="noStrike">
              <a:solidFill>
                <a:schemeClr val="dk1"/>
              </a:solidFill>
              <a:latin typeface="Calibri"/>
              <a:ea typeface="Calibri"/>
              <a:cs typeface="Calibri"/>
              <a:sym typeface="Calibri"/>
            </a:endParaRPr>
          </a:p>
        </p:txBody>
      </p:sp>
      <p:sp>
        <p:nvSpPr>
          <p:cNvPr id="433" name="Google Shape;433;p13"/>
          <p:cNvSpPr/>
          <p:nvPr/>
        </p:nvSpPr>
        <p:spPr>
          <a:xfrm>
            <a:off x="990600" y="1951583"/>
            <a:ext cx="8001000" cy="7763917"/>
          </a:xfrm>
          <a:prstGeom prst="roundRect">
            <a:avLst>
              <a:gd fmla="val 196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1323975" y="2246858"/>
            <a:ext cx="806767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A · ADJUSTED FOR MODEL IMPACT</a:t>
            </a:r>
            <a:endParaRPr b="0" i="0" sz="1800" u="none" cap="none" strike="noStrike">
              <a:solidFill>
                <a:schemeClr val="dk1"/>
              </a:solidFill>
              <a:latin typeface="Calibri"/>
              <a:ea typeface="Calibri"/>
              <a:cs typeface="Calibri"/>
              <a:sym typeface="Calibri"/>
            </a:endParaRPr>
          </a:p>
        </p:txBody>
      </p:sp>
      <p:sp>
        <p:nvSpPr>
          <p:cNvPr id="435" name="Google Shape;435;p13"/>
          <p:cNvSpPr/>
          <p:nvPr/>
        </p:nvSpPr>
        <p:spPr>
          <a:xfrm>
            <a:off x="1323975" y="2742158"/>
            <a:ext cx="3309908" cy="1066800"/>
          </a:xfrm>
          <a:prstGeom prst="rect">
            <a:avLst/>
          </a:prstGeom>
          <a:noFill/>
          <a:ln>
            <a:noFill/>
          </a:ln>
        </p:spPr>
        <p:txBody>
          <a:bodyPr anchorCtr="0" anchor="t" bIns="25400" lIns="25400" spcFirstLastPara="1" rIns="25400" wrap="square" tIns="25400">
            <a:noAutofit/>
          </a:bodyPr>
          <a:lstStyle/>
          <a:p>
            <a:pPr indent="0" lvl="0" marL="0" marR="0" rtl="0" algn="l">
              <a:lnSpc>
                <a:spcPct val="70588"/>
              </a:lnSpc>
              <a:spcBef>
                <a:spcPts val="0"/>
              </a:spcBef>
              <a:spcAft>
                <a:spcPts val="0"/>
              </a:spcAft>
              <a:buClr>
                <a:srgbClr val="2DD4BF"/>
              </a:buClr>
              <a:buSzPts val="9000"/>
              <a:buFont typeface="Space Grotesk"/>
              <a:buNone/>
            </a:pPr>
            <a:r>
              <a:rPr b="1" i="0" lang="en-US" sz="9000" u="none" cap="none" strike="noStrike">
                <a:solidFill>
                  <a:srgbClr val="2DD4BF"/>
                </a:solidFill>
                <a:latin typeface="Space Grotesk"/>
                <a:ea typeface="Space Grotesk"/>
                <a:cs typeface="Space Grotesk"/>
                <a:sym typeface="Space Grotesk"/>
              </a:rPr>
              <a:t>+0.20</a:t>
            </a:r>
            <a:endParaRPr b="0" i="0" sz="9000" u="none" cap="none" strike="noStrike">
              <a:solidFill>
                <a:schemeClr val="dk1"/>
              </a:solidFill>
              <a:latin typeface="Calibri"/>
              <a:ea typeface="Calibri"/>
              <a:cs typeface="Calibri"/>
              <a:sym typeface="Calibri"/>
            </a:endParaRPr>
          </a:p>
        </p:txBody>
      </p:sp>
      <p:sp>
        <p:nvSpPr>
          <p:cNvPr id="436" name="Google Shape;436;p13"/>
          <p:cNvSpPr/>
          <p:nvPr/>
        </p:nvSpPr>
        <p:spPr>
          <a:xfrm>
            <a:off x="1323975" y="3904208"/>
            <a:ext cx="7554278" cy="758130"/>
          </a:xfrm>
          <a:prstGeom prst="rect">
            <a:avLst/>
          </a:prstGeom>
          <a:noFill/>
          <a:ln>
            <a:noFill/>
          </a:ln>
        </p:spPr>
        <p:txBody>
          <a:bodyPr anchorCtr="0" anchor="t" bIns="25400" lIns="25400" spcFirstLastPara="1" rIns="25400" wrap="square" tIns="25400">
            <a:noAutofit/>
          </a:bodyPr>
          <a:lstStyle/>
          <a:p>
            <a:pPr indent="0" lvl="0" marL="0" marR="0" rtl="0" algn="l">
              <a:lnSpc>
                <a:spcPct val="102162"/>
              </a:lnSpc>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more durable than predicted from how much HRU changes the model.</a:t>
            </a:r>
            <a:endParaRPr b="0" i="0" sz="2100" u="none" cap="none" strike="noStrike">
              <a:solidFill>
                <a:schemeClr val="dk1"/>
              </a:solidFill>
              <a:latin typeface="Calibri"/>
              <a:ea typeface="Calibri"/>
              <a:cs typeface="Calibri"/>
              <a:sym typeface="Calibri"/>
            </a:endParaRPr>
          </a:p>
        </p:txBody>
      </p:sp>
      <p:sp>
        <p:nvSpPr>
          <p:cNvPr id="437" name="Google Shape;437;p13"/>
          <p:cNvSpPr/>
          <p:nvPr/>
        </p:nvSpPr>
        <p:spPr>
          <a:xfrm>
            <a:off x="1323975" y="8039100"/>
            <a:ext cx="150876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RANK OF 12</a:t>
            </a:r>
            <a:endParaRPr b="0" i="0" sz="1800" u="none" cap="none" strike="noStrike">
              <a:solidFill>
                <a:schemeClr val="dk1"/>
              </a:solidFill>
              <a:latin typeface="Calibri"/>
              <a:ea typeface="Calibri"/>
              <a:cs typeface="Calibri"/>
              <a:sym typeface="Calibri"/>
            </a:endParaRPr>
          </a:p>
        </p:txBody>
      </p:sp>
      <p:sp>
        <p:nvSpPr>
          <p:cNvPr id="438" name="Google Shape;438;p13"/>
          <p:cNvSpPr/>
          <p:nvPr/>
        </p:nvSpPr>
        <p:spPr>
          <a:xfrm>
            <a:off x="6052096" y="8039100"/>
            <a:ext cx="286674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residual durability</a:t>
            </a:r>
            <a:endParaRPr b="0" i="0" sz="1800" u="none" cap="none" strike="noStrike">
              <a:solidFill>
                <a:schemeClr val="dk1"/>
              </a:solidFill>
              <a:latin typeface="Calibri"/>
              <a:ea typeface="Calibri"/>
              <a:cs typeface="Calibri"/>
              <a:sym typeface="Calibri"/>
            </a:endParaRPr>
          </a:p>
        </p:txBody>
      </p:sp>
      <p:sp>
        <p:nvSpPr>
          <p:cNvPr id="439" name="Google Shape;439;p13"/>
          <p:cNvSpPr/>
          <p:nvPr/>
        </p:nvSpPr>
        <p:spPr>
          <a:xfrm>
            <a:off x="1323975" y="8439150"/>
            <a:ext cx="527000" cy="552450"/>
          </a:xfrm>
          <a:prstGeom prst="roundRect">
            <a:avLst>
              <a:gd fmla="val 14459"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1285875" y="8439150"/>
            <a:ext cx="603200" cy="5905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1</a:t>
            </a:r>
            <a:endParaRPr b="0" i="0" sz="1800" u="none" cap="none" strike="noStrike">
              <a:solidFill>
                <a:schemeClr val="dk1"/>
              </a:solidFill>
              <a:latin typeface="Calibri"/>
              <a:ea typeface="Calibri"/>
              <a:cs typeface="Calibri"/>
              <a:sym typeface="Calibri"/>
            </a:endParaRPr>
          </a:p>
        </p:txBody>
      </p:sp>
      <p:sp>
        <p:nvSpPr>
          <p:cNvPr id="441" name="Google Shape;441;p13"/>
          <p:cNvSpPr/>
          <p:nvPr/>
        </p:nvSpPr>
        <p:spPr>
          <a:xfrm>
            <a:off x="1927175" y="8439150"/>
            <a:ext cx="527000" cy="552450"/>
          </a:xfrm>
          <a:prstGeom prst="roundRect">
            <a:avLst>
              <a:gd fmla="val 14459"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1889075" y="8439150"/>
            <a:ext cx="603200" cy="5905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2</a:t>
            </a:r>
            <a:endParaRPr b="0" i="0" sz="1800" u="none" cap="none" strike="noStrike">
              <a:solidFill>
                <a:schemeClr val="dk1"/>
              </a:solidFill>
              <a:latin typeface="Calibri"/>
              <a:ea typeface="Calibri"/>
              <a:cs typeface="Calibri"/>
              <a:sym typeface="Calibri"/>
            </a:endParaRPr>
          </a:p>
        </p:txBody>
      </p:sp>
      <p:sp>
        <p:nvSpPr>
          <p:cNvPr id="443" name="Google Shape;443;p13"/>
          <p:cNvSpPr/>
          <p:nvPr/>
        </p:nvSpPr>
        <p:spPr>
          <a:xfrm>
            <a:off x="2530376"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2501801"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3</a:t>
            </a:r>
            <a:endParaRPr b="0" i="0" sz="1800" u="none" cap="none" strike="noStrike">
              <a:solidFill>
                <a:schemeClr val="dk1"/>
              </a:solidFill>
              <a:latin typeface="Calibri"/>
              <a:ea typeface="Calibri"/>
              <a:cs typeface="Calibri"/>
              <a:sym typeface="Calibri"/>
            </a:endParaRPr>
          </a:p>
        </p:txBody>
      </p:sp>
      <p:sp>
        <p:nvSpPr>
          <p:cNvPr id="445" name="Google Shape;445;p13"/>
          <p:cNvSpPr/>
          <p:nvPr/>
        </p:nvSpPr>
        <p:spPr>
          <a:xfrm>
            <a:off x="3152626"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3124051"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4</a:t>
            </a:r>
            <a:endParaRPr b="0" i="0" sz="1800" u="none" cap="none" strike="noStrike">
              <a:solidFill>
                <a:schemeClr val="dk1"/>
              </a:solidFill>
              <a:latin typeface="Calibri"/>
              <a:ea typeface="Calibri"/>
              <a:cs typeface="Calibri"/>
              <a:sym typeface="Calibri"/>
            </a:endParaRPr>
          </a:p>
        </p:txBody>
      </p:sp>
      <p:sp>
        <p:nvSpPr>
          <p:cNvPr id="447" name="Google Shape;447;p13"/>
          <p:cNvSpPr/>
          <p:nvPr/>
        </p:nvSpPr>
        <p:spPr>
          <a:xfrm>
            <a:off x="3774877"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3746302"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5</a:t>
            </a:r>
            <a:endParaRPr b="0" i="0" sz="1800" u="none" cap="none" strike="noStrike">
              <a:solidFill>
                <a:schemeClr val="dk1"/>
              </a:solidFill>
              <a:latin typeface="Calibri"/>
              <a:ea typeface="Calibri"/>
              <a:cs typeface="Calibri"/>
              <a:sym typeface="Calibri"/>
            </a:endParaRPr>
          </a:p>
        </p:txBody>
      </p:sp>
      <p:sp>
        <p:nvSpPr>
          <p:cNvPr id="449" name="Google Shape;449;p13"/>
          <p:cNvSpPr/>
          <p:nvPr/>
        </p:nvSpPr>
        <p:spPr>
          <a:xfrm>
            <a:off x="4397127"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4368552"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6</a:t>
            </a:r>
            <a:endParaRPr b="0" i="0" sz="1800" u="none" cap="none" strike="noStrike">
              <a:solidFill>
                <a:schemeClr val="dk1"/>
              </a:solidFill>
              <a:latin typeface="Calibri"/>
              <a:ea typeface="Calibri"/>
              <a:cs typeface="Calibri"/>
              <a:sym typeface="Calibri"/>
            </a:endParaRPr>
          </a:p>
        </p:txBody>
      </p:sp>
      <p:sp>
        <p:nvSpPr>
          <p:cNvPr id="451" name="Google Shape;451;p13"/>
          <p:cNvSpPr/>
          <p:nvPr/>
        </p:nvSpPr>
        <p:spPr>
          <a:xfrm>
            <a:off x="5019377"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4990802"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7</a:t>
            </a:r>
            <a:endParaRPr b="0" i="0" sz="1800" u="none" cap="none" strike="noStrike">
              <a:solidFill>
                <a:schemeClr val="dk1"/>
              </a:solidFill>
              <a:latin typeface="Calibri"/>
              <a:ea typeface="Calibri"/>
              <a:cs typeface="Calibri"/>
              <a:sym typeface="Calibri"/>
            </a:endParaRPr>
          </a:p>
        </p:txBody>
      </p:sp>
      <p:sp>
        <p:nvSpPr>
          <p:cNvPr id="453" name="Google Shape;453;p13"/>
          <p:cNvSpPr/>
          <p:nvPr/>
        </p:nvSpPr>
        <p:spPr>
          <a:xfrm>
            <a:off x="5641628"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5613053"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8</a:t>
            </a:r>
            <a:endParaRPr b="0" i="0" sz="1800" u="none" cap="none" strike="noStrike">
              <a:solidFill>
                <a:schemeClr val="dk1"/>
              </a:solidFill>
              <a:latin typeface="Calibri"/>
              <a:ea typeface="Calibri"/>
              <a:cs typeface="Calibri"/>
              <a:sym typeface="Calibri"/>
            </a:endParaRPr>
          </a:p>
        </p:txBody>
      </p:sp>
      <p:sp>
        <p:nvSpPr>
          <p:cNvPr id="455" name="Google Shape;455;p13"/>
          <p:cNvSpPr/>
          <p:nvPr/>
        </p:nvSpPr>
        <p:spPr>
          <a:xfrm>
            <a:off x="6263878"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6235303"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9</a:t>
            </a:r>
            <a:endParaRPr b="0" i="0" sz="1800" u="none" cap="none" strike="noStrike">
              <a:solidFill>
                <a:schemeClr val="dk1"/>
              </a:solidFill>
              <a:latin typeface="Calibri"/>
              <a:ea typeface="Calibri"/>
              <a:cs typeface="Calibri"/>
              <a:sym typeface="Calibri"/>
            </a:endParaRPr>
          </a:p>
        </p:txBody>
      </p:sp>
      <p:sp>
        <p:nvSpPr>
          <p:cNvPr id="457" name="Google Shape;457;p13"/>
          <p:cNvSpPr/>
          <p:nvPr/>
        </p:nvSpPr>
        <p:spPr>
          <a:xfrm>
            <a:off x="6886129"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6857554"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10</a:t>
            </a:r>
            <a:endParaRPr b="0" i="0" sz="1800" u="none" cap="none" strike="noStrike">
              <a:solidFill>
                <a:schemeClr val="dk1"/>
              </a:solidFill>
              <a:latin typeface="Calibri"/>
              <a:ea typeface="Calibri"/>
              <a:cs typeface="Calibri"/>
              <a:sym typeface="Calibri"/>
            </a:endParaRPr>
          </a:p>
        </p:txBody>
      </p:sp>
      <p:sp>
        <p:nvSpPr>
          <p:cNvPr id="459" name="Google Shape;459;p13"/>
          <p:cNvSpPr/>
          <p:nvPr/>
        </p:nvSpPr>
        <p:spPr>
          <a:xfrm>
            <a:off x="7508379" y="8439150"/>
            <a:ext cx="546050" cy="552450"/>
          </a:xfrm>
          <a:prstGeom prst="roundRect">
            <a:avLst>
              <a:gd fmla="val 13955"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7479804" y="8448675"/>
            <a:ext cx="603200" cy="571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11</a:t>
            </a:r>
            <a:endParaRPr b="0" i="0" sz="1800" u="none" cap="none" strike="noStrike">
              <a:solidFill>
                <a:schemeClr val="dk1"/>
              </a:solidFill>
              <a:latin typeface="Calibri"/>
              <a:ea typeface="Calibri"/>
              <a:cs typeface="Calibri"/>
              <a:sym typeface="Calibri"/>
            </a:endParaRPr>
          </a:p>
        </p:txBody>
      </p:sp>
      <p:sp>
        <p:nvSpPr>
          <p:cNvPr id="461" name="Google Shape;461;p13"/>
          <p:cNvSpPr/>
          <p:nvPr/>
        </p:nvSpPr>
        <p:spPr>
          <a:xfrm>
            <a:off x="8130629" y="8439150"/>
            <a:ext cx="527000" cy="552450"/>
          </a:xfrm>
          <a:prstGeom prst="roundRect">
            <a:avLst>
              <a:gd fmla="val 14459" name="adj"/>
            </a:avLst>
          </a:prstGeom>
          <a:solidFill>
            <a:srgbClr val="7C89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8092529" y="8439150"/>
            <a:ext cx="603200" cy="5905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12</a:t>
            </a:r>
            <a:endParaRPr b="0" i="0" sz="1800" u="none" cap="none" strike="noStrike">
              <a:solidFill>
                <a:schemeClr val="dk1"/>
              </a:solidFill>
              <a:latin typeface="Calibri"/>
              <a:ea typeface="Calibri"/>
              <a:cs typeface="Calibri"/>
              <a:sym typeface="Calibri"/>
            </a:endParaRPr>
          </a:p>
        </p:txBody>
      </p:sp>
      <p:sp>
        <p:nvSpPr>
          <p:cNvPr id="463" name="Google Shape;463;p13"/>
          <p:cNvSpPr/>
          <p:nvPr/>
        </p:nvSpPr>
        <p:spPr>
          <a:xfrm>
            <a:off x="1323975" y="9105900"/>
            <a:ext cx="2007751"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75"/>
              <a:buFont typeface="IBM Plex Sans"/>
              <a:buNone/>
            </a:pPr>
            <a:r>
              <a:rPr b="0" i="0" lang="en-US" sz="1875" u="none" cap="none" strike="noStrike">
                <a:solidFill>
                  <a:srgbClr val="2DD4BF"/>
                </a:solidFill>
                <a:latin typeface="IBM Plex Sans"/>
                <a:ea typeface="IBM Plex Sans"/>
                <a:cs typeface="IBM Plex Sans"/>
                <a:sym typeface="IBM Plex Sans"/>
              </a:rPr>
              <a:t>HRU · Full retrain</a:t>
            </a:r>
            <a:endParaRPr b="0" i="0" sz="1875" u="none" cap="none" strike="noStrike">
              <a:solidFill>
                <a:schemeClr val="dk1"/>
              </a:solidFill>
              <a:latin typeface="Calibri"/>
              <a:ea typeface="Calibri"/>
              <a:cs typeface="Calibri"/>
              <a:sym typeface="Calibri"/>
            </a:endParaRPr>
          </a:p>
        </p:txBody>
      </p:sp>
      <p:sp>
        <p:nvSpPr>
          <p:cNvPr id="464" name="Google Shape;464;p13"/>
          <p:cNvSpPr/>
          <p:nvPr/>
        </p:nvSpPr>
        <p:spPr>
          <a:xfrm>
            <a:off x="7488882" y="9105900"/>
            <a:ext cx="1245543"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NPO — last</a:t>
            </a:r>
            <a:endParaRPr b="0" i="0" sz="1875" u="none" cap="none" strike="noStrike">
              <a:solidFill>
                <a:schemeClr val="dk1"/>
              </a:solidFill>
              <a:latin typeface="Calibri"/>
              <a:ea typeface="Calibri"/>
              <a:cs typeface="Calibri"/>
              <a:sym typeface="Calibri"/>
            </a:endParaRPr>
          </a:p>
        </p:txBody>
      </p:sp>
      <p:sp>
        <p:nvSpPr>
          <p:cNvPr id="465" name="Google Shape;465;p13"/>
          <p:cNvSpPr/>
          <p:nvPr/>
        </p:nvSpPr>
        <p:spPr>
          <a:xfrm>
            <a:off x="9296400" y="1951583"/>
            <a:ext cx="8001000" cy="7763917"/>
          </a:xfrm>
          <a:prstGeom prst="roundRect">
            <a:avLst>
              <a:gd fmla="val 196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9629775" y="2246858"/>
            <a:ext cx="806767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B · TRUTH RATIO</a:t>
            </a:r>
            <a:endParaRPr b="0" i="0" sz="1800" u="none" cap="none" strike="noStrike">
              <a:solidFill>
                <a:schemeClr val="dk1"/>
              </a:solidFill>
              <a:latin typeface="Calibri"/>
              <a:ea typeface="Calibri"/>
              <a:cs typeface="Calibri"/>
              <a:sym typeface="Calibri"/>
            </a:endParaRPr>
          </a:p>
        </p:txBody>
      </p:sp>
      <p:sp>
        <p:nvSpPr>
          <p:cNvPr id="467" name="Google Shape;467;p13"/>
          <p:cNvSpPr/>
          <p:nvPr/>
        </p:nvSpPr>
        <p:spPr>
          <a:xfrm>
            <a:off x="9629775" y="2742158"/>
            <a:ext cx="7554278" cy="758130"/>
          </a:xfrm>
          <a:prstGeom prst="rect">
            <a:avLst/>
          </a:prstGeom>
          <a:noFill/>
          <a:ln>
            <a:noFill/>
          </a:ln>
        </p:spPr>
        <p:txBody>
          <a:bodyPr anchorCtr="0" anchor="t" bIns="25400" lIns="25400" spcFirstLastPara="1" rIns="25400" wrap="square" tIns="25400">
            <a:noAutofit/>
          </a:bodyPr>
          <a:lstStyle/>
          <a:p>
            <a:pPr indent="0" lvl="0" marL="0" marR="0" rtl="0" algn="l">
              <a:lnSpc>
                <a:spcPct val="102162"/>
              </a:lnSpc>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Does the model still prefer the true answer? </a:t>
            </a:r>
            <a:r>
              <a:rPr b="0" i="0" lang="en-US" sz="2100" u="none" cap="none" strike="noStrike">
                <a:solidFill>
                  <a:srgbClr val="B8C2D6"/>
                </a:solidFill>
                <a:latin typeface="IBM Plex Sans"/>
                <a:ea typeface="IBM Plex Sans"/>
                <a:cs typeface="IBM Plex Sans"/>
                <a:sym typeface="IBM Plex Sans"/>
              </a:rPr>
              <a:t>1.0 = clean forgetting.</a:t>
            </a:r>
            <a:endParaRPr b="0" i="0" sz="2100" u="none" cap="none" strike="noStrike">
              <a:solidFill>
                <a:schemeClr val="dk1"/>
              </a:solidFill>
              <a:latin typeface="Calibri"/>
              <a:ea typeface="Calibri"/>
              <a:cs typeface="Calibri"/>
              <a:sym typeface="Calibri"/>
            </a:endParaRPr>
          </a:p>
        </p:txBody>
      </p:sp>
      <p:sp>
        <p:nvSpPr>
          <p:cNvPr id="468" name="Google Shape;468;p13"/>
          <p:cNvSpPr/>
          <p:nvPr/>
        </p:nvSpPr>
        <p:spPr>
          <a:xfrm>
            <a:off x="9725025" y="6431607"/>
            <a:ext cx="6286500" cy="38100"/>
          </a:xfrm>
          <a:prstGeom prst="roundRect">
            <a:avLst>
              <a:gd fmla="val 50000"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12868275" y="4499372"/>
            <a:ext cx="19050" cy="3864620"/>
          </a:xfrm>
          <a:prstGeom prst="rect">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3"/>
          <p:cNvSpPr/>
          <p:nvPr/>
        </p:nvSpPr>
        <p:spPr>
          <a:xfrm>
            <a:off x="12251531" y="3747939"/>
            <a:ext cx="13579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1.0 clean</a:t>
            </a:r>
            <a:endParaRPr b="0" i="0" sz="1800" u="none" cap="none" strike="noStrike">
              <a:solidFill>
                <a:schemeClr val="dk1"/>
              </a:solidFill>
              <a:latin typeface="Calibri"/>
              <a:ea typeface="Calibri"/>
              <a:cs typeface="Calibri"/>
              <a:sym typeface="Calibri"/>
            </a:endParaRPr>
          </a:p>
        </p:txBody>
      </p:sp>
      <p:sp>
        <p:nvSpPr>
          <p:cNvPr id="471" name="Google Shape;471;p13"/>
          <p:cNvSpPr/>
          <p:nvPr/>
        </p:nvSpPr>
        <p:spPr>
          <a:xfrm>
            <a:off x="12792075" y="6326832"/>
            <a:ext cx="209550" cy="209550"/>
          </a:xfrm>
          <a:prstGeom prst="ellipse">
            <a:avLst/>
          </a:prstGeom>
          <a:solidFill>
            <a:srgbClr val="B8C2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p:nvPr/>
        </p:nvSpPr>
        <p:spPr>
          <a:xfrm>
            <a:off x="11587163" y="6914704"/>
            <a:ext cx="1232148" cy="35242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EAF0FA"/>
              </a:buClr>
              <a:buSzPts val="1875"/>
              <a:buFont typeface="IBM Plex Sans"/>
              <a:buNone/>
            </a:pPr>
            <a:r>
              <a:rPr b="0" i="0" lang="en-US" sz="1875" u="none" cap="none" strike="noStrike">
                <a:solidFill>
                  <a:srgbClr val="EAF0FA"/>
                </a:solidFill>
                <a:latin typeface="IBM Plex Sans"/>
                <a:ea typeface="IBM Plex Sans"/>
                <a:cs typeface="IBM Plex Sans"/>
                <a:sym typeface="IBM Plex Sans"/>
              </a:rPr>
              <a:t>Full retrain</a:t>
            </a:r>
            <a:endParaRPr b="0" i="0" sz="1875" u="none" cap="none" strike="noStrike">
              <a:solidFill>
                <a:schemeClr val="dk1"/>
              </a:solidFill>
              <a:latin typeface="Calibri"/>
              <a:ea typeface="Calibri"/>
              <a:cs typeface="Calibri"/>
              <a:sym typeface="Calibri"/>
            </a:endParaRPr>
          </a:p>
        </p:txBody>
      </p:sp>
      <p:sp>
        <p:nvSpPr>
          <p:cNvPr id="473" name="Google Shape;473;p13"/>
          <p:cNvSpPr/>
          <p:nvPr/>
        </p:nvSpPr>
        <p:spPr>
          <a:xfrm>
            <a:off x="11587163" y="7229029"/>
            <a:ext cx="1232148" cy="36195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1.01</a:t>
            </a:r>
            <a:endParaRPr b="0" i="0" sz="1950" u="none" cap="none" strike="noStrike">
              <a:solidFill>
                <a:schemeClr val="dk1"/>
              </a:solidFill>
              <a:latin typeface="Calibri"/>
              <a:ea typeface="Calibri"/>
              <a:cs typeface="Calibri"/>
              <a:sym typeface="Calibri"/>
            </a:endParaRPr>
          </a:p>
        </p:txBody>
      </p:sp>
      <p:sp>
        <p:nvSpPr>
          <p:cNvPr id="474" name="Google Shape;474;p13"/>
          <p:cNvSpPr/>
          <p:nvPr/>
        </p:nvSpPr>
        <p:spPr>
          <a:xfrm>
            <a:off x="13658850" y="6307782"/>
            <a:ext cx="247650" cy="247650"/>
          </a:xfrm>
          <a:prstGeom prst="ellipse">
            <a:avLst/>
          </a:prstGeom>
          <a:solidFill>
            <a:srgbClr val="2DD4BF"/>
          </a:solidFill>
          <a:ln>
            <a:noFill/>
          </a:ln>
          <a:effectLst>
            <a:outerShdw blurRad="152400" rotWithShape="0" algn="bl" dir="16200000" dist="50800">
              <a:srgbClr val="2DD4BF">
                <a:alpha val="5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13839825" y="6914704"/>
            <a:ext cx="670620"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875"/>
              <a:buFont typeface="IBM Plex Sans"/>
              <a:buNone/>
            </a:pPr>
            <a:r>
              <a:rPr b="1" i="0" lang="en-US" sz="1875" u="none" cap="none" strike="noStrike">
                <a:solidFill>
                  <a:srgbClr val="EAF0FA"/>
                </a:solidFill>
                <a:latin typeface="IBM Plex Sans"/>
                <a:ea typeface="IBM Plex Sans"/>
                <a:cs typeface="IBM Plex Sans"/>
                <a:sym typeface="IBM Plex Sans"/>
              </a:rPr>
              <a:t>HRU</a:t>
            </a:r>
            <a:endParaRPr b="0" i="0" sz="1875" u="none" cap="none" strike="noStrike">
              <a:solidFill>
                <a:schemeClr val="dk1"/>
              </a:solidFill>
              <a:latin typeface="Calibri"/>
              <a:ea typeface="Calibri"/>
              <a:cs typeface="Calibri"/>
              <a:sym typeface="Calibri"/>
            </a:endParaRPr>
          </a:p>
        </p:txBody>
      </p:sp>
      <p:sp>
        <p:nvSpPr>
          <p:cNvPr id="476" name="Google Shape;476;p13"/>
          <p:cNvSpPr/>
          <p:nvPr/>
        </p:nvSpPr>
        <p:spPr>
          <a:xfrm>
            <a:off x="13839825" y="7229029"/>
            <a:ext cx="6706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950"/>
              <a:buFont typeface="IBM Plex Mono"/>
              <a:buNone/>
            </a:pPr>
            <a:r>
              <a:rPr b="0" i="0" lang="en-US" sz="1950" u="none" cap="none" strike="noStrike">
                <a:solidFill>
                  <a:srgbClr val="2DD4BF"/>
                </a:solidFill>
                <a:latin typeface="IBM Plex Mono"/>
                <a:ea typeface="IBM Plex Mono"/>
                <a:cs typeface="IBM Plex Mono"/>
                <a:sym typeface="IBM Plex Mono"/>
              </a:rPr>
              <a:t>1.29</a:t>
            </a:r>
            <a:endParaRPr b="0" i="0" sz="1950" u="none" cap="none" strike="noStrike">
              <a:solidFill>
                <a:schemeClr val="dk1"/>
              </a:solidFill>
              <a:latin typeface="Calibri"/>
              <a:ea typeface="Calibri"/>
              <a:cs typeface="Calibri"/>
              <a:sym typeface="Calibri"/>
            </a:endParaRPr>
          </a:p>
        </p:txBody>
      </p:sp>
      <p:sp>
        <p:nvSpPr>
          <p:cNvPr id="477" name="Google Shape;477;p13"/>
          <p:cNvSpPr/>
          <p:nvPr/>
        </p:nvSpPr>
        <p:spPr>
          <a:xfrm>
            <a:off x="15714315" y="6269682"/>
            <a:ext cx="37341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950"/>
              <a:buFont typeface="IBM Plex Mono"/>
              <a:buNone/>
            </a:pPr>
            <a:r>
              <a:rPr b="0" i="0" lang="en-US" sz="1950" u="none" cap="none" strike="noStrike">
                <a:solidFill>
                  <a:srgbClr val="38435C"/>
                </a:solidFill>
                <a:latin typeface="IBM Plex Mono"/>
                <a:ea typeface="IBM Plex Mono"/>
                <a:cs typeface="IBM Plex Mono"/>
                <a:sym typeface="IBM Plex Mono"/>
              </a:rPr>
              <a:t>//</a:t>
            </a:r>
            <a:endParaRPr b="0" i="0" sz="1950" u="none" cap="none" strike="noStrike">
              <a:solidFill>
                <a:schemeClr val="dk1"/>
              </a:solidFill>
              <a:latin typeface="Calibri"/>
              <a:ea typeface="Calibri"/>
              <a:cs typeface="Calibri"/>
              <a:sym typeface="Calibri"/>
            </a:endParaRPr>
          </a:p>
        </p:txBody>
      </p:sp>
      <p:sp>
        <p:nvSpPr>
          <p:cNvPr id="478" name="Google Shape;478;p13"/>
          <p:cNvSpPr/>
          <p:nvPr/>
        </p:nvSpPr>
        <p:spPr>
          <a:xfrm>
            <a:off x="16659225" y="6326832"/>
            <a:ext cx="209550" cy="209550"/>
          </a:xfrm>
          <a:prstGeom prst="ellipse">
            <a:avLst/>
          </a:prstGeom>
          <a:solidFill>
            <a:srgbClr val="7C89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16049625" y="4499372"/>
            <a:ext cx="819150" cy="35242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EAF0FA"/>
              </a:buClr>
              <a:buSzPts val="1875"/>
              <a:buFont typeface="IBM Plex Sans"/>
              <a:buNone/>
            </a:pPr>
            <a:r>
              <a:rPr b="0" i="0" lang="en-US" sz="1875" u="none" cap="none" strike="noStrike">
                <a:solidFill>
                  <a:srgbClr val="EAF0FA"/>
                </a:solidFill>
                <a:latin typeface="IBM Plex Sans"/>
                <a:ea typeface="IBM Plex Sans"/>
                <a:cs typeface="IBM Plex Sans"/>
                <a:sym typeface="IBM Plex Sans"/>
              </a:rPr>
              <a:t>NPO</a:t>
            </a:r>
            <a:endParaRPr b="0" i="0" sz="1875" u="none" cap="none" strike="noStrike">
              <a:solidFill>
                <a:schemeClr val="dk1"/>
              </a:solidFill>
              <a:latin typeface="Calibri"/>
              <a:ea typeface="Calibri"/>
              <a:cs typeface="Calibri"/>
              <a:sym typeface="Calibri"/>
            </a:endParaRPr>
          </a:p>
        </p:txBody>
      </p:sp>
      <p:sp>
        <p:nvSpPr>
          <p:cNvPr id="480" name="Google Shape;480;p13"/>
          <p:cNvSpPr/>
          <p:nvPr/>
        </p:nvSpPr>
        <p:spPr>
          <a:xfrm>
            <a:off x="16049625" y="4813697"/>
            <a:ext cx="819150" cy="36195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B8C2D6"/>
              </a:buClr>
              <a:buSzPts val="1950"/>
              <a:buFont typeface="IBM Plex Mono"/>
              <a:buNone/>
            </a:pPr>
            <a:r>
              <a:rPr b="0" i="0" lang="en-US" sz="1950" u="none" cap="none" strike="noStrike">
                <a:solidFill>
                  <a:srgbClr val="B8C2D6"/>
                </a:solidFill>
                <a:latin typeface="IBM Plex Mono"/>
                <a:ea typeface="IBM Plex Mono"/>
                <a:cs typeface="IBM Plex Mono"/>
                <a:sym typeface="IBM Plex Mono"/>
              </a:rPr>
              <a:t>13.17</a:t>
            </a:r>
            <a:endParaRPr b="0" i="0" sz="1950" u="none" cap="none" strike="noStrike">
              <a:solidFill>
                <a:schemeClr val="dk1"/>
              </a:solidFill>
              <a:latin typeface="Calibri"/>
              <a:ea typeface="Calibri"/>
              <a:cs typeface="Calibri"/>
              <a:sym typeface="Calibri"/>
            </a:endParaRPr>
          </a:p>
        </p:txBody>
      </p:sp>
      <p:sp>
        <p:nvSpPr>
          <p:cNvPr id="481" name="Google Shape;481;p13"/>
          <p:cNvSpPr/>
          <p:nvPr/>
        </p:nvSpPr>
        <p:spPr>
          <a:xfrm>
            <a:off x="15619661" y="8596015"/>
            <a:ext cx="137402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Sans"/>
              <a:buNone/>
            </a:pPr>
            <a:r>
              <a:rPr b="0" i="0" lang="en-US" sz="1800" u="none" cap="none" strike="noStrike">
                <a:solidFill>
                  <a:srgbClr val="7C89A3"/>
                </a:solidFill>
                <a:latin typeface="IBM Plex Sans"/>
                <a:ea typeface="IBM Plex Sans"/>
                <a:cs typeface="IBM Plex Sans"/>
                <a:sym typeface="IBM Plex Sans"/>
              </a:rPr>
              <a:t>over-forgets</a:t>
            </a:r>
            <a:endParaRPr b="0" i="0" sz="1800" u="none" cap="none" strike="noStrike">
              <a:solidFill>
                <a:schemeClr val="dk1"/>
              </a:solidFill>
              <a:latin typeface="Calibri"/>
              <a:ea typeface="Calibri"/>
              <a:cs typeface="Calibri"/>
              <a:sym typeface="Calibri"/>
            </a:endParaRPr>
          </a:p>
        </p:txBody>
      </p:sp>
      <p:sp>
        <p:nvSpPr>
          <p:cNvPr id="482" name="Google Shape;482;p13"/>
          <p:cNvSpPr/>
          <p:nvPr/>
        </p:nvSpPr>
        <p:spPr>
          <a:xfrm>
            <a:off x="9629775" y="9115425"/>
            <a:ext cx="806767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axis broken between 2 and 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487" name="Shape 487"/>
        <p:cNvGrpSpPr/>
        <p:nvPr/>
      </p:nvGrpSpPr>
      <p:grpSpPr>
        <a:xfrm>
          <a:off x="0" y="0"/>
          <a:ext cx="0" cy="0"/>
          <a:chOff x="0" y="0"/>
          <a:chExt cx="0" cy="0"/>
        </a:xfrm>
      </p:grpSpPr>
      <p:sp>
        <p:nvSpPr>
          <p:cNvPr id="488" name="Google Shape;488;p14"/>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0" name="Google Shape;490;p14"/>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491" name="Google Shape;491;p14"/>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12</a:t>
            </a:r>
            <a:endParaRPr b="0" i="0" sz="1800" u="none" cap="none" strike="noStrike">
              <a:solidFill>
                <a:schemeClr val="dk1"/>
              </a:solidFill>
              <a:latin typeface="Calibri"/>
              <a:ea typeface="Calibri"/>
              <a:cs typeface="Calibri"/>
              <a:sym typeface="Calibri"/>
            </a:endParaRPr>
          </a:p>
        </p:txBody>
      </p:sp>
      <p:sp>
        <p:nvSpPr>
          <p:cNvPr id="492" name="Google Shape;492;p14"/>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493" name="Google Shape;493;p14"/>
          <p:cNvSpPr/>
          <p:nvPr/>
        </p:nvSpPr>
        <p:spPr>
          <a:xfrm>
            <a:off x="1732955" y="666750"/>
            <a:ext cx="181064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DISCOVERY</a:t>
            </a:r>
            <a:endParaRPr b="0" i="0" sz="1800" u="none" cap="none" strike="noStrike">
              <a:solidFill>
                <a:schemeClr val="dk1"/>
              </a:solidFill>
              <a:latin typeface="Calibri"/>
              <a:ea typeface="Calibri"/>
              <a:cs typeface="Calibri"/>
              <a:sym typeface="Calibri"/>
            </a:endParaRPr>
          </a:p>
        </p:txBody>
      </p:sp>
      <p:sp>
        <p:nvSpPr>
          <p:cNvPr id="494" name="Google Shape;494;p14"/>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Sharding Dilutes Unlearning</a:t>
            </a:r>
            <a:endParaRPr b="0" i="0" sz="4350" u="none" cap="none" strike="noStrike">
              <a:solidFill>
                <a:schemeClr val="dk1"/>
              </a:solidFill>
              <a:latin typeface="Calibri"/>
              <a:ea typeface="Calibri"/>
              <a:cs typeface="Calibri"/>
              <a:sym typeface="Calibri"/>
            </a:endParaRPr>
          </a:p>
        </p:txBody>
      </p:sp>
      <p:sp>
        <p:nvSpPr>
          <p:cNvPr id="495" name="Google Shape;495;p14"/>
          <p:cNvSpPr/>
          <p:nvPr/>
        </p:nvSpPr>
        <p:spPr>
          <a:xfrm>
            <a:off x="990600" y="1932533"/>
            <a:ext cx="9699427" cy="6752481"/>
          </a:xfrm>
          <a:prstGeom prst="roundRect">
            <a:avLst>
              <a:gd fmla="val 2257"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1285875" y="3913287"/>
            <a:ext cx="3238500" cy="619125"/>
          </a:xfrm>
          <a:prstGeom prst="roundRect">
            <a:avLst>
              <a:gd fmla="val 18462"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4"/>
          <p:cNvSpPr/>
          <p:nvPr/>
        </p:nvSpPr>
        <p:spPr>
          <a:xfrm>
            <a:off x="1509713" y="4060924"/>
            <a:ext cx="93315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Shard 1</a:t>
            </a:r>
            <a:endParaRPr b="0" i="0" sz="1950" u="none" cap="none" strike="noStrike">
              <a:solidFill>
                <a:schemeClr val="dk1"/>
              </a:solidFill>
              <a:latin typeface="Calibri"/>
              <a:ea typeface="Calibri"/>
              <a:cs typeface="Calibri"/>
              <a:sym typeface="Calibri"/>
            </a:endParaRPr>
          </a:p>
        </p:txBody>
      </p:sp>
      <p:sp>
        <p:nvSpPr>
          <p:cNvPr id="498" name="Google Shape;498;p14"/>
          <p:cNvSpPr/>
          <p:nvPr/>
        </p:nvSpPr>
        <p:spPr>
          <a:xfrm>
            <a:off x="2557165" y="4070449"/>
            <a:ext cx="211236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scrubbed −4.18</a:t>
            </a:r>
            <a:endParaRPr b="0" i="0" sz="1800" u="none" cap="none" strike="noStrike">
              <a:solidFill>
                <a:schemeClr val="dk1"/>
              </a:solidFill>
              <a:latin typeface="Calibri"/>
              <a:ea typeface="Calibri"/>
              <a:cs typeface="Calibri"/>
              <a:sym typeface="Calibri"/>
            </a:endParaRPr>
          </a:p>
        </p:txBody>
      </p:sp>
      <p:sp>
        <p:nvSpPr>
          <p:cNvPr id="499" name="Google Shape;499;p14"/>
          <p:cNvSpPr/>
          <p:nvPr/>
        </p:nvSpPr>
        <p:spPr>
          <a:xfrm>
            <a:off x="1285875" y="4646712"/>
            <a:ext cx="3238500" cy="609600"/>
          </a:xfrm>
          <a:prstGeom prst="roundRect">
            <a:avLst>
              <a:gd fmla="val 18750"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1504950" y="4789587"/>
            <a:ext cx="93315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Shard 2</a:t>
            </a:r>
            <a:endParaRPr b="0" i="0" sz="1950" u="none" cap="none" strike="noStrike">
              <a:solidFill>
                <a:schemeClr val="dk1"/>
              </a:solidFill>
              <a:latin typeface="Calibri"/>
              <a:ea typeface="Calibri"/>
              <a:cs typeface="Calibri"/>
              <a:sym typeface="Calibri"/>
            </a:endParaRPr>
          </a:p>
        </p:txBody>
      </p:sp>
      <p:sp>
        <p:nvSpPr>
          <p:cNvPr id="501" name="Google Shape;501;p14"/>
          <p:cNvSpPr/>
          <p:nvPr/>
        </p:nvSpPr>
        <p:spPr>
          <a:xfrm>
            <a:off x="3070771" y="4799112"/>
            <a:ext cx="13579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untouched</a:t>
            </a:r>
            <a:endParaRPr b="0" i="0" sz="1800" u="none" cap="none" strike="noStrike">
              <a:solidFill>
                <a:schemeClr val="dk1"/>
              </a:solidFill>
              <a:latin typeface="Calibri"/>
              <a:ea typeface="Calibri"/>
              <a:cs typeface="Calibri"/>
              <a:sym typeface="Calibri"/>
            </a:endParaRPr>
          </a:p>
        </p:txBody>
      </p:sp>
      <p:sp>
        <p:nvSpPr>
          <p:cNvPr id="502" name="Google Shape;502;p14"/>
          <p:cNvSpPr/>
          <p:nvPr/>
        </p:nvSpPr>
        <p:spPr>
          <a:xfrm>
            <a:off x="1285875" y="5370612"/>
            <a:ext cx="3238500" cy="609600"/>
          </a:xfrm>
          <a:prstGeom prst="roundRect">
            <a:avLst>
              <a:gd fmla="val 18750"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1504950" y="5513487"/>
            <a:ext cx="93315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Shard 3</a:t>
            </a:r>
            <a:endParaRPr b="0" i="0" sz="1950" u="none" cap="none" strike="noStrike">
              <a:solidFill>
                <a:schemeClr val="dk1"/>
              </a:solidFill>
              <a:latin typeface="Calibri"/>
              <a:ea typeface="Calibri"/>
              <a:cs typeface="Calibri"/>
              <a:sym typeface="Calibri"/>
            </a:endParaRPr>
          </a:p>
        </p:txBody>
      </p:sp>
      <p:sp>
        <p:nvSpPr>
          <p:cNvPr id="504" name="Google Shape;504;p14"/>
          <p:cNvSpPr/>
          <p:nvPr/>
        </p:nvSpPr>
        <p:spPr>
          <a:xfrm>
            <a:off x="3070771" y="5523012"/>
            <a:ext cx="13579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untouched</a:t>
            </a:r>
            <a:endParaRPr b="0" i="0" sz="1800" u="none" cap="none" strike="noStrike">
              <a:solidFill>
                <a:schemeClr val="dk1"/>
              </a:solidFill>
              <a:latin typeface="Calibri"/>
              <a:ea typeface="Calibri"/>
              <a:cs typeface="Calibri"/>
              <a:sym typeface="Calibri"/>
            </a:endParaRPr>
          </a:p>
        </p:txBody>
      </p:sp>
      <p:sp>
        <p:nvSpPr>
          <p:cNvPr id="505" name="Google Shape;505;p14"/>
          <p:cNvSpPr/>
          <p:nvPr/>
        </p:nvSpPr>
        <p:spPr>
          <a:xfrm>
            <a:off x="1285875" y="6094512"/>
            <a:ext cx="3238500" cy="609600"/>
          </a:xfrm>
          <a:prstGeom prst="roundRect">
            <a:avLst>
              <a:gd fmla="val 18750"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1504950" y="6237387"/>
            <a:ext cx="933152"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1950"/>
              <a:buFont typeface="IBM Plex Sans"/>
              <a:buNone/>
            </a:pPr>
            <a:r>
              <a:rPr b="0" i="0" lang="en-US" sz="1950" u="none" cap="none" strike="noStrike">
                <a:solidFill>
                  <a:srgbClr val="EAF0FA"/>
                </a:solidFill>
                <a:latin typeface="IBM Plex Sans"/>
                <a:ea typeface="IBM Plex Sans"/>
                <a:cs typeface="IBM Plex Sans"/>
                <a:sym typeface="IBM Plex Sans"/>
              </a:rPr>
              <a:t>Shard 4</a:t>
            </a:r>
            <a:endParaRPr b="0" i="0" sz="1950" u="none" cap="none" strike="noStrike">
              <a:solidFill>
                <a:schemeClr val="dk1"/>
              </a:solidFill>
              <a:latin typeface="Calibri"/>
              <a:ea typeface="Calibri"/>
              <a:cs typeface="Calibri"/>
              <a:sym typeface="Calibri"/>
            </a:endParaRPr>
          </a:p>
        </p:txBody>
      </p:sp>
      <p:sp>
        <p:nvSpPr>
          <p:cNvPr id="507" name="Google Shape;507;p14"/>
          <p:cNvSpPr/>
          <p:nvPr/>
        </p:nvSpPr>
        <p:spPr>
          <a:xfrm>
            <a:off x="3070771" y="6246912"/>
            <a:ext cx="13579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untouched</a:t>
            </a:r>
            <a:endParaRPr b="0" i="0" sz="1800" u="none" cap="none" strike="noStrike">
              <a:solidFill>
                <a:schemeClr val="dk1"/>
              </a:solidFill>
              <a:latin typeface="Calibri"/>
              <a:ea typeface="Calibri"/>
              <a:cs typeface="Calibri"/>
              <a:sym typeface="Calibri"/>
            </a:endParaRPr>
          </a:p>
        </p:txBody>
      </p:sp>
      <p:pic>
        <p:nvPicPr>
          <p:cNvPr descr="preencoded.png" id="508" name="Google Shape;508;p14"/>
          <p:cNvPicPr preferRelativeResize="0"/>
          <p:nvPr/>
        </p:nvPicPr>
        <p:blipFill rotWithShape="1">
          <a:blip r:embed="rId4">
            <a:alphaModFix/>
          </a:blip>
          <a:srcRect b="0" l="0" r="0" t="0"/>
          <a:stretch/>
        </p:blipFill>
        <p:spPr>
          <a:xfrm>
            <a:off x="4591050" y="4118074"/>
            <a:ext cx="1047750" cy="2381250"/>
          </a:xfrm>
          <a:prstGeom prst="rect">
            <a:avLst/>
          </a:prstGeom>
          <a:noFill/>
          <a:ln>
            <a:noFill/>
          </a:ln>
        </p:spPr>
      </p:pic>
      <p:sp>
        <p:nvSpPr>
          <p:cNvPr id="509" name="Google Shape;509;p14"/>
          <p:cNvSpPr/>
          <p:nvPr/>
        </p:nvSpPr>
        <p:spPr>
          <a:xfrm>
            <a:off x="5705475" y="4737199"/>
            <a:ext cx="1143000" cy="1143000"/>
          </a:xfrm>
          <a:prstGeom prst="ellipse">
            <a:avLst/>
          </a:prstGeom>
          <a:solidFill>
            <a:srgbClr val="111B30"/>
          </a:solidFill>
          <a:ln cap="flat" cmpd="sng" w="1427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4"/>
          <p:cNvSpPr/>
          <p:nvPr/>
        </p:nvSpPr>
        <p:spPr>
          <a:xfrm>
            <a:off x="5796855" y="5156299"/>
            <a:ext cx="10364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average</a:t>
            </a:r>
            <a:endParaRPr b="0" i="0" sz="1800" u="none" cap="none" strike="noStrike">
              <a:solidFill>
                <a:schemeClr val="dk1"/>
              </a:solidFill>
              <a:latin typeface="Calibri"/>
              <a:ea typeface="Calibri"/>
              <a:cs typeface="Calibri"/>
              <a:sym typeface="Calibri"/>
            </a:endParaRPr>
          </a:p>
        </p:txBody>
      </p:sp>
      <p:pic>
        <p:nvPicPr>
          <p:cNvPr descr="preencoded.png" id="511" name="Google Shape;511;p14"/>
          <p:cNvPicPr preferRelativeResize="0"/>
          <p:nvPr/>
        </p:nvPicPr>
        <p:blipFill rotWithShape="1">
          <a:blip r:embed="rId5">
            <a:alphaModFix/>
          </a:blip>
          <a:srcRect b="0" l="0" r="0" t="0"/>
          <a:stretch/>
        </p:blipFill>
        <p:spPr>
          <a:xfrm>
            <a:off x="6991350" y="5175349"/>
            <a:ext cx="419100" cy="266700"/>
          </a:xfrm>
          <a:prstGeom prst="rect">
            <a:avLst/>
          </a:prstGeom>
          <a:noFill/>
          <a:ln>
            <a:noFill/>
          </a:ln>
        </p:spPr>
      </p:pic>
      <p:sp>
        <p:nvSpPr>
          <p:cNvPr id="512" name="Google Shape;512;p14"/>
          <p:cNvSpPr/>
          <p:nvPr/>
        </p:nvSpPr>
        <p:spPr>
          <a:xfrm>
            <a:off x="7553325" y="4480024"/>
            <a:ext cx="2840980" cy="1657350"/>
          </a:xfrm>
          <a:prstGeom prst="roundRect">
            <a:avLst>
              <a:gd fmla="val 9195"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4"/>
          <p:cNvSpPr/>
          <p:nvPr/>
        </p:nvSpPr>
        <p:spPr>
          <a:xfrm>
            <a:off x="7772400" y="4680049"/>
            <a:ext cx="264311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ENSEMBLE</a:t>
            </a:r>
            <a:endParaRPr b="0" i="0" sz="1800" u="none" cap="none" strike="noStrike">
              <a:solidFill>
                <a:schemeClr val="dk1"/>
              </a:solidFill>
              <a:latin typeface="Calibri"/>
              <a:ea typeface="Calibri"/>
              <a:cs typeface="Calibri"/>
              <a:sym typeface="Calibri"/>
            </a:endParaRPr>
          </a:p>
        </p:txBody>
      </p:sp>
      <p:sp>
        <p:nvSpPr>
          <p:cNvPr id="514" name="Google Shape;514;p14"/>
          <p:cNvSpPr/>
          <p:nvPr/>
        </p:nvSpPr>
        <p:spPr>
          <a:xfrm>
            <a:off x="7772400" y="5041999"/>
            <a:ext cx="2643113" cy="571500"/>
          </a:xfrm>
          <a:prstGeom prst="rect">
            <a:avLst/>
          </a:prstGeom>
          <a:noFill/>
          <a:ln>
            <a:noFill/>
          </a:ln>
        </p:spPr>
        <p:txBody>
          <a:bodyPr anchorCtr="0" anchor="t" bIns="25400" lIns="25400" spcFirstLastPara="1" rIns="25400" wrap="square" tIns="25400">
            <a:noAutofit/>
          </a:bodyPr>
          <a:lstStyle/>
          <a:p>
            <a:pPr indent="0" lvl="0" marL="0" marR="0" rtl="0" algn="l">
              <a:lnSpc>
                <a:spcPct val="78873"/>
              </a:lnSpc>
              <a:spcBef>
                <a:spcPts val="0"/>
              </a:spcBef>
              <a:spcAft>
                <a:spcPts val="0"/>
              </a:spcAft>
              <a:buClr>
                <a:srgbClr val="EAF0FA"/>
              </a:buClr>
              <a:buSzPts val="4200"/>
              <a:buFont typeface="Space Grotesk"/>
              <a:buNone/>
            </a:pPr>
            <a:r>
              <a:rPr b="1" i="0" lang="en-US" sz="4200" u="none" cap="none" strike="noStrike">
                <a:solidFill>
                  <a:srgbClr val="EAF0FA"/>
                </a:solidFill>
                <a:latin typeface="Space Grotesk"/>
                <a:ea typeface="Space Grotesk"/>
                <a:cs typeface="Space Grotesk"/>
                <a:sym typeface="Space Grotesk"/>
              </a:rPr>
              <a:t>−0.50</a:t>
            </a:r>
            <a:endParaRPr b="0" i="0" sz="4200" u="none" cap="none" strike="noStrike">
              <a:solidFill>
                <a:schemeClr val="dk1"/>
              </a:solidFill>
              <a:latin typeface="Calibri"/>
              <a:ea typeface="Calibri"/>
              <a:cs typeface="Calibri"/>
              <a:sym typeface="Calibri"/>
            </a:endParaRPr>
          </a:p>
        </p:txBody>
      </p:sp>
      <p:sp>
        <p:nvSpPr>
          <p:cNvPr id="515" name="Google Shape;515;p14"/>
          <p:cNvSpPr/>
          <p:nvPr/>
        </p:nvSpPr>
        <p:spPr>
          <a:xfrm>
            <a:off x="7772400" y="5632549"/>
            <a:ext cx="2643113"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forgetting diluted</a:t>
            </a:r>
            <a:endParaRPr b="0" i="0" sz="1800" u="none" cap="none" strike="noStrike">
              <a:solidFill>
                <a:schemeClr val="dk1"/>
              </a:solidFill>
              <a:latin typeface="Calibri"/>
              <a:ea typeface="Calibri"/>
              <a:cs typeface="Calibri"/>
              <a:sym typeface="Calibri"/>
            </a:endParaRPr>
          </a:p>
        </p:txBody>
      </p:sp>
      <p:sp>
        <p:nvSpPr>
          <p:cNvPr id="516" name="Google Shape;516;p14"/>
          <p:cNvSpPr/>
          <p:nvPr/>
        </p:nvSpPr>
        <p:spPr>
          <a:xfrm>
            <a:off x="10975777" y="1932533"/>
            <a:ext cx="6321623" cy="6752481"/>
          </a:xfrm>
          <a:prstGeom prst="roundRect">
            <a:avLst>
              <a:gd fmla="val 2411"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11290102" y="4032349"/>
            <a:ext cx="626227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DURABILITY AFTER ATTACK</a:t>
            </a:r>
            <a:endParaRPr b="0" i="0" sz="1800" u="none" cap="none" strike="noStrike">
              <a:solidFill>
                <a:schemeClr val="dk1"/>
              </a:solidFill>
              <a:latin typeface="Calibri"/>
              <a:ea typeface="Calibri"/>
              <a:cs typeface="Calibri"/>
              <a:sym typeface="Calibri"/>
            </a:endParaRPr>
          </a:p>
        </p:txBody>
      </p:sp>
      <p:sp>
        <p:nvSpPr>
          <p:cNvPr id="518" name="Google Shape;518;p14"/>
          <p:cNvSpPr/>
          <p:nvPr/>
        </p:nvSpPr>
        <p:spPr>
          <a:xfrm>
            <a:off x="11290102" y="4750147"/>
            <a:ext cx="593973"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025"/>
              <a:buFont typeface="IBM Plex Sans"/>
              <a:buNone/>
            </a:pPr>
            <a:r>
              <a:rPr b="0" i="0" lang="en-US" sz="2025" u="none" cap="none" strike="noStrike">
                <a:solidFill>
                  <a:srgbClr val="EAF0FA"/>
                </a:solidFill>
                <a:latin typeface="IBM Plex Sans"/>
                <a:ea typeface="IBM Plex Sans"/>
                <a:cs typeface="IBM Plex Sans"/>
                <a:sym typeface="IBM Plex Sans"/>
              </a:rPr>
              <a:t>HRU</a:t>
            </a:r>
            <a:endParaRPr b="0" i="0" sz="2025" u="none" cap="none" strike="noStrike">
              <a:solidFill>
                <a:schemeClr val="dk1"/>
              </a:solidFill>
              <a:latin typeface="Calibri"/>
              <a:ea typeface="Calibri"/>
              <a:cs typeface="Calibri"/>
              <a:sym typeface="Calibri"/>
            </a:endParaRPr>
          </a:p>
        </p:txBody>
      </p:sp>
      <p:sp>
        <p:nvSpPr>
          <p:cNvPr id="519" name="Google Shape;519;p14"/>
          <p:cNvSpPr/>
          <p:nvPr/>
        </p:nvSpPr>
        <p:spPr>
          <a:xfrm>
            <a:off x="16109305" y="4527649"/>
            <a:ext cx="949970" cy="6667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3900"/>
              <a:buFont typeface="Space Grotesk"/>
              <a:buNone/>
            </a:pPr>
            <a:r>
              <a:rPr b="1" i="0" lang="en-US" sz="3900" u="none" cap="none" strike="noStrike">
                <a:solidFill>
                  <a:srgbClr val="2DD4BF"/>
                </a:solidFill>
                <a:latin typeface="Space Grotesk"/>
                <a:ea typeface="Space Grotesk"/>
                <a:cs typeface="Space Grotesk"/>
                <a:sym typeface="Space Grotesk"/>
              </a:rPr>
              <a:t>1.31</a:t>
            </a:r>
            <a:endParaRPr b="0" i="0" sz="3900" u="none" cap="none" strike="noStrike">
              <a:solidFill>
                <a:schemeClr val="dk1"/>
              </a:solidFill>
              <a:latin typeface="Calibri"/>
              <a:ea typeface="Calibri"/>
              <a:cs typeface="Calibri"/>
              <a:sym typeface="Calibri"/>
            </a:endParaRPr>
          </a:p>
        </p:txBody>
      </p:sp>
      <p:sp>
        <p:nvSpPr>
          <p:cNvPr id="520" name="Google Shape;520;p14"/>
          <p:cNvSpPr/>
          <p:nvPr/>
        </p:nvSpPr>
        <p:spPr>
          <a:xfrm>
            <a:off x="11290102" y="5251549"/>
            <a:ext cx="5692973" cy="209550"/>
          </a:xfrm>
          <a:prstGeom prst="roundRect">
            <a:avLst>
              <a:gd fmla="val 22727"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4"/>
          <p:cNvSpPr/>
          <p:nvPr/>
        </p:nvSpPr>
        <p:spPr>
          <a:xfrm>
            <a:off x="11290102" y="5874097"/>
            <a:ext cx="1969279"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025"/>
              <a:buFont typeface="IBM Plex Sans"/>
              <a:buNone/>
            </a:pPr>
            <a:r>
              <a:rPr b="0" i="0" lang="en-US" sz="2025" u="none" cap="none" strike="noStrike">
                <a:solidFill>
                  <a:srgbClr val="EAF0FA"/>
                </a:solidFill>
                <a:latin typeface="IBM Plex Sans"/>
                <a:ea typeface="IBM Plex Sans"/>
                <a:cs typeface="IBM Plex Sans"/>
                <a:sym typeface="IBM Plex Sans"/>
              </a:rPr>
              <a:t>HRU + sharding</a:t>
            </a:r>
            <a:endParaRPr b="0" i="0" sz="2025" u="none" cap="none" strike="noStrike">
              <a:solidFill>
                <a:schemeClr val="dk1"/>
              </a:solidFill>
              <a:latin typeface="Calibri"/>
              <a:ea typeface="Calibri"/>
              <a:cs typeface="Calibri"/>
              <a:sym typeface="Calibri"/>
            </a:endParaRPr>
          </a:p>
        </p:txBody>
      </p:sp>
      <p:sp>
        <p:nvSpPr>
          <p:cNvPr id="522" name="Google Shape;522;p14"/>
          <p:cNvSpPr/>
          <p:nvPr/>
        </p:nvSpPr>
        <p:spPr>
          <a:xfrm>
            <a:off x="15918359" y="5651599"/>
            <a:ext cx="1140916" cy="6667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3900"/>
              <a:buFont typeface="Space Grotesk"/>
              <a:buNone/>
            </a:pPr>
            <a:r>
              <a:rPr b="1" i="0" lang="en-US" sz="3900" u="none" cap="none" strike="noStrike">
                <a:solidFill>
                  <a:srgbClr val="B8C2D6"/>
                </a:solidFill>
                <a:latin typeface="Space Grotesk"/>
                <a:ea typeface="Space Grotesk"/>
                <a:cs typeface="Space Grotesk"/>
                <a:sym typeface="Space Grotesk"/>
              </a:rPr>
              <a:t>0.42</a:t>
            </a:r>
            <a:endParaRPr b="0" i="0" sz="3900" u="none" cap="none" strike="noStrike">
              <a:solidFill>
                <a:schemeClr val="dk1"/>
              </a:solidFill>
              <a:latin typeface="Calibri"/>
              <a:ea typeface="Calibri"/>
              <a:cs typeface="Calibri"/>
              <a:sym typeface="Calibri"/>
            </a:endParaRPr>
          </a:p>
        </p:txBody>
      </p:sp>
      <p:sp>
        <p:nvSpPr>
          <p:cNvPr id="523" name="Google Shape;523;p14"/>
          <p:cNvSpPr/>
          <p:nvPr/>
        </p:nvSpPr>
        <p:spPr>
          <a:xfrm>
            <a:off x="11290102" y="6375499"/>
            <a:ext cx="1827312" cy="209550"/>
          </a:xfrm>
          <a:prstGeom prst="roundRect">
            <a:avLst>
              <a:gd fmla="val 22727"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4"/>
          <p:cNvSpPr/>
          <p:nvPr/>
        </p:nvSpPr>
        <p:spPr>
          <a:xfrm>
            <a:off x="990600" y="8894564"/>
            <a:ext cx="16306800" cy="820936"/>
          </a:xfrm>
          <a:prstGeom prst="roundRect">
            <a:avLst>
              <a:gd fmla="val 18564"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4"/>
          <p:cNvSpPr/>
          <p:nvPr/>
        </p:nvSpPr>
        <p:spPr>
          <a:xfrm>
            <a:off x="1290638" y="9118402"/>
            <a:ext cx="16195929" cy="411361"/>
          </a:xfrm>
          <a:prstGeom prst="rect">
            <a:avLst/>
          </a:prstGeom>
          <a:noFill/>
          <a:ln>
            <a:noFill/>
          </a:ln>
        </p:spPr>
        <p:txBody>
          <a:bodyPr anchorCtr="0" anchor="t" bIns="25400" lIns="25400" spcFirstLastPara="1" rIns="25400" wrap="square" tIns="25400">
            <a:noAutofit/>
          </a:bodyPr>
          <a:lstStyle/>
          <a:p>
            <a:pPr indent="0" lvl="0" marL="0" marR="0" rtl="0" algn="l">
              <a:lnSpc>
                <a:spcPct val="105946"/>
              </a:lnSpc>
              <a:spcBef>
                <a:spcPts val="0"/>
              </a:spcBef>
              <a:spcAft>
                <a:spcPts val="0"/>
              </a:spcAft>
              <a:buClr>
                <a:srgbClr val="EAF0FA"/>
              </a:buClr>
              <a:buSzPts val="2100"/>
              <a:buFont typeface="IBM Plex Sans"/>
              <a:buNone/>
            </a:pPr>
            <a:r>
              <a:rPr b="0" i="0" lang="en-US" sz="2100" u="none" cap="none" strike="noStrike">
                <a:solidFill>
                  <a:srgbClr val="EAF0FA"/>
                </a:solidFill>
                <a:latin typeface="IBM Plex Sans"/>
                <a:ea typeface="IBM Plex Sans"/>
                <a:cs typeface="IBM Plex Sans"/>
                <a:sym typeface="IBM Plex Sans"/>
              </a:rPr>
              <a:t>“SISA's averaging assumes the deleted shard has nothing to suppress — approximate unlearning breaks that assumption.”</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530" name="Shape 530"/>
        <p:cNvGrpSpPr/>
        <p:nvPr/>
      </p:nvGrpSpPr>
      <p:grpSpPr>
        <a:xfrm>
          <a:off x="0" y="0"/>
          <a:ext cx="0" cy="0"/>
          <a:chOff x="0" y="0"/>
          <a:chExt cx="0" cy="0"/>
        </a:xfrm>
      </p:grpSpPr>
      <p:sp>
        <p:nvSpPr>
          <p:cNvPr id="531" name="Google Shape;531;p15"/>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5"/>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3" name="Google Shape;533;p15"/>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534" name="Google Shape;534;p15"/>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13</a:t>
            </a:r>
            <a:endParaRPr b="0" i="0" sz="1800" u="none" cap="none" strike="noStrike">
              <a:solidFill>
                <a:schemeClr val="dk1"/>
              </a:solidFill>
              <a:latin typeface="Calibri"/>
              <a:ea typeface="Calibri"/>
              <a:cs typeface="Calibri"/>
              <a:sym typeface="Calibri"/>
            </a:endParaRPr>
          </a:p>
        </p:txBody>
      </p:sp>
      <p:sp>
        <p:nvSpPr>
          <p:cNvPr id="535" name="Google Shape;535;p15"/>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536" name="Google Shape;536;p15"/>
          <p:cNvSpPr/>
          <p:nvPr/>
        </p:nvSpPr>
        <p:spPr>
          <a:xfrm>
            <a:off x="1732955" y="666750"/>
            <a:ext cx="8078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COST</a:t>
            </a:r>
            <a:endParaRPr b="0" i="0" sz="1800" u="none" cap="none" strike="noStrike">
              <a:solidFill>
                <a:schemeClr val="dk1"/>
              </a:solidFill>
              <a:latin typeface="Calibri"/>
              <a:ea typeface="Calibri"/>
              <a:cs typeface="Calibri"/>
              <a:sym typeface="Calibri"/>
            </a:endParaRPr>
          </a:p>
        </p:txBody>
      </p:sp>
      <p:sp>
        <p:nvSpPr>
          <p:cNvPr id="537" name="Google Shape;537;p15"/>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Cheaper Than Retraining — and Scaling Better</a:t>
            </a:r>
            <a:endParaRPr b="0" i="0" sz="4350" u="none" cap="none" strike="noStrike">
              <a:solidFill>
                <a:schemeClr val="dk1"/>
              </a:solidFill>
              <a:latin typeface="Calibri"/>
              <a:ea typeface="Calibri"/>
              <a:cs typeface="Calibri"/>
              <a:sym typeface="Calibri"/>
            </a:endParaRPr>
          </a:p>
        </p:txBody>
      </p:sp>
      <p:sp>
        <p:nvSpPr>
          <p:cNvPr id="538" name="Google Shape;538;p15"/>
          <p:cNvSpPr/>
          <p:nvPr/>
        </p:nvSpPr>
        <p:spPr>
          <a:xfrm>
            <a:off x="990600" y="1951583"/>
            <a:ext cx="7635478" cy="7763917"/>
          </a:xfrm>
          <a:prstGeom prst="roundRect">
            <a:avLst>
              <a:gd fmla="val 1996"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5"/>
          <p:cNvSpPr/>
          <p:nvPr/>
        </p:nvSpPr>
        <p:spPr>
          <a:xfrm>
            <a:off x="1343025" y="3829496"/>
            <a:ext cx="762369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MEASURED · OPTIMIZER UPDATES</a:t>
            </a:r>
            <a:endParaRPr b="0" i="0" sz="1800" u="none" cap="none" strike="noStrike">
              <a:solidFill>
                <a:schemeClr val="dk1"/>
              </a:solidFill>
              <a:latin typeface="Calibri"/>
              <a:ea typeface="Calibri"/>
              <a:cs typeface="Calibri"/>
              <a:sym typeface="Calibri"/>
            </a:endParaRPr>
          </a:p>
        </p:txBody>
      </p:sp>
      <p:sp>
        <p:nvSpPr>
          <p:cNvPr id="540" name="Google Shape;540;p15"/>
          <p:cNvSpPr/>
          <p:nvPr/>
        </p:nvSpPr>
        <p:spPr>
          <a:xfrm>
            <a:off x="1343025" y="4893022"/>
            <a:ext cx="664518"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HRU</a:t>
            </a:r>
            <a:endParaRPr b="0" i="0" sz="2250" u="none" cap="none" strike="noStrike">
              <a:solidFill>
                <a:schemeClr val="dk1"/>
              </a:solidFill>
              <a:latin typeface="Calibri"/>
              <a:ea typeface="Calibri"/>
              <a:cs typeface="Calibri"/>
              <a:sym typeface="Calibri"/>
            </a:endParaRPr>
          </a:p>
        </p:txBody>
      </p:sp>
      <p:sp>
        <p:nvSpPr>
          <p:cNvPr id="541" name="Google Shape;541;p15"/>
          <p:cNvSpPr/>
          <p:nvPr/>
        </p:nvSpPr>
        <p:spPr>
          <a:xfrm>
            <a:off x="6731943" y="4458146"/>
            <a:ext cx="1695882" cy="860971"/>
          </a:xfrm>
          <a:prstGeom prst="rect">
            <a:avLst/>
          </a:prstGeom>
          <a:noFill/>
          <a:ln>
            <a:noFill/>
          </a:ln>
        </p:spPr>
        <p:txBody>
          <a:bodyPr anchorCtr="0" anchor="t" bIns="25400" lIns="25400" spcFirstLastPara="1" rIns="25400" wrap="square" tIns="25400">
            <a:noAutofit/>
          </a:bodyPr>
          <a:lstStyle/>
          <a:p>
            <a:pPr indent="0" lvl="0" marL="0" marR="0" rtl="0" algn="l">
              <a:lnSpc>
                <a:spcPct val="70820"/>
              </a:lnSpc>
              <a:spcBef>
                <a:spcPts val="0"/>
              </a:spcBef>
              <a:spcAft>
                <a:spcPts val="0"/>
              </a:spcAft>
              <a:buClr>
                <a:srgbClr val="2DD4BF"/>
              </a:buClr>
              <a:buSzPts val="7200"/>
              <a:buFont typeface="Space Grotesk"/>
              <a:buNone/>
            </a:pPr>
            <a:r>
              <a:rPr b="1" i="0" lang="en-US" sz="7200" u="none" cap="none" strike="noStrike">
                <a:solidFill>
                  <a:srgbClr val="2DD4BF"/>
                </a:solidFill>
                <a:latin typeface="Space Grotesk"/>
                <a:ea typeface="Space Grotesk"/>
                <a:cs typeface="Space Grotesk"/>
                <a:sym typeface="Space Grotesk"/>
              </a:rPr>
              <a:t>120</a:t>
            </a:r>
            <a:endParaRPr b="0" i="0" sz="7200" u="none" cap="none" strike="noStrike">
              <a:solidFill>
                <a:schemeClr val="dk1"/>
              </a:solidFill>
              <a:latin typeface="Calibri"/>
              <a:ea typeface="Calibri"/>
              <a:cs typeface="Calibri"/>
              <a:sym typeface="Calibri"/>
            </a:endParaRPr>
          </a:p>
        </p:txBody>
      </p:sp>
      <p:sp>
        <p:nvSpPr>
          <p:cNvPr id="542" name="Google Shape;542;p15"/>
          <p:cNvSpPr/>
          <p:nvPr/>
        </p:nvSpPr>
        <p:spPr>
          <a:xfrm>
            <a:off x="1343025" y="5395317"/>
            <a:ext cx="5544443" cy="266700"/>
          </a:xfrm>
          <a:prstGeom prst="roundRect">
            <a:avLst>
              <a:gd fmla="val 21429"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5"/>
          <p:cNvSpPr/>
          <p:nvPr/>
        </p:nvSpPr>
        <p:spPr>
          <a:xfrm>
            <a:off x="1343025" y="6420743"/>
            <a:ext cx="1525786"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0" i="0" lang="en-US" sz="2250" u="none" cap="none" strike="noStrike">
                <a:solidFill>
                  <a:srgbClr val="EAF0FA"/>
                </a:solidFill>
                <a:latin typeface="IBM Plex Sans"/>
                <a:ea typeface="IBM Plex Sans"/>
                <a:cs typeface="IBM Plex Sans"/>
                <a:sym typeface="IBM Plex Sans"/>
              </a:rPr>
              <a:t>Full retrain</a:t>
            </a:r>
            <a:endParaRPr b="0" i="0" sz="2250" u="none" cap="none" strike="noStrike">
              <a:solidFill>
                <a:schemeClr val="dk1"/>
              </a:solidFill>
              <a:latin typeface="Calibri"/>
              <a:ea typeface="Calibri"/>
              <a:cs typeface="Calibri"/>
              <a:sym typeface="Calibri"/>
            </a:endParaRPr>
          </a:p>
        </p:txBody>
      </p:sp>
      <p:sp>
        <p:nvSpPr>
          <p:cNvPr id="544" name="Google Shape;544;p15"/>
          <p:cNvSpPr/>
          <p:nvPr/>
        </p:nvSpPr>
        <p:spPr>
          <a:xfrm>
            <a:off x="6728668" y="5985867"/>
            <a:ext cx="1699483" cy="860971"/>
          </a:xfrm>
          <a:prstGeom prst="rect">
            <a:avLst/>
          </a:prstGeom>
          <a:noFill/>
          <a:ln>
            <a:noFill/>
          </a:ln>
        </p:spPr>
        <p:txBody>
          <a:bodyPr anchorCtr="0" anchor="t" bIns="25400" lIns="25400" spcFirstLastPara="1" rIns="25400" wrap="square" tIns="25400">
            <a:noAutofit/>
          </a:bodyPr>
          <a:lstStyle/>
          <a:p>
            <a:pPr indent="0" lvl="0" marL="0" marR="0" rtl="0" algn="l">
              <a:lnSpc>
                <a:spcPct val="70820"/>
              </a:lnSpc>
              <a:spcBef>
                <a:spcPts val="0"/>
              </a:spcBef>
              <a:spcAft>
                <a:spcPts val="0"/>
              </a:spcAft>
              <a:buClr>
                <a:srgbClr val="B8C2D6"/>
              </a:buClr>
              <a:buSzPts val="7200"/>
              <a:buFont typeface="Space Grotesk"/>
              <a:buNone/>
            </a:pPr>
            <a:r>
              <a:rPr b="1" i="0" lang="en-US" sz="7200" u="none" cap="none" strike="noStrike">
                <a:solidFill>
                  <a:srgbClr val="B8C2D6"/>
                </a:solidFill>
                <a:latin typeface="Space Grotesk"/>
                <a:ea typeface="Space Grotesk"/>
                <a:cs typeface="Space Grotesk"/>
                <a:sym typeface="Space Grotesk"/>
              </a:rPr>
              <a:t>150</a:t>
            </a:r>
            <a:endParaRPr b="0" i="0" sz="7200" u="none" cap="none" strike="noStrike">
              <a:solidFill>
                <a:schemeClr val="dk1"/>
              </a:solidFill>
              <a:latin typeface="Calibri"/>
              <a:ea typeface="Calibri"/>
              <a:cs typeface="Calibri"/>
              <a:sym typeface="Calibri"/>
            </a:endParaRPr>
          </a:p>
        </p:txBody>
      </p:sp>
      <p:sp>
        <p:nvSpPr>
          <p:cNvPr id="545" name="Google Shape;545;p15"/>
          <p:cNvSpPr/>
          <p:nvPr/>
        </p:nvSpPr>
        <p:spPr>
          <a:xfrm>
            <a:off x="1343025" y="6923038"/>
            <a:ext cx="6930628" cy="266700"/>
          </a:xfrm>
          <a:prstGeom prst="roundRect">
            <a:avLst>
              <a:gd fmla="val 21429" name="adj"/>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5"/>
          <p:cNvSpPr/>
          <p:nvPr/>
        </p:nvSpPr>
        <p:spPr>
          <a:xfrm>
            <a:off x="1343025" y="7513588"/>
            <a:ext cx="7623691"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At this scale — GPT-2, 130 profiles.</a:t>
            </a:r>
            <a:endParaRPr b="0" i="0" sz="1950" u="none" cap="none" strike="noStrike">
              <a:solidFill>
                <a:schemeClr val="dk1"/>
              </a:solidFill>
              <a:latin typeface="Calibri"/>
              <a:ea typeface="Calibri"/>
              <a:cs typeface="Calibri"/>
              <a:sym typeface="Calibri"/>
            </a:endParaRPr>
          </a:p>
        </p:txBody>
      </p:sp>
      <p:sp>
        <p:nvSpPr>
          <p:cNvPr id="547" name="Google Shape;547;p15"/>
          <p:cNvSpPr/>
          <p:nvPr/>
        </p:nvSpPr>
        <p:spPr>
          <a:xfrm>
            <a:off x="8968978" y="1951583"/>
            <a:ext cx="8328422" cy="7763917"/>
          </a:xfrm>
          <a:prstGeom prst="roundRect">
            <a:avLst>
              <a:gd fmla="val 196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5"/>
          <p:cNvSpPr/>
          <p:nvPr/>
        </p:nvSpPr>
        <p:spPr>
          <a:xfrm>
            <a:off x="9321403" y="2265908"/>
            <a:ext cx="353566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AT DEPLOYMENT SCALE</a:t>
            </a:r>
            <a:endParaRPr b="0" i="0" sz="1800" u="none" cap="none" strike="noStrike">
              <a:solidFill>
                <a:schemeClr val="dk1"/>
              </a:solidFill>
              <a:latin typeface="Calibri"/>
              <a:ea typeface="Calibri"/>
              <a:cs typeface="Calibri"/>
              <a:sym typeface="Calibri"/>
            </a:endParaRPr>
          </a:p>
        </p:txBody>
      </p:sp>
      <p:sp>
        <p:nvSpPr>
          <p:cNvPr id="549" name="Google Shape;549;p15"/>
          <p:cNvSpPr/>
          <p:nvPr/>
        </p:nvSpPr>
        <p:spPr>
          <a:xfrm>
            <a:off x="15710446" y="2265908"/>
            <a:ext cx="1357982"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schematic</a:t>
            </a:r>
            <a:endParaRPr b="0" i="0" sz="1800" u="none" cap="none" strike="noStrike">
              <a:solidFill>
                <a:schemeClr val="dk1"/>
              </a:solidFill>
              <a:latin typeface="Calibri"/>
              <a:ea typeface="Calibri"/>
              <a:cs typeface="Calibri"/>
              <a:sym typeface="Calibri"/>
            </a:endParaRPr>
          </a:p>
        </p:txBody>
      </p:sp>
      <p:pic>
        <p:nvPicPr>
          <p:cNvPr descr="preencoded.png" id="550" name="Google Shape;550;p15"/>
          <p:cNvPicPr preferRelativeResize="0"/>
          <p:nvPr/>
        </p:nvPicPr>
        <p:blipFill rotWithShape="1">
          <a:blip r:embed="rId4">
            <a:alphaModFix/>
          </a:blip>
          <a:srcRect b="0" l="0" r="0" t="0"/>
          <a:stretch/>
        </p:blipFill>
        <p:spPr>
          <a:xfrm>
            <a:off x="9321403" y="2723108"/>
            <a:ext cx="7623572" cy="5916067"/>
          </a:xfrm>
          <a:prstGeom prst="rect">
            <a:avLst/>
          </a:prstGeom>
          <a:noFill/>
          <a:ln>
            <a:noFill/>
          </a:ln>
        </p:spPr>
      </p:pic>
      <p:sp>
        <p:nvSpPr>
          <p:cNvPr id="551" name="Google Shape;551;p15"/>
          <p:cNvSpPr/>
          <p:nvPr/>
        </p:nvSpPr>
        <p:spPr>
          <a:xfrm>
            <a:off x="9321403" y="8753475"/>
            <a:ext cx="408819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025"/>
              <a:buFont typeface="IBM Plex Sans"/>
              <a:buNone/>
            </a:pPr>
            <a:r>
              <a:rPr b="0" i="0" lang="en-US" sz="2025" u="none" cap="none" strike="noStrike">
                <a:solidFill>
                  <a:srgbClr val="EAF0FA"/>
                </a:solidFill>
                <a:latin typeface="IBM Plex Sans"/>
                <a:ea typeface="IBM Plex Sans"/>
                <a:cs typeface="IBM Plex Sans"/>
                <a:sym typeface="IBM Plex Sans"/>
              </a:rPr>
              <a:t>Retraining</a:t>
            </a:r>
            <a:endParaRPr b="0" i="0" sz="2025" u="none" cap="none" strike="noStrike">
              <a:solidFill>
                <a:schemeClr val="dk1"/>
              </a:solidFill>
              <a:latin typeface="Calibri"/>
              <a:ea typeface="Calibri"/>
              <a:cs typeface="Calibri"/>
              <a:sym typeface="Calibri"/>
            </a:endParaRPr>
          </a:p>
        </p:txBody>
      </p:sp>
      <p:sp>
        <p:nvSpPr>
          <p:cNvPr id="552" name="Google Shape;552;p15"/>
          <p:cNvSpPr/>
          <p:nvPr/>
        </p:nvSpPr>
        <p:spPr>
          <a:xfrm>
            <a:off x="9321403" y="9086850"/>
            <a:ext cx="4088190"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grows with the entire corpus</a:t>
            </a:r>
            <a:endParaRPr b="0" i="0" sz="1875" u="none" cap="none" strike="noStrike">
              <a:solidFill>
                <a:schemeClr val="dk1"/>
              </a:solidFill>
              <a:latin typeface="Calibri"/>
              <a:ea typeface="Calibri"/>
              <a:cs typeface="Calibri"/>
              <a:sym typeface="Calibri"/>
            </a:endParaRPr>
          </a:p>
        </p:txBody>
      </p:sp>
      <p:sp>
        <p:nvSpPr>
          <p:cNvPr id="553" name="Google Shape;553;p15"/>
          <p:cNvSpPr/>
          <p:nvPr/>
        </p:nvSpPr>
        <p:spPr>
          <a:xfrm>
            <a:off x="13228439" y="8753475"/>
            <a:ext cx="408819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025"/>
              <a:buFont typeface="IBM Plex Sans"/>
              <a:buNone/>
            </a:pPr>
            <a:r>
              <a:rPr b="0" i="0" lang="en-US" sz="2025" u="none" cap="none" strike="noStrike">
                <a:solidFill>
                  <a:srgbClr val="2DD4BF"/>
                </a:solidFill>
                <a:latin typeface="IBM Plex Sans"/>
                <a:ea typeface="IBM Plex Sans"/>
                <a:cs typeface="IBM Plex Sans"/>
                <a:sym typeface="IBM Plex Sans"/>
              </a:rPr>
              <a:t>HRU</a:t>
            </a:r>
            <a:endParaRPr b="0" i="0" sz="2025" u="none" cap="none" strike="noStrike">
              <a:solidFill>
                <a:schemeClr val="dk1"/>
              </a:solidFill>
              <a:latin typeface="Calibri"/>
              <a:ea typeface="Calibri"/>
              <a:cs typeface="Calibri"/>
              <a:sym typeface="Calibri"/>
            </a:endParaRPr>
          </a:p>
        </p:txBody>
      </p:sp>
      <p:sp>
        <p:nvSpPr>
          <p:cNvPr id="554" name="Google Shape;554;p15"/>
          <p:cNvSpPr/>
          <p:nvPr/>
        </p:nvSpPr>
        <p:spPr>
          <a:xfrm>
            <a:off x="13228439" y="9086850"/>
            <a:ext cx="4088190" cy="3524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75"/>
              <a:buFont typeface="IBM Plex Sans"/>
              <a:buNone/>
            </a:pPr>
            <a:r>
              <a:rPr b="0" i="0" lang="en-US" sz="1875" u="none" cap="none" strike="noStrike">
                <a:solidFill>
                  <a:srgbClr val="B8C2D6"/>
                </a:solidFill>
                <a:latin typeface="IBM Plex Sans"/>
                <a:ea typeface="IBM Plex Sans"/>
                <a:cs typeface="IBM Plex Sans"/>
                <a:sym typeface="IBM Plex Sans"/>
              </a:rPr>
              <a:t>grows with the forgotten data only</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559" name="Shape 559"/>
        <p:cNvGrpSpPr/>
        <p:nvPr/>
      </p:nvGrpSpPr>
      <p:grpSpPr>
        <a:xfrm>
          <a:off x="0" y="0"/>
          <a:ext cx="0" cy="0"/>
          <a:chOff x="0" y="0"/>
          <a:chExt cx="0" cy="0"/>
        </a:xfrm>
      </p:grpSpPr>
      <p:sp>
        <p:nvSpPr>
          <p:cNvPr id="560" name="Google Shape;560;p16"/>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2" name="Google Shape;562;p16"/>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563" name="Google Shape;563;p16"/>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14</a:t>
            </a:r>
            <a:endParaRPr b="0" i="0" sz="1800" u="none" cap="none" strike="noStrike">
              <a:solidFill>
                <a:schemeClr val="dk1"/>
              </a:solidFill>
              <a:latin typeface="Calibri"/>
              <a:ea typeface="Calibri"/>
              <a:cs typeface="Calibri"/>
              <a:sym typeface="Calibri"/>
            </a:endParaRPr>
          </a:p>
        </p:txBody>
      </p:sp>
      <p:sp>
        <p:nvSpPr>
          <p:cNvPr id="564" name="Google Shape;564;p16"/>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565" name="Google Shape;565;p16"/>
          <p:cNvSpPr/>
          <p:nvPr/>
        </p:nvSpPr>
        <p:spPr>
          <a:xfrm>
            <a:off x="1732955" y="666750"/>
            <a:ext cx="3218721"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VALIDATION PHASE</a:t>
            </a:r>
            <a:endParaRPr b="0" i="0" sz="1800" u="none" cap="none" strike="noStrike">
              <a:solidFill>
                <a:schemeClr val="dk1"/>
              </a:solidFill>
              <a:latin typeface="Calibri"/>
              <a:ea typeface="Calibri"/>
              <a:cs typeface="Calibri"/>
              <a:sym typeface="Calibri"/>
            </a:endParaRPr>
          </a:p>
        </p:txBody>
      </p:sp>
      <p:sp>
        <p:nvSpPr>
          <p:cNvPr id="566" name="Google Shape;566;p16"/>
          <p:cNvSpPr/>
          <p:nvPr/>
        </p:nvSpPr>
        <p:spPr>
          <a:xfrm>
            <a:off x="990600" y="1123950"/>
            <a:ext cx="15079980" cy="618083"/>
          </a:xfrm>
          <a:prstGeom prst="rect">
            <a:avLst/>
          </a:prstGeom>
          <a:noFill/>
          <a:ln>
            <a:noFill/>
          </a:ln>
        </p:spPr>
        <p:txBody>
          <a:bodyPr anchorCtr="0" anchor="t" bIns="25400" lIns="25400" spcFirstLastPara="1" rIns="25400" wrap="square" tIns="25400">
            <a:noAutofit/>
          </a:bodyPr>
          <a:lstStyle/>
          <a:p>
            <a:pPr indent="0" lvl="0" marL="0" marR="0" rtl="0" algn="l">
              <a:lnSpc>
                <a:spcPct val="82297"/>
              </a:lnSpc>
              <a:spcBef>
                <a:spcPts val="0"/>
              </a:spcBef>
              <a:spcAft>
                <a:spcPts val="0"/>
              </a:spcAft>
              <a:buClr>
                <a:srgbClr val="EAF0FA"/>
              </a:buClr>
              <a:buSzPts val="4350"/>
              <a:buFont typeface="Space Grotesk"/>
              <a:buNone/>
            </a:pPr>
            <a:r>
              <a:rPr b="1" i="0" lang="en-US" sz="4350" u="none" cap="none" strike="noStrike">
                <a:solidFill>
                  <a:srgbClr val="EAF0FA"/>
                </a:solidFill>
                <a:latin typeface="Space Grotesk"/>
                <a:ea typeface="Space Grotesk"/>
                <a:cs typeface="Space Grotesk"/>
                <a:sym typeface="Space Grotesk"/>
              </a:rPr>
              <a:t>Confirming the Lead</a:t>
            </a:r>
            <a:endParaRPr b="0" i="0" sz="4350" u="none" cap="none" strike="noStrike">
              <a:solidFill>
                <a:schemeClr val="dk1"/>
              </a:solidFill>
              <a:latin typeface="Calibri"/>
              <a:ea typeface="Calibri"/>
              <a:cs typeface="Calibri"/>
              <a:sym typeface="Calibri"/>
            </a:endParaRPr>
          </a:p>
        </p:txBody>
      </p:sp>
      <p:sp>
        <p:nvSpPr>
          <p:cNvPr id="567" name="Google Shape;567;p16"/>
          <p:cNvSpPr/>
          <p:nvPr/>
        </p:nvSpPr>
        <p:spPr>
          <a:xfrm>
            <a:off x="990600" y="1951583"/>
            <a:ext cx="6523732" cy="7763917"/>
          </a:xfrm>
          <a:prstGeom prst="roundRect">
            <a:avLst>
              <a:gd fmla="val 2336"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1347788" y="4343400"/>
            <a:ext cx="3246239" cy="381000"/>
          </a:xfrm>
          <a:prstGeom prst="roundRect">
            <a:avLst>
              <a:gd fmla="val 15000"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1462088" y="4381500"/>
            <a:ext cx="311502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BUILT · READY TO RUN</a:t>
            </a:r>
            <a:endParaRPr b="0" i="0" sz="1800" u="none" cap="none" strike="noStrike">
              <a:solidFill>
                <a:schemeClr val="dk1"/>
              </a:solidFill>
              <a:latin typeface="Calibri"/>
              <a:ea typeface="Calibri"/>
              <a:cs typeface="Calibri"/>
              <a:sym typeface="Calibri"/>
            </a:endParaRPr>
          </a:p>
        </p:txBody>
      </p:sp>
      <p:sp>
        <p:nvSpPr>
          <p:cNvPr id="570" name="Google Shape;570;p16"/>
          <p:cNvSpPr/>
          <p:nvPr/>
        </p:nvSpPr>
        <p:spPr>
          <a:xfrm>
            <a:off x="1347788" y="4972050"/>
            <a:ext cx="6390293" cy="1323975"/>
          </a:xfrm>
          <a:prstGeom prst="rect">
            <a:avLst/>
          </a:prstGeom>
          <a:noFill/>
          <a:ln>
            <a:noFill/>
          </a:ln>
        </p:spPr>
        <p:txBody>
          <a:bodyPr anchorCtr="0" anchor="t" bIns="25400" lIns="25400" spcFirstLastPara="1" rIns="25400" wrap="square" tIns="25400">
            <a:noAutofit/>
          </a:bodyPr>
          <a:lstStyle/>
          <a:p>
            <a:pPr indent="0" lvl="0" marL="0" marR="0" rtl="0" algn="l">
              <a:lnSpc>
                <a:spcPct val="70313"/>
              </a:lnSpc>
              <a:spcBef>
                <a:spcPts val="0"/>
              </a:spcBef>
              <a:spcAft>
                <a:spcPts val="0"/>
              </a:spcAft>
              <a:buClr>
                <a:srgbClr val="2DD4BF"/>
              </a:buClr>
              <a:buSzPts val="11250"/>
              <a:buFont typeface="Space Grotesk"/>
              <a:buNone/>
            </a:pPr>
            <a:r>
              <a:rPr b="1" i="0" lang="en-US" sz="11250" u="none" cap="none" strike="noStrike">
                <a:solidFill>
                  <a:srgbClr val="2DD4BF"/>
                </a:solidFill>
                <a:latin typeface="Space Grotesk"/>
                <a:ea typeface="Space Grotesk"/>
                <a:cs typeface="Space Grotesk"/>
                <a:sym typeface="Space Grotesk"/>
              </a:rPr>
              <a:t>~40</a:t>
            </a:r>
            <a:endParaRPr b="0" i="0" sz="11250" u="none" cap="none" strike="noStrike">
              <a:solidFill>
                <a:schemeClr val="dk1"/>
              </a:solidFill>
              <a:latin typeface="Calibri"/>
              <a:ea typeface="Calibri"/>
              <a:cs typeface="Calibri"/>
              <a:sym typeface="Calibri"/>
            </a:endParaRPr>
          </a:p>
        </p:txBody>
      </p:sp>
      <p:sp>
        <p:nvSpPr>
          <p:cNvPr id="571" name="Google Shape;571;p16"/>
          <p:cNvSpPr/>
          <p:nvPr/>
        </p:nvSpPr>
        <p:spPr>
          <a:xfrm>
            <a:off x="1347788" y="6410325"/>
            <a:ext cx="6390293" cy="457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550"/>
              <a:buFont typeface="IBM Plex Sans"/>
              <a:buNone/>
            </a:pPr>
            <a:r>
              <a:rPr b="0" i="0" lang="en-US" sz="2550" u="none" cap="none" strike="noStrike">
                <a:solidFill>
                  <a:srgbClr val="EAF0FA"/>
                </a:solidFill>
                <a:latin typeface="IBM Plex Sans"/>
                <a:ea typeface="IBM Plex Sans"/>
                <a:cs typeface="IBM Plex Sans"/>
                <a:sym typeface="IBM Plex Sans"/>
              </a:rPr>
              <a:t>minutes of GPU time</a:t>
            </a:r>
            <a:endParaRPr b="0" i="0" sz="2550" u="none" cap="none" strike="noStrike">
              <a:solidFill>
                <a:schemeClr val="dk1"/>
              </a:solidFill>
              <a:latin typeface="Calibri"/>
              <a:ea typeface="Calibri"/>
              <a:cs typeface="Calibri"/>
              <a:sym typeface="Calibri"/>
            </a:endParaRPr>
          </a:p>
        </p:txBody>
      </p:sp>
      <p:sp>
        <p:nvSpPr>
          <p:cNvPr id="572" name="Google Shape;572;p16"/>
          <p:cNvSpPr/>
          <p:nvPr/>
        </p:nvSpPr>
        <p:spPr>
          <a:xfrm>
            <a:off x="1347788" y="6981825"/>
            <a:ext cx="6390293" cy="379809"/>
          </a:xfrm>
          <a:prstGeom prst="rect">
            <a:avLst/>
          </a:prstGeom>
          <a:noFill/>
          <a:ln>
            <a:noFill/>
          </a:ln>
        </p:spPr>
        <p:txBody>
          <a:bodyPr anchorCtr="0" anchor="t" bIns="25400" lIns="25400" spcFirstLastPara="1" rIns="25400" wrap="square" tIns="25400">
            <a:noAutofit/>
          </a:bodyPr>
          <a:lstStyle/>
          <a:p>
            <a:pPr indent="0" lvl="0" marL="0" marR="0" rtl="0" algn="l">
              <a:lnSpc>
                <a:spcPct val="105529"/>
              </a:lnSpc>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Experiment built and ready.</a:t>
            </a:r>
            <a:endParaRPr b="0" i="0" sz="1950" u="none" cap="none" strike="noStrike">
              <a:solidFill>
                <a:schemeClr val="dk1"/>
              </a:solidFill>
              <a:latin typeface="Calibri"/>
              <a:ea typeface="Calibri"/>
              <a:cs typeface="Calibri"/>
              <a:sym typeface="Calibri"/>
            </a:endParaRPr>
          </a:p>
        </p:txBody>
      </p:sp>
      <p:sp>
        <p:nvSpPr>
          <p:cNvPr id="573" name="Google Shape;573;p16"/>
          <p:cNvSpPr/>
          <p:nvPr/>
        </p:nvSpPr>
        <p:spPr>
          <a:xfrm>
            <a:off x="7857232" y="1951583"/>
            <a:ext cx="9440168" cy="2473672"/>
          </a:xfrm>
          <a:prstGeom prst="roundRect">
            <a:avLst>
              <a:gd fmla="val 6161"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8152507" y="3012132"/>
            <a:ext cx="39632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Mono"/>
              <a:buNone/>
            </a:pPr>
            <a:r>
              <a:rPr b="0" i="0" lang="en-US" sz="2100" u="none" cap="none" strike="noStrike">
                <a:solidFill>
                  <a:srgbClr val="2DD4BF"/>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575" name="Google Shape;575;p16"/>
          <p:cNvSpPr/>
          <p:nvPr/>
        </p:nvSpPr>
        <p:spPr>
          <a:xfrm>
            <a:off x="8720286" y="2806898"/>
            <a:ext cx="778134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Fact-level metric</a:t>
            </a:r>
            <a:endParaRPr b="0" i="0" sz="2250" u="none" cap="none" strike="noStrike">
              <a:solidFill>
                <a:schemeClr val="dk1"/>
              </a:solidFill>
              <a:latin typeface="Calibri"/>
              <a:ea typeface="Calibri"/>
              <a:cs typeface="Calibri"/>
              <a:sym typeface="Calibri"/>
            </a:endParaRPr>
          </a:p>
        </p:txBody>
      </p:sp>
      <p:sp>
        <p:nvSpPr>
          <p:cNvPr id="576" name="Google Shape;576;p16"/>
          <p:cNvSpPr/>
          <p:nvPr/>
        </p:nvSpPr>
        <p:spPr>
          <a:xfrm>
            <a:off x="8720286" y="3235523"/>
            <a:ext cx="7781345" cy="372368"/>
          </a:xfrm>
          <a:prstGeom prst="rect">
            <a:avLst/>
          </a:prstGeom>
          <a:noFill/>
          <a:ln>
            <a:noFill/>
          </a:ln>
        </p:spPr>
        <p:txBody>
          <a:bodyPr anchorCtr="0" anchor="t" bIns="25400" lIns="25400" spcFirstLastPara="1" rIns="25400" wrap="square" tIns="25400">
            <a:noAutofit/>
          </a:bodyPr>
          <a:lstStyle/>
          <a:p>
            <a:pPr indent="0" lvl="0" marL="0" marR="0" rtl="0" algn="l">
              <a:lnSpc>
                <a:spcPct val="103235"/>
              </a:lnSpc>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Scores the forgotten fact itself, not just the forget-set average.</a:t>
            </a:r>
            <a:endParaRPr b="0" i="0" sz="1950" u="none" cap="none" strike="noStrike">
              <a:solidFill>
                <a:schemeClr val="dk1"/>
              </a:solidFill>
              <a:latin typeface="Calibri"/>
              <a:ea typeface="Calibri"/>
              <a:cs typeface="Calibri"/>
              <a:sym typeface="Calibri"/>
            </a:endParaRPr>
          </a:p>
        </p:txBody>
      </p:sp>
      <p:sp>
        <p:nvSpPr>
          <p:cNvPr id="577" name="Google Shape;577;p16"/>
          <p:cNvSpPr/>
          <p:nvPr/>
        </p:nvSpPr>
        <p:spPr>
          <a:xfrm>
            <a:off x="16041886" y="2189708"/>
            <a:ext cx="960239"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16156186" y="2227808"/>
            <a:ext cx="8078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READY</a:t>
            </a:r>
            <a:endParaRPr b="0" i="0" sz="1800" u="none" cap="none" strike="noStrike">
              <a:solidFill>
                <a:schemeClr val="dk1"/>
              </a:solidFill>
              <a:latin typeface="Calibri"/>
              <a:ea typeface="Calibri"/>
              <a:cs typeface="Calibri"/>
              <a:sym typeface="Calibri"/>
            </a:endParaRPr>
          </a:p>
        </p:txBody>
      </p:sp>
      <p:sp>
        <p:nvSpPr>
          <p:cNvPr id="579" name="Google Shape;579;p16"/>
          <p:cNvSpPr/>
          <p:nvPr/>
        </p:nvSpPr>
        <p:spPr>
          <a:xfrm>
            <a:off x="7857232" y="4596705"/>
            <a:ext cx="9440168" cy="2473672"/>
          </a:xfrm>
          <a:prstGeom prst="roundRect">
            <a:avLst>
              <a:gd fmla="val 6161"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8152507" y="5657255"/>
            <a:ext cx="39632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Mono"/>
              <a:buNone/>
            </a:pPr>
            <a:r>
              <a:rPr b="0" i="0" lang="en-US" sz="2100" u="none" cap="none" strike="noStrike">
                <a:solidFill>
                  <a:srgbClr val="2DD4BF"/>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581" name="Google Shape;581;p16"/>
          <p:cNvSpPr/>
          <p:nvPr/>
        </p:nvSpPr>
        <p:spPr>
          <a:xfrm>
            <a:off x="8720286" y="5452021"/>
            <a:ext cx="778134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Full inline reweight loop</a:t>
            </a:r>
            <a:endParaRPr b="0" i="0" sz="2250" u="none" cap="none" strike="noStrike">
              <a:solidFill>
                <a:schemeClr val="dk1"/>
              </a:solidFill>
              <a:latin typeface="Calibri"/>
              <a:ea typeface="Calibri"/>
              <a:cs typeface="Calibri"/>
              <a:sym typeface="Calibri"/>
            </a:endParaRPr>
          </a:p>
        </p:txBody>
      </p:sp>
      <p:sp>
        <p:nvSpPr>
          <p:cNvPr id="582" name="Google Shape;582;p16"/>
          <p:cNvSpPr/>
          <p:nvPr/>
        </p:nvSpPr>
        <p:spPr>
          <a:xfrm>
            <a:off x="8720286" y="5880646"/>
            <a:ext cx="7781345" cy="372368"/>
          </a:xfrm>
          <a:prstGeom prst="rect">
            <a:avLst/>
          </a:prstGeom>
          <a:noFill/>
          <a:ln>
            <a:noFill/>
          </a:ln>
        </p:spPr>
        <p:txBody>
          <a:bodyPr anchorCtr="0" anchor="t" bIns="25400" lIns="25400" spcFirstLastPara="1" rIns="25400" wrap="square" tIns="25400">
            <a:noAutofit/>
          </a:bodyPr>
          <a:lstStyle/>
          <a:p>
            <a:pPr indent="0" lvl="0" marL="0" marR="0" rtl="0" algn="l">
              <a:lnSpc>
                <a:spcPct val="103235"/>
              </a:lnSpc>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Per-example reweighting inside every hardening round.</a:t>
            </a:r>
            <a:endParaRPr b="0" i="0" sz="1950" u="none" cap="none" strike="noStrike">
              <a:solidFill>
                <a:schemeClr val="dk1"/>
              </a:solidFill>
              <a:latin typeface="Calibri"/>
              <a:ea typeface="Calibri"/>
              <a:cs typeface="Calibri"/>
              <a:sym typeface="Calibri"/>
            </a:endParaRPr>
          </a:p>
        </p:txBody>
      </p:sp>
      <p:sp>
        <p:nvSpPr>
          <p:cNvPr id="583" name="Google Shape;583;p16"/>
          <p:cNvSpPr/>
          <p:nvPr/>
        </p:nvSpPr>
        <p:spPr>
          <a:xfrm>
            <a:off x="16041886" y="4834830"/>
            <a:ext cx="960239"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16156186" y="4872930"/>
            <a:ext cx="8078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READY</a:t>
            </a:r>
            <a:endParaRPr b="0" i="0" sz="1800" u="none" cap="none" strike="noStrike">
              <a:solidFill>
                <a:schemeClr val="dk1"/>
              </a:solidFill>
              <a:latin typeface="Calibri"/>
              <a:ea typeface="Calibri"/>
              <a:cs typeface="Calibri"/>
              <a:sym typeface="Calibri"/>
            </a:endParaRPr>
          </a:p>
        </p:txBody>
      </p:sp>
      <p:sp>
        <p:nvSpPr>
          <p:cNvPr id="585" name="Google Shape;585;p16"/>
          <p:cNvSpPr/>
          <p:nvPr/>
        </p:nvSpPr>
        <p:spPr>
          <a:xfrm>
            <a:off x="7857232" y="7241828"/>
            <a:ext cx="9440168" cy="2473672"/>
          </a:xfrm>
          <a:prstGeom prst="roundRect">
            <a:avLst>
              <a:gd fmla="val 6161"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a:off x="8152507" y="8302377"/>
            <a:ext cx="396329" cy="3905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2100"/>
              <a:buFont typeface="IBM Plex Mono"/>
              <a:buNone/>
            </a:pPr>
            <a:r>
              <a:rPr b="0" i="0" lang="en-US" sz="2100" u="none" cap="none" strike="noStrike">
                <a:solidFill>
                  <a:srgbClr val="2DD4BF"/>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587" name="Google Shape;587;p16"/>
          <p:cNvSpPr/>
          <p:nvPr/>
        </p:nvSpPr>
        <p:spPr>
          <a:xfrm>
            <a:off x="8720286" y="7930009"/>
            <a:ext cx="7781345" cy="4095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AF0FA"/>
              </a:buClr>
              <a:buSzPts val="2250"/>
              <a:buFont typeface="IBM Plex Sans"/>
              <a:buNone/>
            </a:pPr>
            <a:r>
              <a:rPr b="1" i="0" lang="en-US" sz="2250" u="none" cap="none" strike="noStrike">
                <a:solidFill>
                  <a:srgbClr val="EAF0FA"/>
                </a:solidFill>
                <a:latin typeface="IBM Plex Sans"/>
                <a:ea typeface="IBM Plex Sans"/>
                <a:cs typeface="IBM Plex Sans"/>
                <a:sym typeface="IBM Plex Sans"/>
              </a:rPr>
              <a:t>Equal-budget test · 3 seeds</a:t>
            </a:r>
            <a:endParaRPr b="0" i="0" sz="2250" u="none" cap="none" strike="noStrike">
              <a:solidFill>
                <a:schemeClr val="dk1"/>
              </a:solidFill>
              <a:latin typeface="Calibri"/>
              <a:ea typeface="Calibri"/>
              <a:cs typeface="Calibri"/>
              <a:sym typeface="Calibri"/>
            </a:endParaRPr>
          </a:p>
        </p:txBody>
      </p:sp>
      <p:sp>
        <p:nvSpPr>
          <p:cNvPr id="588" name="Google Shape;588;p16"/>
          <p:cNvSpPr/>
          <p:nvPr/>
        </p:nvSpPr>
        <p:spPr>
          <a:xfrm>
            <a:off x="8720286" y="8358634"/>
            <a:ext cx="7286168" cy="706636"/>
          </a:xfrm>
          <a:prstGeom prst="rect">
            <a:avLst/>
          </a:prstGeom>
          <a:noFill/>
          <a:ln>
            <a:noFill/>
          </a:ln>
        </p:spPr>
        <p:txBody>
          <a:bodyPr anchorCtr="0" anchor="t" bIns="25400" lIns="25400" spcFirstLastPara="1" rIns="25400" wrap="square" tIns="25400">
            <a:noAutofit/>
          </a:bodyPr>
          <a:lstStyle/>
          <a:p>
            <a:pPr indent="0" lvl="0" marL="0" marR="0" rtl="0" algn="l">
              <a:lnSpc>
                <a:spcPct val="103235"/>
              </a:lnSpc>
              <a:spcBef>
                <a:spcPts val="0"/>
              </a:spcBef>
              <a:spcAft>
                <a:spcPts val="0"/>
              </a:spcAft>
              <a:buClr>
                <a:srgbClr val="B8C2D6"/>
              </a:buClr>
              <a:buSzPts val="1950"/>
              <a:buFont typeface="IBM Plex Sans"/>
              <a:buNone/>
            </a:pPr>
            <a:r>
              <a:rPr b="0" i="0" lang="en-US" sz="1950" u="none" cap="none" strike="noStrike">
                <a:solidFill>
                  <a:srgbClr val="B8C2D6"/>
                </a:solidFill>
                <a:latin typeface="IBM Plex Sans"/>
                <a:ea typeface="IBM Plex Sans"/>
                <a:cs typeface="IBM Plex Sans"/>
                <a:sym typeface="IBM Plex Sans"/>
              </a:rPr>
              <a:t>Against a SAM-NPO control — isolates what the hardening loop adds.</a:t>
            </a:r>
            <a:endParaRPr b="0" i="0" sz="1950" u="none" cap="none" strike="noStrike">
              <a:solidFill>
                <a:schemeClr val="dk1"/>
              </a:solidFill>
              <a:latin typeface="Calibri"/>
              <a:ea typeface="Calibri"/>
              <a:cs typeface="Calibri"/>
              <a:sym typeface="Calibri"/>
            </a:endParaRPr>
          </a:p>
        </p:txBody>
      </p:sp>
      <p:sp>
        <p:nvSpPr>
          <p:cNvPr id="589" name="Google Shape;589;p16"/>
          <p:cNvSpPr/>
          <p:nvPr/>
        </p:nvSpPr>
        <p:spPr>
          <a:xfrm>
            <a:off x="16041886" y="7479953"/>
            <a:ext cx="960239"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6"/>
          <p:cNvSpPr/>
          <p:nvPr/>
        </p:nvSpPr>
        <p:spPr>
          <a:xfrm>
            <a:off x="16156186" y="7518053"/>
            <a:ext cx="8078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READY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020"/>
        </a:solidFill>
      </p:bgPr>
    </p:bg>
    <p:spTree>
      <p:nvGrpSpPr>
        <p:cNvPr id="595" name="Shape 595"/>
        <p:cNvGrpSpPr/>
        <p:nvPr/>
      </p:nvGrpSpPr>
      <p:grpSpPr>
        <a:xfrm>
          <a:off x="0" y="0"/>
          <a:ext cx="0" cy="0"/>
          <a:chOff x="0" y="0"/>
          <a:chExt cx="0" cy="0"/>
        </a:xfrm>
      </p:grpSpPr>
      <p:sp>
        <p:nvSpPr>
          <p:cNvPr id="596" name="Google Shape;596;p17"/>
          <p:cNvSpPr/>
          <p:nvPr/>
        </p:nvSpPr>
        <p:spPr>
          <a:xfrm>
            <a:off x="0" y="0"/>
            <a:ext cx="18288000" cy="10287000"/>
          </a:xfrm>
          <a:prstGeom prst="rect">
            <a:avLst/>
          </a:prstGeom>
          <a:gradFill>
            <a:gsLst>
              <a:gs pos="0">
                <a:srgbClr val="FFFFFF">
                  <a:alpha val="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7"/>
          <p:cNvSpPr/>
          <p:nvPr/>
        </p:nvSpPr>
        <p:spPr>
          <a:xfrm>
            <a:off x="15971193" y="323850"/>
            <a:ext cx="1821507" cy="914400"/>
          </a:xfrm>
          <a:prstGeom prst="roundRect">
            <a:avLst>
              <a:gd fmla="val 8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8" name="Google Shape;598;p17"/>
          <p:cNvPicPr preferRelativeResize="0"/>
          <p:nvPr/>
        </p:nvPicPr>
        <p:blipFill rotWithShape="1">
          <a:blip r:embed="rId3">
            <a:alphaModFix/>
          </a:blip>
          <a:srcRect b="0" l="0" r="0" t="0"/>
          <a:stretch/>
        </p:blipFill>
        <p:spPr>
          <a:xfrm>
            <a:off x="15971193" y="323850"/>
            <a:ext cx="1821507" cy="914400"/>
          </a:xfrm>
          <a:prstGeom prst="rect">
            <a:avLst/>
          </a:prstGeom>
          <a:noFill/>
          <a:ln>
            <a:noFill/>
          </a:ln>
        </p:spPr>
      </p:pic>
      <p:sp>
        <p:nvSpPr>
          <p:cNvPr id="599" name="Google Shape;599;p17"/>
          <p:cNvSpPr/>
          <p:nvPr/>
        </p:nvSpPr>
        <p:spPr>
          <a:xfrm>
            <a:off x="990600" y="666750"/>
            <a:ext cx="41463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1800"/>
              <a:buFont typeface="IBM Plex Mono"/>
              <a:buNone/>
            </a:pPr>
            <a:r>
              <a:rPr b="0" i="0" lang="en-US" sz="1800" u="none" cap="none" strike="noStrike">
                <a:solidFill>
                  <a:srgbClr val="2DD4BF"/>
                </a:solidFill>
                <a:latin typeface="IBM Plex Mono"/>
                <a:ea typeface="IBM Plex Mono"/>
                <a:cs typeface="IBM Plex Mono"/>
                <a:sym typeface="IBM Plex Mono"/>
              </a:rPr>
              <a:t>15</a:t>
            </a:r>
            <a:endParaRPr b="0" i="0" sz="1800" u="none" cap="none" strike="noStrike">
              <a:solidFill>
                <a:schemeClr val="dk1"/>
              </a:solidFill>
              <a:latin typeface="Calibri"/>
              <a:ea typeface="Calibri"/>
              <a:cs typeface="Calibri"/>
              <a:sym typeface="Calibri"/>
            </a:endParaRPr>
          </a:p>
        </p:txBody>
      </p:sp>
      <p:sp>
        <p:nvSpPr>
          <p:cNvPr id="600" name="Google Shape;600;p17"/>
          <p:cNvSpPr/>
          <p:nvPr/>
        </p:nvSpPr>
        <p:spPr>
          <a:xfrm>
            <a:off x="1462385" y="666750"/>
            <a:ext cx="21342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8435C"/>
              </a:buClr>
              <a:buSzPts val="1800"/>
              <a:buFont typeface="IBM Plex Mono"/>
              <a:buNone/>
            </a:pPr>
            <a:r>
              <a:rPr b="0" i="0" lang="en-US" sz="1800" u="none" cap="none" strike="noStrike">
                <a:solidFill>
                  <a:srgbClr val="38435C"/>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601" name="Google Shape;601;p17"/>
          <p:cNvSpPr/>
          <p:nvPr/>
        </p:nvSpPr>
        <p:spPr>
          <a:xfrm>
            <a:off x="1732955" y="666750"/>
            <a:ext cx="2011844"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CONCLUSION</a:t>
            </a:r>
            <a:endParaRPr b="0" i="0" sz="1800" u="none" cap="none" strike="noStrike">
              <a:solidFill>
                <a:schemeClr val="dk1"/>
              </a:solidFill>
              <a:latin typeface="Calibri"/>
              <a:ea typeface="Calibri"/>
              <a:cs typeface="Calibri"/>
              <a:sym typeface="Calibri"/>
            </a:endParaRPr>
          </a:p>
        </p:txBody>
      </p:sp>
      <p:sp>
        <p:nvSpPr>
          <p:cNvPr id="602" name="Google Shape;602;p17"/>
          <p:cNvSpPr/>
          <p:nvPr/>
        </p:nvSpPr>
        <p:spPr>
          <a:xfrm>
            <a:off x="990600" y="1219200"/>
            <a:ext cx="4346525" cy="1666875"/>
          </a:xfrm>
          <a:prstGeom prst="roundRect">
            <a:avLst>
              <a:gd fmla="val 9143"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a:off x="1252538" y="1462088"/>
            <a:ext cx="832247" cy="381000"/>
          </a:xfrm>
          <a:prstGeom prst="roundRect">
            <a:avLst>
              <a:gd fmla="val 15000"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7"/>
          <p:cNvSpPr/>
          <p:nvPr/>
        </p:nvSpPr>
        <p:spPr>
          <a:xfrm>
            <a:off x="1366838" y="1500188"/>
            <a:ext cx="679847"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DONE</a:t>
            </a:r>
            <a:endParaRPr b="0" i="0" sz="1800" u="none" cap="none" strike="noStrike">
              <a:solidFill>
                <a:schemeClr val="dk1"/>
              </a:solidFill>
              <a:latin typeface="Calibri"/>
              <a:ea typeface="Calibri"/>
              <a:cs typeface="Calibri"/>
              <a:sym typeface="Calibri"/>
            </a:endParaRPr>
          </a:p>
        </p:txBody>
      </p:sp>
      <p:sp>
        <p:nvSpPr>
          <p:cNvPr id="605" name="Google Shape;605;p17"/>
          <p:cNvSpPr/>
          <p:nvPr/>
        </p:nvSpPr>
        <p:spPr>
          <a:xfrm>
            <a:off x="1252538" y="1976438"/>
            <a:ext cx="4204915" cy="371475"/>
          </a:xfrm>
          <a:prstGeom prst="rect">
            <a:avLst/>
          </a:prstGeom>
          <a:noFill/>
          <a:ln>
            <a:noFill/>
          </a:ln>
        </p:spPr>
        <p:txBody>
          <a:bodyPr anchorCtr="0" anchor="t" bIns="25400" lIns="25400" spcFirstLastPara="1" rIns="25400" wrap="square" tIns="25400">
            <a:noAutofit/>
          </a:bodyPr>
          <a:lstStyle/>
          <a:p>
            <a:pPr indent="0" lvl="0" marL="0" marR="0" rtl="0" algn="l">
              <a:lnSpc>
                <a:spcPct val="94595"/>
              </a:lnSpc>
              <a:spcBef>
                <a:spcPts val="0"/>
              </a:spcBef>
              <a:spcAft>
                <a:spcPts val="0"/>
              </a:spcAft>
              <a:buClr>
                <a:srgbClr val="EAF0FA"/>
              </a:buClr>
              <a:buSzPts val="2100"/>
              <a:buFont typeface="IBM Plex Sans"/>
              <a:buNone/>
            </a:pPr>
            <a:r>
              <a:rPr b="1" i="0" lang="en-US" sz="2100" u="none" cap="none" strike="noStrike">
                <a:solidFill>
                  <a:srgbClr val="EAF0FA"/>
                </a:solidFill>
                <a:latin typeface="IBM Plex Sans"/>
                <a:ea typeface="IBM Plex Sans"/>
                <a:cs typeface="IBM Plex Sans"/>
                <a:sym typeface="IBM Plex Sans"/>
              </a:rPr>
              <a:t>ForgetBench harness</a:t>
            </a:r>
            <a:endParaRPr b="0" i="0" sz="2100" u="none" cap="none" strike="noStrike">
              <a:solidFill>
                <a:schemeClr val="dk1"/>
              </a:solidFill>
              <a:latin typeface="Calibri"/>
              <a:ea typeface="Calibri"/>
              <a:cs typeface="Calibri"/>
              <a:sym typeface="Calibri"/>
            </a:endParaRPr>
          </a:p>
        </p:txBody>
      </p:sp>
      <p:sp>
        <p:nvSpPr>
          <p:cNvPr id="606" name="Google Shape;606;p17"/>
          <p:cNvSpPr/>
          <p:nvPr/>
        </p:nvSpPr>
        <p:spPr>
          <a:xfrm>
            <a:off x="5546675" y="1219200"/>
            <a:ext cx="4346525" cy="1666875"/>
          </a:xfrm>
          <a:prstGeom prst="roundRect">
            <a:avLst>
              <a:gd fmla="val 9143" name="adj"/>
            </a:avLst>
          </a:prstGeom>
          <a:solidFill>
            <a:srgbClr val="2DD4BF">
              <a:alpha val="5882"/>
            </a:srgbClr>
          </a:solidFill>
          <a:ln cap="flat" cmpd="sng" w="142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a:off x="5808613" y="1462088"/>
            <a:ext cx="832247" cy="381000"/>
          </a:xfrm>
          <a:prstGeom prst="roundRect">
            <a:avLst>
              <a:gd fmla="val 15000"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a:off x="5922913" y="1500188"/>
            <a:ext cx="679847"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A1020"/>
              </a:buClr>
              <a:buSzPts val="1800"/>
              <a:buFont typeface="IBM Plex Mono"/>
              <a:buNone/>
            </a:pPr>
            <a:r>
              <a:rPr b="0" i="0" lang="en-US" sz="1800" u="none" cap="none" strike="noStrike">
                <a:solidFill>
                  <a:srgbClr val="0A1020"/>
                </a:solidFill>
                <a:latin typeface="IBM Plex Mono"/>
                <a:ea typeface="IBM Plex Mono"/>
                <a:cs typeface="IBM Plex Mono"/>
                <a:sym typeface="IBM Plex Mono"/>
              </a:rPr>
              <a:t>DONE</a:t>
            </a:r>
            <a:endParaRPr b="0" i="0" sz="1800" u="none" cap="none" strike="noStrike">
              <a:solidFill>
                <a:schemeClr val="dk1"/>
              </a:solidFill>
              <a:latin typeface="Calibri"/>
              <a:ea typeface="Calibri"/>
              <a:cs typeface="Calibri"/>
              <a:sym typeface="Calibri"/>
            </a:endParaRPr>
          </a:p>
        </p:txBody>
      </p:sp>
      <p:sp>
        <p:nvSpPr>
          <p:cNvPr id="609" name="Google Shape;609;p17"/>
          <p:cNvSpPr/>
          <p:nvPr/>
        </p:nvSpPr>
        <p:spPr>
          <a:xfrm>
            <a:off x="5808613" y="1976438"/>
            <a:ext cx="3937330" cy="704850"/>
          </a:xfrm>
          <a:prstGeom prst="rect">
            <a:avLst/>
          </a:prstGeom>
          <a:noFill/>
          <a:ln>
            <a:noFill/>
          </a:ln>
        </p:spPr>
        <p:txBody>
          <a:bodyPr anchorCtr="0" anchor="t" bIns="25400" lIns="25400" spcFirstLastPara="1" rIns="25400" wrap="square" tIns="25400">
            <a:noAutofit/>
          </a:bodyPr>
          <a:lstStyle/>
          <a:p>
            <a:pPr indent="0" lvl="0" marL="0" marR="0" rtl="0" algn="l">
              <a:lnSpc>
                <a:spcPct val="94595"/>
              </a:lnSpc>
              <a:spcBef>
                <a:spcPts val="0"/>
              </a:spcBef>
              <a:spcAft>
                <a:spcPts val="0"/>
              </a:spcAft>
              <a:buClr>
                <a:srgbClr val="EAF0FA"/>
              </a:buClr>
              <a:buSzPts val="2100"/>
              <a:buFont typeface="IBM Plex Sans"/>
              <a:buNone/>
            </a:pPr>
            <a:r>
              <a:rPr b="1" i="0" lang="en-US" sz="2100" u="none" cap="none" strike="noStrike">
                <a:solidFill>
                  <a:srgbClr val="EAF0FA"/>
                </a:solidFill>
                <a:latin typeface="IBM Plex Sans"/>
                <a:ea typeface="IBM Plex Sans"/>
                <a:cs typeface="IBM Plex Sans"/>
                <a:sym typeface="IBM Plex Sans"/>
              </a:rPr>
              <a:t>Durability comparison · 12 methods</a:t>
            </a:r>
            <a:endParaRPr b="0" i="0" sz="2100" u="none" cap="none" strike="noStrike">
              <a:solidFill>
                <a:schemeClr val="dk1"/>
              </a:solidFill>
              <a:latin typeface="Calibri"/>
              <a:ea typeface="Calibri"/>
              <a:cs typeface="Calibri"/>
              <a:sym typeface="Calibri"/>
            </a:endParaRPr>
          </a:p>
        </p:txBody>
      </p:sp>
      <p:sp>
        <p:nvSpPr>
          <p:cNvPr id="610" name="Google Shape;610;p17"/>
          <p:cNvSpPr/>
          <p:nvPr/>
        </p:nvSpPr>
        <p:spPr>
          <a:xfrm>
            <a:off x="10102751" y="1219200"/>
            <a:ext cx="4337000" cy="1666875"/>
          </a:xfrm>
          <a:prstGeom prst="roundRect">
            <a:avLst>
              <a:gd fmla="val 9143" name="adj"/>
            </a:avLst>
          </a:prstGeom>
          <a:solidFill>
            <a:srgbClr val="111B30"/>
          </a:solid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a:off x="10359926" y="1457325"/>
            <a:ext cx="960239" cy="381000"/>
          </a:xfrm>
          <a:prstGeom prst="roundRect">
            <a:avLst>
              <a:gd fmla="val 15000" name="adj"/>
            </a:avLst>
          </a:prstGeom>
          <a:noFill/>
          <a:ln cap="flat" cmpd="sng" w="9525">
            <a:solidFill>
              <a:srgbClr val="3843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10474226" y="1495425"/>
            <a:ext cx="80783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Mono"/>
              <a:buNone/>
            </a:pPr>
            <a:r>
              <a:rPr b="0" i="0" lang="en-US" sz="1800" u="none" cap="none" strike="noStrike">
                <a:solidFill>
                  <a:srgbClr val="B8C2D6"/>
                </a:solidFill>
                <a:latin typeface="IBM Plex Mono"/>
                <a:ea typeface="IBM Plex Mono"/>
                <a:cs typeface="IBM Plex Mono"/>
                <a:sym typeface="IBM Plex Mono"/>
              </a:rPr>
              <a:t>READY</a:t>
            </a:r>
            <a:endParaRPr b="0" i="0" sz="1800" u="none" cap="none" strike="noStrike">
              <a:solidFill>
                <a:schemeClr val="dk1"/>
              </a:solidFill>
              <a:latin typeface="Calibri"/>
              <a:ea typeface="Calibri"/>
              <a:cs typeface="Calibri"/>
              <a:sym typeface="Calibri"/>
            </a:endParaRPr>
          </a:p>
        </p:txBody>
      </p:sp>
      <p:sp>
        <p:nvSpPr>
          <p:cNvPr id="613" name="Google Shape;613;p17"/>
          <p:cNvSpPr/>
          <p:nvPr/>
        </p:nvSpPr>
        <p:spPr>
          <a:xfrm>
            <a:off x="10359926" y="1971675"/>
            <a:ext cx="4204915" cy="371475"/>
          </a:xfrm>
          <a:prstGeom prst="rect">
            <a:avLst/>
          </a:prstGeom>
          <a:noFill/>
          <a:ln>
            <a:noFill/>
          </a:ln>
        </p:spPr>
        <p:txBody>
          <a:bodyPr anchorCtr="0" anchor="t" bIns="25400" lIns="25400" spcFirstLastPara="1" rIns="25400" wrap="square" tIns="25400">
            <a:noAutofit/>
          </a:bodyPr>
          <a:lstStyle/>
          <a:p>
            <a:pPr indent="0" lvl="0" marL="0" marR="0" rtl="0" algn="l">
              <a:lnSpc>
                <a:spcPct val="94595"/>
              </a:lnSpc>
              <a:spcBef>
                <a:spcPts val="0"/>
              </a:spcBef>
              <a:spcAft>
                <a:spcPts val="0"/>
              </a:spcAft>
              <a:buClr>
                <a:srgbClr val="EAF0FA"/>
              </a:buClr>
              <a:buSzPts val="2100"/>
              <a:buFont typeface="IBM Plex Sans"/>
              <a:buNone/>
            </a:pPr>
            <a:r>
              <a:rPr b="1" i="0" lang="en-US" sz="2100" u="none" cap="none" strike="noStrike">
                <a:solidFill>
                  <a:srgbClr val="EAF0FA"/>
                </a:solidFill>
                <a:latin typeface="IBM Plex Sans"/>
                <a:ea typeface="IBM Plex Sans"/>
                <a:cs typeface="IBM Plex Sans"/>
                <a:sym typeface="IBM Plex Sans"/>
              </a:rPr>
              <a:t>Validation run</a:t>
            </a:r>
            <a:endParaRPr b="0" i="0" sz="2100" u="none" cap="none" strike="noStrike">
              <a:solidFill>
                <a:schemeClr val="dk1"/>
              </a:solidFill>
              <a:latin typeface="Calibri"/>
              <a:ea typeface="Calibri"/>
              <a:cs typeface="Calibri"/>
              <a:sym typeface="Calibri"/>
            </a:endParaRPr>
          </a:p>
        </p:txBody>
      </p:sp>
      <p:sp>
        <p:nvSpPr>
          <p:cNvPr id="614" name="Google Shape;614;p17"/>
          <p:cNvSpPr/>
          <p:nvPr/>
        </p:nvSpPr>
        <p:spPr>
          <a:xfrm>
            <a:off x="990600" y="4405313"/>
            <a:ext cx="15304770" cy="1752600"/>
          </a:xfrm>
          <a:prstGeom prst="rect">
            <a:avLst/>
          </a:prstGeom>
          <a:noFill/>
          <a:ln>
            <a:noFill/>
          </a:ln>
        </p:spPr>
        <p:txBody>
          <a:bodyPr anchorCtr="0" anchor="t" bIns="25400" lIns="25400" spcFirstLastPara="1" rIns="25400" wrap="square" tIns="25400">
            <a:noAutofit/>
          </a:bodyPr>
          <a:lstStyle/>
          <a:p>
            <a:pPr indent="0" lvl="0" marL="0" marR="0" rtl="0" algn="l">
              <a:lnSpc>
                <a:spcPct val="93750"/>
              </a:lnSpc>
              <a:spcBef>
                <a:spcPts val="0"/>
              </a:spcBef>
              <a:spcAft>
                <a:spcPts val="0"/>
              </a:spcAft>
              <a:buClr>
                <a:srgbClr val="EAF0FA"/>
              </a:buClr>
              <a:buSzPts val="3750"/>
              <a:buFont typeface="Space Grotesk"/>
              <a:buNone/>
            </a:pPr>
            <a:r>
              <a:rPr b="0" i="0" lang="en-US" sz="3750" u="none" cap="none" strike="noStrike">
                <a:solidFill>
                  <a:srgbClr val="EAF0FA"/>
                </a:solidFill>
                <a:latin typeface="Space Grotesk"/>
                <a:ea typeface="Space Grotesk"/>
                <a:cs typeface="Space Grotesk"/>
                <a:sym typeface="Space Grotesk"/>
              </a:rPr>
              <a:t>Turning the right to be forgotten from a legal claim into a </a:t>
            </a:r>
            <a:r>
              <a:rPr b="0" i="0" lang="en-US" sz="3750" u="none" cap="none" strike="noStrike">
                <a:solidFill>
                  <a:srgbClr val="2DD4BF"/>
                </a:solidFill>
                <a:latin typeface="Space Grotesk"/>
                <a:ea typeface="Space Grotesk"/>
                <a:cs typeface="Space Grotesk"/>
                <a:sym typeface="Space Grotesk"/>
              </a:rPr>
              <a:t>measurable engineering property </a:t>
            </a:r>
            <a:r>
              <a:rPr b="0" i="0" lang="en-US" sz="3750" u="none" cap="none" strike="noStrike">
                <a:solidFill>
                  <a:srgbClr val="EAF0FA"/>
                </a:solidFill>
                <a:latin typeface="Space Grotesk"/>
                <a:ea typeface="Space Grotesk"/>
                <a:cs typeface="Space Grotesk"/>
                <a:sym typeface="Space Grotesk"/>
              </a:rPr>
              <a:t>— one that holds up when someone tries to undo it.</a:t>
            </a:r>
            <a:endParaRPr b="0" i="0" sz="3750" u="none" cap="none" strike="noStrike">
              <a:solidFill>
                <a:schemeClr val="dk1"/>
              </a:solidFill>
              <a:latin typeface="Calibri"/>
              <a:ea typeface="Calibri"/>
              <a:cs typeface="Calibri"/>
              <a:sym typeface="Calibri"/>
            </a:endParaRPr>
          </a:p>
        </p:txBody>
      </p:sp>
      <p:sp>
        <p:nvSpPr>
          <p:cNvPr id="615" name="Google Shape;615;p17"/>
          <p:cNvSpPr/>
          <p:nvPr/>
        </p:nvSpPr>
        <p:spPr>
          <a:xfrm>
            <a:off x="990600" y="6500813"/>
            <a:ext cx="3675311" cy="9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DD4BF"/>
              </a:buClr>
              <a:buSzPts val="5400"/>
              <a:buFont typeface="Space Grotesk"/>
              <a:buNone/>
            </a:pPr>
            <a:r>
              <a:rPr b="1" i="0" lang="en-US" sz="5400" u="none" cap="none" strike="noStrike">
                <a:solidFill>
                  <a:srgbClr val="2DD4BF"/>
                </a:solidFill>
                <a:latin typeface="Space Grotesk"/>
                <a:ea typeface="Space Grotesk"/>
                <a:cs typeface="Space Grotesk"/>
                <a:sym typeface="Space Grotesk"/>
              </a:rPr>
              <a:t>Thank you</a:t>
            </a:r>
            <a:endParaRPr b="0" i="0" sz="5400" u="none" cap="none" strike="noStrike">
              <a:solidFill>
                <a:schemeClr val="dk1"/>
              </a:solidFill>
              <a:latin typeface="Calibri"/>
              <a:ea typeface="Calibri"/>
              <a:cs typeface="Calibri"/>
              <a:sym typeface="Calibri"/>
            </a:endParaRPr>
          </a:p>
        </p:txBody>
      </p:sp>
      <p:sp>
        <p:nvSpPr>
          <p:cNvPr id="616" name="Google Shape;616;p17"/>
          <p:cNvSpPr/>
          <p:nvPr/>
        </p:nvSpPr>
        <p:spPr>
          <a:xfrm>
            <a:off x="4598491" y="6764536"/>
            <a:ext cx="2504941"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3300"/>
              <a:buFont typeface="Space Grotesk"/>
              <a:buNone/>
            </a:pPr>
            <a:r>
              <a:rPr b="0" i="0" lang="en-US" sz="3300" u="none" cap="none" strike="noStrike">
                <a:solidFill>
                  <a:srgbClr val="B8C2D6"/>
                </a:solidFill>
                <a:latin typeface="Space Grotesk"/>
                <a:ea typeface="Space Grotesk"/>
                <a:cs typeface="Space Grotesk"/>
                <a:sym typeface="Space Grotesk"/>
              </a:rPr>
              <a:t>Questions?</a:t>
            </a:r>
            <a:endParaRPr b="0" i="0" sz="3300" u="none" cap="none" strike="noStrike">
              <a:solidFill>
                <a:schemeClr val="dk1"/>
              </a:solidFill>
              <a:latin typeface="Calibri"/>
              <a:ea typeface="Calibri"/>
              <a:cs typeface="Calibri"/>
              <a:sym typeface="Calibri"/>
            </a:endParaRPr>
          </a:p>
        </p:txBody>
      </p:sp>
      <p:sp>
        <p:nvSpPr>
          <p:cNvPr id="617" name="Google Shape;617;p17"/>
          <p:cNvSpPr/>
          <p:nvPr/>
        </p:nvSpPr>
        <p:spPr>
          <a:xfrm>
            <a:off x="990600" y="8896350"/>
            <a:ext cx="16306800" cy="9525"/>
          </a:xfrm>
          <a:prstGeom prst="rect">
            <a:avLst/>
          </a:prstGeom>
          <a:solidFill>
            <a:srgbClr val="3843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a:off x="990600" y="9448800"/>
            <a:ext cx="186434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Bulla Joel Arpith</a:t>
            </a:r>
            <a:endParaRPr b="0" i="0" sz="1800" u="none" cap="none" strike="noStrike">
              <a:solidFill>
                <a:schemeClr val="dk1"/>
              </a:solidFill>
              <a:latin typeface="Calibri"/>
              <a:ea typeface="Calibri"/>
              <a:cs typeface="Calibri"/>
              <a:sym typeface="Calibri"/>
            </a:endParaRPr>
          </a:p>
        </p:txBody>
      </p:sp>
      <p:sp>
        <p:nvSpPr>
          <p:cNvPr id="619" name="Google Shape;619;p17"/>
          <p:cNvSpPr/>
          <p:nvPr/>
        </p:nvSpPr>
        <p:spPr>
          <a:xfrm>
            <a:off x="2895005" y="9448800"/>
            <a:ext cx="3143905"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Kanchusthambham Jayanth</a:t>
            </a:r>
            <a:endParaRPr b="0" i="0" sz="1800" u="none" cap="none" strike="noStrike">
              <a:solidFill>
                <a:schemeClr val="dk1"/>
              </a:solidFill>
              <a:latin typeface="Calibri"/>
              <a:ea typeface="Calibri"/>
              <a:cs typeface="Calibri"/>
              <a:sym typeface="Calibri"/>
            </a:endParaRPr>
          </a:p>
        </p:txBody>
      </p:sp>
      <p:sp>
        <p:nvSpPr>
          <p:cNvPr id="620" name="Google Shape;620;p17"/>
          <p:cNvSpPr/>
          <p:nvPr/>
        </p:nvSpPr>
        <p:spPr>
          <a:xfrm>
            <a:off x="5962650" y="9448800"/>
            <a:ext cx="1916237"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Macha Sai Kamal</a:t>
            </a:r>
            <a:endParaRPr b="0" i="0" sz="1800" u="none" cap="none" strike="noStrike">
              <a:solidFill>
                <a:schemeClr val="dk1"/>
              </a:solidFill>
              <a:latin typeface="Calibri"/>
              <a:ea typeface="Calibri"/>
              <a:cs typeface="Calibri"/>
              <a:sym typeface="Calibri"/>
            </a:endParaRPr>
          </a:p>
        </p:txBody>
      </p:sp>
      <p:sp>
        <p:nvSpPr>
          <p:cNvPr id="621" name="Google Shape;621;p17"/>
          <p:cNvSpPr/>
          <p:nvPr/>
        </p:nvSpPr>
        <p:spPr>
          <a:xfrm>
            <a:off x="7914233" y="9448800"/>
            <a:ext cx="226870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Shaik Shahul Parvez</a:t>
            </a:r>
            <a:endParaRPr b="0" i="0" sz="1800" u="none" cap="none" strike="noStrike">
              <a:solidFill>
                <a:schemeClr val="dk1"/>
              </a:solidFill>
              <a:latin typeface="Calibri"/>
              <a:ea typeface="Calibri"/>
              <a:cs typeface="Calibri"/>
              <a:sym typeface="Calibri"/>
            </a:endParaRPr>
          </a:p>
        </p:txBody>
      </p:sp>
      <p:sp>
        <p:nvSpPr>
          <p:cNvPr id="622" name="Google Shape;622;p17"/>
          <p:cNvSpPr/>
          <p:nvPr/>
        </p:nvSpPr>
        <p:spPr>
          <a:xfrm>
            <a:off x="10186243" y="9448800"/>
            <a:ext cx="3271599"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B8C2D6"/>
              </a:buClr>
              <a:buSzPts val="1800"/>
              <a:buFont typeface="IBM Plex Sans"/>
              <a:buNone/>
            </a:pPr>
            <a:r>
              <a:rPr b="0" i="0" lang="en-US" sz="1800" u="none" cap="none" strike="noStrike">
                <a:solidFill>
                  <a:srgbClr val="B8C2D6"/>
                </a:solidFill>
                <a:latin typeface="IBM Plex Sans"/>
                <a:ea typeface="IBM Plex Sans"/>
                <a:cs typeface="IBM Plex Sans"/>
                <a:sym typeface="IBM Plex Sans"/>
              </a:rPr>
              <a:t>Damera Sai Sri Ranga Charan</a:t>
            </a:r>
            <a:endParaRPr b="0" i="0" sz="1800" u="none" cap="none" strike="noStrike">
              <a:solidFill>
                <a:schemeClr val="dk1"/>
              </a:solidFill>
              <a:latin typeface="Calibri"/>
              <a:ea typeface="Calibri"/>
              <a:cs typeface="Calibri"/>
              <a:sym typeface="Calibri"/>
            </a:endParaRPr>
          </a:p>
        </p:txBody>
      </p:sp>
      <p:sp>
        <p:nvSpPr>
          <p:cNvPr id="623" name="Google Shape;623;p17"/>
          <p:cNvSpPr/>
          <p:nvPr/>
        </p:nvSpPr>
        <p:spPr>
          <a:xfrm>
            <a:off x="14732377" y="9077325"/>
            <a:ext cx="2565023" cy="352425"/>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EAF0FA"/>
              </a:buClr>
              <a:buSzPts val="1875"/>
              <a:buFont typeface="IBM Plex Sans"/>
              <a:buNone/>
            </a:pPr>
            <a:r>
              <a:rPr b="0" i="0" lang="en-US" sz="1875" u="none" cap="none" strike="noStrike">
                <a:solidFill>
                  <a:srgbClr val="EAF0FA"/>
                </a:solidFill>
                <a:latin typeface="IBM Plex Sans"/>
                <a:ea typeface="IBM Plex Sans"/>
                <a:cs typeface="IBM Plex Sans"/>
                <a:sym typeface="IBM Plex Sans"/>
              </a:rPr>
              <a:t>Prof. Geetha Tripathi</a:t>
            </a:r>
            <a:endParaRPr b="0" i="0" sz="1875" u="none" cap="none" strike="noStrike">
              <a:solidFill>
                <a:schemeClr val="dk1"/>
              </a:solidFill>
              <a:latin typeface="Calibri"/>
              <a:ea typeface="Calibri"/>
              <a:cs typeface="Calibri"/>
              <a:sym typeface="Calibri"/>
            </a:endParaRPr>
          </a:p>
        </p:txBody>
      </p:sp>
      <p:sp>
        <p:nvSpPr>
          <p:cNvPr id="624" name="Google Shape;624;p17"/>
          <p:cNvSpPr/>
          <p:nvPr/>
        </p:nvSpPr>
        <p:spPr>
          <a:xfrm>
            <a:off x="14732377" y="9448800"/>
            <a:ext cx="2565023" cy="3429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C89A3"/>
              </a:buClr>
              <a:buSzPts val="1800"/>
              <a:buFont typeface="IBM Plex Mono"/>
              <a:buNone/>
            </a:pPr>
            <a:r>
              <a:rPr b="0" i="0" lang="en-US" sz="1800" u="none" cap="none" strike="noStrike">
                <a:solidFill>
                  <a:srgbClr val="7C89A3"/>
                </a:solidFill>
                <a:latin typeface="IBM Plex Mono"/>
                <a:ea typeface="IBM Plex Mono"/>
                <a:cs typeface="IBM Plex Mono"/>
                <a:sym typeface="IBM Plex Mono"/>
              </a:rPr>
              <a:t>Woxsen University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