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Can you actually delete something from an AI's memory — and prove it stayed deleted? Name ForgetBench (the harness) and HRU (our method). Since the proposal we built the harness, measured twelve method variants, and audited our own results. We'll show what holds up and what doesn't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deletion request is easy for a database and hard for a trained model, because the model learned patterns from the data, not a copy of the row. Legal backing: GDPR Art. 17, India's DPDP Act Section 12, and two live cases — NYT v. OpenAI and the artists' case against Stability AI. Hand off: legally settled, technically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solving data deletion — that is engineered. We are solving weight-level deletion: proving content is gone from deployed weights and stays gone, without paying for a full retrain.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three steps. Key line: it was suppressed, not removed. New since proposal: we reproduced it ourselves — NPO drives the forget-set score to -4.87, and a 15-step attack brings it back to -0.76. Caveat if asked: this is a whole-answer score; we are re-testing at the fact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SISA is exact but retrain-scale. NPO and RMU are cheap but approximate. TOFU and MUSE score forgetting — but only once, right after the scrub. The relearning-attack paper shows why that is not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Plot cost against durability: exact methods are durable but expensive; cheap methods collapse under attack; nothing sits in the cheap-and-durable corner. 2–5x is a design target, not a result. Measured HRU so far used 3x a scrub pass — slide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of five objectives are done. O3: HRU is built and measured, but its inline reweight step was not in the pipeline that produced the numbers — we found this in our own audit. O4: durability is measured for every arm; the audit showed the score partly tracks model damage, so we are repairing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three-step loop. Inline hardening shapes the scrub around its own failure mode while there is still budget left. Say the honest-scope line plainly: the inline loop is designed and coded, but has not yet been measured — that is the decisive next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arm. Arm A is the ceiling: genuinely gone, expensive. Arm B is the cheap default. Arm C is HRU. Fairness line: same model, probes, seeds and cost accounting for every 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Single GPU on purpose: it proves the method is practical. This phase used GPT-2 (124M) on Colab; scaling to 1–3B is future work. The forget set is synthetic and fictional so we know exactly what the model could have learned. Four axes; durability is the novel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metric first: lower durability means less recoverable. Full retrain sits at -0.582. HRU without sharding reaches -1.309, the lowest in the study, and keeps NPO's over-forgetting away (truth ratio 1.29 vs 13.17). But: it had 120 updates vs NPO's 40, it damaged the model more (retain -1.69), and the measured version lacked the inline reweight step. Sharded HRU is much worse — next slide explains why. Do NOT say HRU is 2.2x better than retraining.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clearest result. The scrub itself worked: the scrubbed shard alone reads -4.18. Averaged with three untouched shards, the ensemble reads -0.50, and durability falls from -1.31 to -0.42. The cause is the aggregation rule: SISA averages, which is right when the deleted shard is retrained from scratch, and wrong when it is scrubbed. Caveat if asked: the unsharded figure averages two runs, so the size is approximate; the direction on a threefold gap is not in doubt.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audited our own metric. Across all twelve arms, durability correlates with how much the model was damaged, r = +0.88: the three most durable arms are the three most damaged. The cause: our score averages the whole answer sentence, mostly template words. The fair reading: HRU sits 0.20 below the trend line, so it is more durable than its damage predicts — second only to full retraining — while NPO sits 0.29 above it, the worst. So HRU's lead is not only damage, but we can't size the real effect until the metric scores the fact itself. Say clearly: we found this ourselves.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the question directly: not proven yet. Strongest comparison is NPO — HRU is more durable at similar damage and avoids NPO's over-forgetting — but it had three times the budget. Full retraining remains better on model health; HRU's case against it is cost at real scale, which we have not tested. Three reasons we can't say 'better': missing reweight step, metric tracks damage, unequal budgets and one seed. Next slide: the run that fixes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The key one is step 3: at equal budget over three seeds, HRU against SAM-NPO isolates exactly what HRU adds. It is about 30-40 minutes of GPU time and the notebook is built. Commit to reporting the result either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this with confidence — it is the credibility slide. Built and measured are real. The not-claimed list is deliberate: we do not claim HRU wins, that the inline step is validated, or significance from one seed.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deliverables with honest status. Say: the comparison itself is the contribution whichever way it lands. Close slowly on the framing line. Thank the panel and open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020"/>
        </a:solidFill>
      </p:bgPr>
    </p:bg>
    <p:spTree>
      <p:nvGrpSpPr>
        <p:cNvPr id="1" name=""/>
        <p:cNvGrpSpPr/>
        <p:nvPr/>
      </p:nvGrpSpPr>
      <p:grpSpPr>
        <a:xfrm>
          <a:off x="0" y="0"/>
          <a:ext cx="0" cy="0"/>
          <a:chOff x="0" y="0"/>
          <a:chExt cx="0" cy="0"/>
        </a:xfrm>
      </p:grpSpPr>
      <p:sp>
        <p:nvSpPr>
          <p:cNvPr id="2" name="Text 0"/>
          <p:cNvSpPr txBox="1"/>
          <p:nvPr/>
        </p:nvSpPr>
        <p:spPr>
          <a:xfrm>
            <a:off x="987552" y="914400"/>
            <a:ext cx="7315200" cy="365760"/>
          </a:xfrm>
          <a:prstGeom prst="rect">
            <a:avLst/>
          </a:prstGeom>
          <a:noFill/>
          <a:ln/>
        </p:spPr>
        <p:txBody>
          <a:bodyPr wrap="square" lIns="0" tIns="0" rIns="0" bIns="0" rtlCol="0" anchor="t"/>
          <a:lstStyle/>
          <a:p>
            <a:pPr algn="l" indent="0" marL="0">
              <a:lnSpc>
                <a:spcPct val="108000"/>
              </a:lnSpc>
              <a:buNone/>
            </a:pPr>
            <a:r>
              <a:rPr lang="en-US" sz="1800" dirty="0">
                <a:solidFill>
                  <a:srgbClr val="2DD4BF"/>
                </a:solidFill>
                <a:latin typeface="IBM Plex Mono" pitchFamily="34" charset="0"/>
                <a:ea typeface="IBM Plex Mono" pitchFamily="34" charset="-122"/>
                <a:cs typeface="IBM Plex Mono" pitchFamily="34" charset="-120"/>
              </a:rPr>
              <a:t>FINAL REVIEW · 2026</a:t>
            </a:r>
            <a:endParaRPr lang="en-US" sz="1800" dirty="0"/>
          </a:p>
        </p:txBody>
      </p:sp>
      <p:sp>
        <p:nvSpPr>
          <p:cNvPr id="3" name="Text 1"/>
          <p:cNvSpPr txBox="1"/>
          <p:nvPr/>
        </p:nvSpPr>
        <p:spPr>
          <a:xfrm>
            <a:off x="987552" y="1554480"/>
            <a:ext cx="9144000" cy="1188720"/>
          </a:xfrm>
          <a:prstGeom prst="rect">
            <a:avLst/>
          </a:prstGeom>
          <a:noFill/>
          <a:ln/>
        </p:spPr>
        <p:txBody>
          <a:bodyPr wrap="square" lIns="0" tIns="0" rIns="0" bIns="0" rtlCol="0" anchor="t"/>
          <a:lstStyle/>
          <a:p>
            <a:pPr algn="l" indent="0" marL="0">
              <a:lnSpc>
                <a:spcPct val="108000"/>
              </a:lnSpc>
              <a:buNone/>
            </a:pPr>
            <a:r>
              <a:rPr lang="en-US" sz="8000" dirty="0">
                <a:solidFill>
                  <a:srgbClr val="EAF0FA"/>
                </a:solidFill>
                <a:latin typeface="Space Grotesk" pitchFamily="34" charset="0"/>
                <a:ea typeface="Space Grotesk" pitchFamily="34" charset="-122"/>
                <a:cs typeface="Space Grotesk" pitchFamily="34" charset="-120"/>
              </a:rPr>
              <a:t>ForgetBench</a:t>
            </a:r>
            <a:endParaRPr lang="en-US" sz="8000" dirty="0"/>
          </a:p>
        </p:txBody>
      </p:sp>
      <p:sp>
        <p:nvSpPr>
          <p:cNvPr id="4" name="Text 2"/>
          <p:cNvSpPr txBox="1"/>
          <p:nvPr/>
        </p:nvSpPr>
        <p:spPr>
          <a:xfrm>
            <a:off x="987552" y="2926080"/>
            <a:ext cx="9144000" cy="1097280"/>
          </a:xfrm>
          <a:prstGeom prst="rect">
            <a:avLst/>
          </a:prstGeom>
          <a:noFill/>
          <a:ln/>
        </p:spPr>
        <p:txBody>
          <a:bodyPr wrap="square" lIns="0" tIns="0" rIns="0" bIns="0" rtlCol="0" anchor="t"/>
          <a:lstStyle/>
          <a:p>
            <a:pPr algn="l" indent="0" marL="0">
              <a:lnSpc>
                <a:spcPct val="108000"/>
              </a:lnSpc>
              <a:buNone/>
            </a:pPr>
            <a:r>
              <a:rPr lang="en-US" sz="3400" dirty="0">
                <a:solidFill>
                  <a:srgbClr val="B8C2D6"/>
                </a:solidFill>
                <a:latin typeface="Space Grotesk" pitchFamily="34" charset="0"/>
                <a:ea typeface="Space Grotesk" pitchFamily="34" charset="-122"/>
                <a:cs typeface="Space Grotesk" pitchFamily="34" charset="-120"/>
              </a:rPr>
              <a:t>Does machine unlearning survive an attack?</a:t>
            </a:r>
            <a:endParaRPr lang="en-US" sz="3400" dirty="0"/>
          </a:p>
        </p:txBody>
      </p:sp>
      <p:sp>
        <p:nvSpPr>
          <p:cNvPr id="5" name="Text 3"/>
          <p:cNvSpPr txBox="1"/>
          <p:nvPr/>
        </p:nvSpPr>
        <p:spPr>
          <a:xfrm>
            <a:off x="987552" y="4343400"/>
            <a:ext cx="8595360" cy="1463040"/>
          </a:xfrm>
          <a:prstGeom prst="rect">
            <a:avLst/>
          </a:prstGeom>
          <a:noFill/>
          <a:ln/>
        </p:spPr>
        <p:txBody>
          <a:bodyPr wrap="square" lIns="0" tIns="0" rIns="0" bIns="0" rtlCol="0" anchor="t"/>
          <a:lstStyle/>
          <a:p>
            <a:pPr algn="l" indent="0" marL="0">
              <a:lnSpc>
                <a:spcPct val="115000"/>
              </a:lnSpc>
              <a:buNone/>
            </a:pPr>
            <a:r>
              <a:rPr lang="en-US" sz="1950" dirty="0">
                <a:solidFill>
                  <a:srgbClr val="7C89A3"/>
                </a:solidFill>
                <a:latin typeface="IBM Plex Sans" pitchFamily="34" charset="0"/>
                <a:ea typeface="IBM Plex Sans" pitchFamily="34" charset="-122"/>
                <a:cs typeface="IBM Plex Sans" pitchFamily="34" charset="-120"/>
              </a:rPr>
              <a:t>A three-arm harness comparing exact retraining, approximate scrubbing and HRU — Hybrid Retention-aware Unlearning — for the Right to Be Forgotten in deployed language models.</a:t>
            </a:r>
            <a:endParaRPr lang="en-US" sz="1950" dirty="0"/>
          </a:p>
        </p:txBody>
      </p:sp>
      <p:sp>
        <p:nvSpPr>
          <p:cNvPr id="6" name="Shape 4"/>
          <p:cNvSpPr/>
          <p:nvPr/>
        </p:nvSpPr>
        <p:spPr>
          <a:xfrm>
            <a:off x="10561320" y="914400"/>
            <a:ext cx="6739128" cy="7863840"/>
          </a:xfrm>
          <a:prstGeom prst="roundRect">
            <a:avLst>
              <a:gd name="adj" fmla="val 1085"/>
            </a:avLst>
          </a:prstGeom>
          <a:solidFill>
            <a:srgbClr val="111B30"/>
          </a:solidFill>
          <a:ln w="12700">
            <a:solidFill>
              <a:srgbClr val="38435C"/>
            </a:solidFill>
            <a:prstDash val="solid"/>
          </a:ln>
        </p:spPr>
      </p:sp>
      <p:sp>
        <p:nvSpPr>
          <p:cNvPr id="7" name="Text 5"/>
          <p:cNvSpPr txBox="1"/>
          <p:nvPr/>
        </p:nvSpPr>
        <p:spPr>
          <a:xfrm>
            <a:off x="10927080" y="1234440"/>
            <a:ext cx="5486400" cy="310896"/>
          </a:xfrm>
          <a:prstGeom prst="rect">
            <a:avLst/>
          </a:prstGeom>
          <a:noFill/>
          <a:ln/>
        </p:spPr>
        <p:txBody>
          <a:bodyPr wrap="square" lIns="0" tIns="0" rIns="0" bIns="0" rtlCol="0" anchor="t"/>
          <a:lstStyle/>
          <a:p>
            <a:pPr algn="l" indent="0" marL="0">
              <a:lnSpc>
                <a:spcPct val="108000"/>
              </a:lnSpc>
              <a:buNone/>
            </a:pPr>
            <a:r>
              <a:rPr lang="en-US" sz="1500" dirty="0">
                <a:solidFill>
                  <a:srgbClr val="2DD4BF"/>
                </a:solidFill>
                <a:latin typeface="IBM Plex Mono" pitchFamily="34" charset="0"/>
                <a:ea typeface="IBM Plex Mono" pitchFamily="34" charset="-122"/>
                <a:cs typeface="IBM Plex Mono" pitchFamily="34" charset="-120"/>
              </a:rPr>
              <a:t>RESEARCH TEAM</a:t>
            </a:r>
            <a:endParaRPr lang="en-US" sz="1500" dirty="0"/>
          </a:p>
        </p:txBody>
      </p:sp>
      <p:sp>
        <p:nvSpPr>
          <p:cNvPr id="8" name="Text 6"/>
          <p:cNvSpPr txBox="1"/>
          <p:nvPr/>
        </p:nvSpPr>
        <p:spPr>
          <a:xfrm>
            <a:off x="10927080" y="1783080"/>
            <a:ext cx="6035040" cy="384048"/>
          </a:xfrm>
          <a:prstGeom prst="rect">
            <a:avLst/>
          </a:prstGeom>
          <a:noFill/>
          <a:ln/>
        </p:spPr>
        <p:txBody>
          <a:bodyPr wrap="square" lIns="0" tIns="0" rIns="0" bIns="0" rtlCol="0" anchor="t"/>
          <a:lstStyle/>
          <a:p>
            <a:pPr algn="l" indent="0" marL="0">
              <a:lnSpc>
                <a:spcPct val="108000"/>
              </a:lnSpc>
              <a:buNone/>
            </a:pPr>
            <a:r>
              <a:rPr lang="en-US" sz="1950" dirty="0">
                <a:solidFill>
                  <a:srgbClr val="EAF0FA"/>
                </a:solidFill>
                <a:latin typeface="IBM Plex Sans" pitchFamily="34" charset="0"/>
                <a:ea typeface="IBM Plex Sans" pitchFamily="34" charset="-122"/>
                <a:cs typeface="IBM Plex Sans" pitchFamily="34" charset="-120"/>
              </a:rPr>
              <a:t>Bulla Joel Arpith</a:t>
            </a:r>
            <a:endParaRPr lang="en-US" sz="1950" dirty="0"/>
          </a:p>
        </p:txBody>
      </p:sp>
      <p:sp>
        <p:nvSpPr>
          <p:cNvPr id="9" name="Text 7"/>
          <p:cNvSpPr txBox="1"/>
          <p:nvPr/>
        </p:nvSpPr>
        <p:spPr>
          <a:xfrm>
            <a:off x="10927080" y="2185416"/>
            <a:ext cx="6035040" cy="329184"/>
          </a:xfrm>
          <a:prstGeom prst="rect">
            <a:avLst/>
          </a:prstGeom>
          <a:noFill/>
          <a:ln/>
        </p:spPr>
        <p:txBody>
          <a:bodyPr wrap="square" lIns="0" tIns="0" rIns="0" bIns="0" rtlCol="0" anchor="t"/>
          <a:lstStyle/>
          <a:p>
            <a:pPr algn="l" indent="0" marL="0">
              <a:lnSpc>
                <a:spcPct val="108000"/>
              </a:lnSpc>
              <a:buNone/>
            </a:pPr>
            <a:r>
              <a:rPr lang="en-US" sz="1400" dirty="0">
                <a:solidFill>
                  <a:srgbClr val="7C89A3"/>
                </a:solidFill>
                <a:latin typeface="IBM Plex Mono" pitchFamily="34" charset="0"/>
                <a:ea typeface="IBM Plex Mono" pitchFamily="34" charset="-122"/>
                <a:cs typeface="IBM Plex Mono" pitchFamily="34" charset="-120"/>
              </a:rPr>
              <a:t>25WU0103011</a:t>
            </a:r>
            <a:endParaRPr lang="en-US" sz="1400" dirty="0"/>
          </a:p>
        </p:txBody>
      </p:sp>
      <p:sp>
        <p:nvSpPr>
          <p:cNvPr id="10" name="Text 8"/>
          <p:cNvSpPr txBox="1"/>
          <p:nvPr/>
        </p:nvSpPr>
        <p:spPr>
          <a:xfrm>
            <a:off x="10927080" y="2788920"/>
            <a:ext cx="6035040" cy="384048"/>
          </a:xfrm>
          <a:prstGeom prst="rect">
            <a:avLst/>
          </a:prstGeom>
          <a:noFill/>
          <a:ln/>
        </p:spPr>
        <p:txBody>
          <a:bodyPr wrap="square" lIns="0" tIns="0" rIns="0" bIns="0" rtlCol="0" anchor="t"/>
          <a:lstStyle/>
          <a:p>
            <a:pPr algn="l" indent="0" marL="0">
              <a:lnSpc>
                <a:spcPct val="108000"/>
              </a:lnSpc>
              <a:buNone/>
            </a:pPr>
            <a:r>
              <a:rPr lang="en-US" sz="1950" dirty="0">
                <a:solidFill>
                  <a:srgbClr val="EAF0FA"/>
                </a:solidFill>
                <a:latin typeface="IBM Plex Sans" pitchFamily="34" charset="0"/>
                <a:ea typeface="IBM Plex Sans" pitchFamily="34" charset="-122"/>
                <a:cs typeface="IBM Plex Sans" pitchFamily="34" charset="-120"/>
              </a:rPr>
              <a:t>Kanchusthambham Jayanth</a:t>
            </a:r>
            <a:endParaRPr lang="en-US" sz="1950" dirty="0"/>
          </a:p>
        </p:txBody>
      </p:sp>
      <p:sp>
        <p:nvSpPr>
          <p:cNvPr id="11" name="Text 9"/>
          <p:cNvSpPr txBox="1"/>
          <p:nvPr/>
        </p:nvSpPr>
        <p:spPr>
          <a:xfrm>
            <a:off x="10927080" y="3191256"/>
            <a:ext cx="6035040" cy="329184"/>
          </a:xfrm>
          <a:prstGeom prst="rect">
            <a:avLst/>
          </a:prstGeom>
          <a:noFill/>
          <a:ln/>
        </p:spPr>
        <p:txBody>
          <a:bodyPr wrap="square" lIns="0" tIns="0" rIns="0" bIns="0" rtlCol="0" anchor="t"/>
          <a:lstStyle/>
          <a:p>
            <a:pPr algn="l" indent="0" marL="0">
              <a:lnSpc>
                <a:spcPct val="108000"/>
              </a:lnSpc>
              <a:buNone/>
            </a:pPr>
            <a:r>
              <a:rPr lang="en-US" sz="1400" dirty="0">
                <a:solidFill>
                  <a:srgbClr val="7C89A3"/>
                </a:solidFill>
                <a:latin typeface="IBM Plex Mono" pitchFamily="34" charset="0"/>
                <a:ea typeface="IBM Plex Mono" pitchFamily="34" charset="-122"/>
                <a:cs typeface="IBM Plex Mono" pitchFamily="34" charset="-120"/>
              </a:rPr>
              <a:t>25WU0103021  ·  B.Tech · BIC</a:t>
            </a:r>
            <a:endParaRPr lang="en-US" sz="1400" dirty="0"/>
          </a:p>
        </p:txBody>
      </p:sp>
      <p:sp>
        <p:nvSpPr>
          <p:cNvPr id="12" name="Text 10"/>
          <p:cNvSpPr txBox="1"/>
          <p:nvPr/>
        </p:nvSpPr>
        <p:spPr>
          <a:xfrm>
            <a:off x="10927080" y="3794760"/>
            <a:ext cx="6035040" cy="384048"/>
          </a:xfrm>
          <a:prstGeom prst="rect">
            <a:avLst/>
          </a:prstGeom>
          <a:noFill/>
          <a:ln/>
        </p:spPr>
        <p:txBody>
          <a:bodyPr wrap="square" lIns="0" tIns="0" rIns="0" bIns="0" rtlCol="0" anchor="t"/>
          <a:lstStyle/>
          <a:p>
            <a:pPr algn="l" indent="0" marL="0">
              <a:lnSpc>
                <a:spcPct val="108000"/>
              </a:lnSpc>
              <a:buNone/>
            </a:pPr>
            <a:r>
              <a:rPr lang="en-US" sz="1950" dirty="0">
                <a:solidFill>
                  <a:srgbClr val="EAF0FA"/>
                </a:solidFill>
                <a:latin typeface="IBM Plex Sans" pitchFamily="34" charset="0"/>
                <a:ea typeface="IBM Plex Sans" pitchFamily="34" charset="-122"/>
                <a:cs typeface="IBM Plex Sans" pitchFamily="34" charset="-120"/>
              </a:rPr>
              <a:t>Macha Sai Kamal</a:t>
            </a:r>
            <a:endParaRPr lang="en-US" sz="1950" dirty="0"/>
          </a:p>
        </p:txBody>
      </p:sp>
      <p:sp>
        <p:nvSpPr>
          <p:cNvPr id="13" name="Text 11"/>
          <p:cNvSpPr txBox="1"/>
          <p:nvPr/>
        </p:nvSpPr>
        <p:spPr>
          <a:xfrm>
            <a:off x="10927080" y="4197096"/>
            <a:ext cx="6035040" cy="329184"/>
          </a:xfrm>
          <a:prstGeom prst="rect">
            <a:avLst/>
          </a:prstGeom>
          <a:noFill/>
          <a:ln/>
        </p:spPr>
        <p:txBody>
          <a:bodyPr wrap="square" lIns="0" tIns="0" rIns="0" bIns="0" rtlCol="0" anchor="t"/>
          <a:lstStyle/>
          <a:p>
            <a:pPr algn="l" indent="0" marL="0">
              <a:lnSpc>
                <a:spcPct val="108000"/>
              </a:lnSpc>
              <a:buNone/>
            </a:pPr>
            <a:r>
              <a:rPr lang="en-US" sz="1400" dirty="0">
                <a:solidFill>
                  <a:srgbClr val="7C89A3"/>
                </a:solidFill>
                <a:latin typeface="IBM Plex Mono" pitchFamily="34" charset="0"/>
                <a:ea typeface="IBM Plex Mono" pitchFamily="34" charset="-122"/>
                <a:cs typeface="IBM Plex Mono" pitchFamily="34" charset="-120"/>
              </a:rPr>
              <a:t>25WU0103026  ·  B.Tech CSE · BIC</a:t>
            </a:r>
            <a:endParaRPr lang="en-US" sz="1400" dirty="0"/>
          </a:p>
        </p:txBody>
      </p:sp>
      <p:sp>
        <p:nvSpPr>
          <p:cNvPr id="14" name="Text 12"/>
          <p:cNvSpPr txBox="1"/>
          <p:nvPr/>
        </p:nvSpPr>
        <p:spPr>
          <a:xfrm>
            <a:off x="10927080" y="4800600"/>
            <a:ext cx="6035040" cy="384048"/>
          </a:xfrm>
          <a:prstGeom prst="rect">
            <a:avLst/>
          </a:prstGeom>
          <a:noFill/>
          <a:ln/>
        </p:spPr>
        <p:txBody>
          <a:bodyPr wrap="square" lIns="0" tIns="0" rIns="0" bIns="0" rtlCol="0" anchor="t"/>
          <a:lstStyle/>
          <a:p>
            <a:pPr algn="l" indent="0" marL="0">
              <a:lnSpc>
                <a:spcPct val="108000"/>
              </a:lnSpc>
              <a:buNone/>
            </a:pPr>
            <a:r>
              <a:rPr lang="en-US" sz="1950" dirty="0">
                <a:solidFill>
                  <a:srgbClr val="EAF0FA"/>
                </a:solidFill>
                <a:latin typeface="IBM Plex Sans" pitchFamily="34" charset="0"/>
                <a:ea typeface="IBM Plex Sans" pitchFamily="34" charset="-122"/>
                <a:cs typeface="IBM Plex Sans" pitchFamily="34" charset="-120"/>
              </a:rPr>
              <a:t>Shaik Shahul Parvez</a:t>
            </a:r>
            <a:endParaRPr lang="en-US" sz="1950" dirty="0"/>
          </a:p>
        </p:txBody>
      </p:sp>
      <p:sp>
        <p:nvSpPr>
          <p:cNvPr id="15" name="Text 13"/>
          <p:cNvSpPr txBox="1"/>
          <p:nvPr/>
        </p:nvSpPr>
        <p:spPr>
          <a:xfrm>
            <a:off x="10927080" y="5202936"/>
            <a:ext cx="6035040" cy="329184"/>
          </a:xfrm>
          <a:prstGeom prst="rect">
            <a:avLst/>
          </a:prstGeom>
          <a:noFill/>
          <a:ln/>
        </p:spPr>
        <p:txBody>
          <a:bodyPr wrap="square" lIns="0" tIns="0" rIns="0" bIns="0" rtlCol="0" anchor="t"/>
          <a:lstStyle/>
          <a:p>
            <a:pPr algn="l" indent="0" marL="0">
              <a:lnSpc>
                <a:spcPct val="108000"/>
              </a:lnSpc>
              <a:buNone/>
            </a:pPr>
            <a:r>
              <a:rPr lang="en-US" sz="1400" dirty="0">
                <a:solidFill>
                  <a:srgbClr val="7C89A3"/>
                </a:solidFill>
                <a:latin typeface="IBM Plex Mono" pitchFamily="34" charset="0"/>
                <a:ea typeface="IBM Plex Mono" pitchFamily="34" charset="-122"/>
                <a:cs typeface="IBM Plex Mono" pitchFamily="34" charset="-120"/>
              </a:rPr>
              <a:t>25WU0103036  ·  B.Tech · BIC</a:t>
            </a:r>
            <a:endParaRPr lang="en-US" sz="1400" dirty="0"/>
          </a:p>
        </p:txBody>
      </p:sp>
      <p:sp>
        <p:nvSpPr>
          <p:cNvPr id="16" name="Text 14"/>
          <p:cNvSpPr txBox="1"/>
          <p:nvPr/>
        </p:nvSpPr>
        <p:spPr>
          <a:xfrm>
            <a:off x="10927080" y="5806440"/>
            <a:ext cx="6035040" cy="384048"/>
          </a:xfrm>
          <a:prstGeom prst="rect">
            <a:avLst/>
          </a:prstGeom>
          <a:noFill/>
          <a:ln/>
        </p:spPr>
        <p:txBody>
          <a:bodyPr wrap="square" lIns="0" tIns="0" rIns="0" bIns="0" rtlCol="0" anchor="t"/>
          <a:lstStyle/>
          <a:p>
            <a:pPr algn="l" indent="0" marL="0">
              <a:lnSpc>
                <a:spcPct val="108000"/>
              </a:lnSpc>
              <a:buNone/>
            </a:pPr>
            <a:r>
              <a:rPr lang="en-US" sz="1950" dirty="0">
                <a:solidFill>
                  <a:srgbClr val="EAF0FA"/>
                </a:solidFill>
                <a:latin typeface="IBM Plex Sans" pitchFamily="34" charset="0"/>
                <a:ea typeface="IBM Plex Sans" pitchFamily="34" charset="-122"/>
                <a:cs typeface="IBM Plex Sans" pitchFamily="34" charset="-120"/>
              </a:rPr>
              <a:t>Damera Sai Sri Ranga Charan</a:t>
            </a:r>
            <a:endParaRPr lang="en-US" sz="1950" dirty="0"/>
          </a:p>
        </p:txBody>
      </p:sp>
      <p:sp>
        <p:nvSpPr>
          <p:cNvPr id="17" name="Text 15"/>
          <p:cNvSpPr txBox="1"/>
          <p:nvPr/>
        </p:nvSpPr>
        <p:spPr>
          <a:xfrm>
            <a:off x="10927080" y="6208776"/>
            <a:ext cx="6035040" cy="329184"/>
          </a:xfrm>
          <a:prstGeom prst="rect">
            <a:avLst/>
          </a:prstGeom>
          <a:noFill/>
          <a:ln/>
        </p:spPr>
        <p:txBody>
          <a:bodyPr wrap="square" lIns="0" tIns="0" rIns="0" bIns="0" rtlCol="0" anchor="t"/>
          <a:lstStyle/>
          <a:p>
            <a:pPr algn="l" indent="0" marL="0">
              <a:lnSpc>
                <a:spcPct val="108000"/>
              </a:lnSpc>
              <a:buNone/>
            </a:pPr>
            <a:r>
              <a:rPr lang="en-US" sz="1400" dirty="0">
                <a:solidFill>
                  <a:srgbClr val="7C89A3"/>
                </a:solidFill>
                <a:latin typeface="IBM Plex Mono" pitchFamily="34" charset="0"/>
                <a:ea typeface="IBM Plex Mono" pitchFamily="34" charset="-122"/>
                <a:cs typeface="IBM Plex Mono" pitchFamily="34" charset="-120"/>
              </a:rPr>
              <a:t>25WU0102048  ·  B.Tech CSE · AI &amp; ML</a:t>
            </a:r>
            <a:endParaRPr lang="en-US" sz="1400" dirty="0"/>
          </a:p>
        </p:txBody>
      </p:sp>
      <p:sp>
        <p:nvSpPr>
          <p:cNvPr id="18" name="Text 16"/>
          <p:cNvSpPr txBox="1"/>
          <p:nvPr/>
        </p:nvSpPr>
        <p:spPr>
          <a:xfrm>
            <a:off x="10927080" y="7086600"/>
            <a:ext cx="5486400" cy="310896"/>
          </a:xfrm>
          <a:prstGeom prst="rect">
            <a:avLst/>
          </a:prstGeom>
          <a:noFill/>
          <a:ln/>
        </p:spPr>
        <p:txBody>
          <a:bodyPr wrap="square" lIns="0" tIns="0" rIns="0" bIns="0" rtlCol="0" anchor="t"/>
          <a:lstStyle/>
          <a:p>
            <a:pPr algn="l" indent="0" marL="0">
              <a:lnSpc>
                <a:spcPct val="108000"/>
              </a:lnSpc>
              <a:buNone/>
            </a:pPr>
            <a:r>
              <a:rPr lang="en-US" sz="1500" dirty="0">
                <a:solidFill>
                  <a:srgbClr val="2DD4BF"/>
                </a:solidFill>
                <a:latin typeface="IBM Plex Mono" pitchFamily="34" charset="0"/>
                <a:ea typeface="IBM Plex Mono" pitchFamily="34" charset="-122"/>
                <a:cs typeface="IBM Plex Mono" pitchFamily="34" charset="-120"/>
              </a:rPr>
              <a:t>MENTOR</a:t>
            </a:r>
            <a:endParaRPr lang="en-US" sz="1500" dirty="0"/>
          </a:p>
        </p:txBody>
      </p:sp>
      <p:sp>
        <p:nvSpPr>
          <p:cNvPr id="19" name="Text 17"/>
          <p:cNvSpPr txBox="1"/>
          <p:nvPr/>
        </p:nvSpPr>
        <p:spPr>
          <a:xfrm>
            <a:off x="10927080" y="7452360"/>
            <a:ext cx="6035040" cy="384048"/>
          </a:xfrm>
          <a:prstGeom prst="rect">
            <a:avLst/>
          </a:prstGeom>
          <a:noFill/>
          <a:ln/>
        </p:spPr>
        <p:txBody>
          <a:bodyPr wrap="square" lIns="0" tIns="0" rIns="0" bIns="0" rtlCol="0" anchor="t"/>
          <a:lstStyle/>
          <a:p>
            <a:pPr algn="l" indent="0" marL="0">
              <a:lnSpc>
                <a:spcPct val="108000"/>
              </a:lnSpc>
              <a:buNone/>
            </a:pPr>
            <a:r>
              <a:rPr lang="en-US" sz="1950" dirty="0">
                <a:solidFill>
                  <a:srgbClr val="EAF0FA"/>
                </a:solidFill>
                <a:latin typeface="IBM Plex Sans" pitchFamily="34" charset="0"/>
                <a:ea typeface="IBM Plex Sans" pitchFamily="34" charset="-122"/>
                <a:cs typeface="IBM Plex Sans" pitchFamily="34" charset="-120"/>
              </a:rPr>
              <a:t>Prof. Geetha Tripathi</a:t>
            </a:r>
            <a:endParaRPr lang="en-US" sz="1950" dirty="0"/>
          </a:p>
        </p:txBody>
      </p:sp>
      <p:sp>
        <p:nvSpPr>
          <p:cNvPr id="20" name="Text 18"/>
          <p:cNvSpPr txBox="1"/>
          <p:nvPr/>
        </p:nvSpPr>
        <p:spPr>
          <a:xfrm>
            <a:off x="10927080" y="7863840"/>
            <a:ext cx="6035040" cy="329184"/>
          </a:xfrm>
          <a:prstGeom prst="rect">
            <a:avLst/>
          </a:prstGeom>
          <a:noFill/>
          <a:ln/>
        </p:spPr>
        <p:txBody>
          <a:bodyPr wrap="square" lIns="0" tIns="0" rIns="0" bIns="0" rtlCol="0" anchor="t"/>
          <a:lstStyle/>
          <a:p>
            <a:pPr algn="l" indent="0" marL="0">
              <a:lnSpc>
                <a:spcPct val="108000"/>
              </a:lnSpc>
              <a:buNone/>
            </a:pPr>
            <a:r>
              <a:rPr lang="en-US" sz="1400" dirty="0">
                <a:solidFill>
                  <a:srgbClr val="7C89A3"/>
                </a:solidFill>
                <a:latin typeface="IBM Plex Mono" pitchFamily="34" charset="0"/>
                <a:ea typeface="IBM Plex Mono" pitchFamily="34" charset="-122"/>
                <a:cs typeface="IBM Plex Mono" pitchFamily="34" charset="-120"/>
              </a:rPr>
              <a:t>Woxsen University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020"/>
        </a:solidFill>
      </p:bgPr>
    </p:bg>
    <p:spTree>
      <p:nvGrpSpPr>
        <p:cNvPr id="1" name=""/>
        <p:cNvGrpSpPr/>
        <p:nvPr/>
      </p:nvGrpSpPr>
      <p:grpSpPr>
        <a:xfrm>
          <a:off x="0" y="0"/>
          <a:ext cx="0" cy="0"/>
          <a:chOff x="0" y="0"/>
          <a:chExt cx="0" cy="0"/>
        </a:xfrm>
      </p:grpSpPr>
      <p:sp>
        <p:nvSpPr>
          <p:cNvPr id="2" name="Text 0"/>
          <p:cNvSpPr txBox="1"/>
          <p:nvPr/>
        </p:nvSpPr>
        <p:spPr>
          <a:xfrm>
            <a:off x="987552" y="722376"/>
            <a:ext cx="731520" cy="329184"/>
          </a:xfrm>
          <a:prstGeom prst="rect">
            <a:avLst/>
          </a:prstGeom>
          <a:noFill/>
          <a:ln/>
        </p:spPr>
        <p:txBody>
          <a:bodyPr wrap="square" lIns="0" tIns="0" rIns="0" bIns="0" rtlCol="0" anchor="t"/>
          <a:lstStyle/>
          <a:p>
            <a:pPr algn="l" indent="0" marL="0">
              <a:lnSpc>
                <a:spcPct val="108000"/>
              </a:lnSpc>
              <a:buNone/>
            </a:pPr>
            <a:r>
              <a:rPr lang="en-US" sz="1800" dirty="0">
                <a:solidFill>
                  <a:srgbClr val="2DD4BF"/>
                </a:solidFill>
                <a:latin typeface="IBM Plex Mono" pitchFamily="34" charset="0"/>
                <a:ea typeface="IBM Plex Mono" pitchFamily="34" charset="-122"/>
                <a:cs typeface="IBM Plex Mono" pitchFamily="34" charset="-120"/>
              </a:rPr>
              <a:t>02</a:t>
            </a:r>
            <a:endParaRPr lang="en-US" sz="1800" dirty="0"/>
          </a:p>
        </p:txBody>
      </p:sp>
      <p:sp>
        <p:nvSpPr>
          <p:cNvPr id="3" name="Text 1"/>
          <p:cNvSpPr txBox="1"/>
          <p:nvPr/>
        </p:nvSpPr>
        <p:spPr>
          <a:xfrm>
            <a:off x="1938528" y="722376"/>
            <a:ext cx="9144000" cy="329184"/>
          </a:xfrm>
          <a:prstGeom prst="rect">
            <a:avLst/>
          </a:prstGeom>
          <a:noFill/>
          <a:ln/>
        </p:spPr>
        <p:txBody>
          <a:bodyPr wrap="square" lIns="0" tIns="0" rIns="0" bIns="0" rtlCol="0" anchor="t"/>
          <a:lstStyle/>
          <a:p>
            <a:pPr algn="l" indent="0" marL="0">
              <a:lnSpc>
                <a:spcPct val="108000"/>
              </a:lnSpc>
              <a:buNone/>
            </a:pPr>
            <a:r>
              <a:rPr lang="en-US" sz="1800" dirty="0">
                <a:solidFill>
                  <a:srgbClr val="7C89A3"/>
                </a:solidFill>
                <a:latin typeface="IBM Plex Mono" pitchFamily="34" charset="0"/>
                <a:ea typeface="IBM Plex Mono" pitchFamily="34" charset="-122"/>
                <a:cs typeface="IBM Plex Mono" pitchFamily="34" charset="-120"/>
              </a:rPr>
              <a:t>INTRODUCTION</a:t>
            </a:r>
            <a:endParaRPr lang="en-US" sz="1800" dirty="0"/>
          </a:p>
        </p:txBody>
      </p:sp>
      <p:sp>
        <p:nvSpPr>
          <p:cNvPr id="4" name="Text 2"/>
          <p:cNvSpPr txBox="1"/>
          <p:nvPr/>
        </p:nvSpPr>
        <p:spPr>
          <a:xfrm>
            <a:off x="987552" y="1170432"/>
            <a:ext cx="16093440" cy="731520"/>
          </a:xfrm>
          <a:prstGeom prst="rect">
            <a:avLst/>
          </a:prstGeom>
          <a:noFill/>
          <a:ln/>
        </p:spPr>
        <p:txBody>
          <a:bodyPr wrap="square" lIns="0" tIns="0" rIns="0" bIns="0" rtlCol="0" anchor="t"/>
          <a:lstStyle/>
          <a:p>
            <a:pPr algn="l" indent="0" marL="0">
              <a:lnSpc>
                <a:spcPct val="108000"/>
              </a:lnSpc>
              <a:buNone/>
            </a:pPr>
            <a:r>
              <a:rPr lang="en-US" sz="4200" dirty="0">
                <a:solidFill>
                  <a:srgbClr val="EAF0FA"/>
                </a:solidFill>
                <a:latin typeface="Space Grotesk" pitchFamily="34" charset="0"/>
                <a:ea typeface="Space Grotesk" pitchFamily="34" charset="-122"/>
                <a:cs typeface="Space Grotesk" pitchFamily="34" charset="-120"/>
              </a:rPr>
              <a:t>A Right on Paper, Not in the Model</a:t>
            </a:r>
            <a:endParaRPr lang="en-US" sz="4200" dirty="0"/>
          </a:p>
        </p:txBody>
      </p:sp>
      <p:sp>
        <p:nvSpPr>
          <p:cNvPr id="5" name="Text 3"/>
          <p:cNvSpPr txBox="1"/>
          <p:nvPr/>
        </p:nvSpPr>
        <p:spPr>
          <a:xfrm>
            <a:off x="987552" y="9436608"/>
            <a:ext cx="4572000" cy="329184"/>
          </a:xfrm>
          <a:prstGeom prst="rect">
            <a:avLst/>
          </a:prstGeom>
          <a:noFill/>
          <a:ln/>
        </p:spPr>
        <p:txBody>
          <a:bodyPr wrap="square" lIns="0" tIns="0" rIns="0" bIns="0" rtlCol="0" anchor="t"/>
          <a:lstStyle/>
          <a:p>
            <a:pPr algn="l" indent="0" marL="0">
              <a:lnSpc>
                <a:spcPct val="108000"/>
              </a:lnSpc>
              <a:buNone/>
            </a:pPr>
            <a:r>
              <a:rPr lang="en-US" sz="1600" dirty="0">
                <a:solidFill>
                  <a:srgbClr val="38435C"/>
                </a:solidFill>
                <a:latin typeface="IBM Plex Mono" pitchFamily="34" charset="0"/>
                <a:ea typeface="IBM Plex Mono" pitchFamily="34" charset="-122"/>
                <a:cs typeface="IBM Plex Mono" pitchFamily="34" charset="-120"/>
              </a:rPr>
              <a:t>FORGETBENCH · HRU</a:t>
            </a:r>
            <a:endParaRPr lang="en-US" sz="1600" dirty="0"/>
          </a:p>
        </p:txBody>
      </p:sp>
      <p:sp>
        <p:nvSpPr>
          <p:cNvPr id="6" name="Text 4"/>
          <p:cNvSpPr txBox="1"/>
          <p:nvPr/>
        </p:nvSpPr>
        <p:spPr>
          <a:xfrm>
            <a:off x="12710160" y="9436608"/>
            <a:ext cx="4572000" cy="329184"/>
          </a:xfrm>
          <a:prstGeom prst="rect">
            <a:avLst/>
          </a:prstGeom>
          <a:noFill/>
          <a:ln/>
        </p:spPr>
        <p:txBody>
          <a:bodyPr wrap="square" lIns="0" tIns="0" rIns="0" bIns="0" rtlCol="0" anchor="t"/>
          <a:lstStyle/>
          <a:p>
            <a:pPr algn="r" indent="0" marL="0">
              <a:lnSpc>
                <a:spcPct val="108000"/>
              </a:lnSpc>
              <a:buNone/>
            </a:pPr>
            <a:r>
              <a:rPr lang="en-US" sz="1600" dirty="0">
                <a:solidFill>
                  <a:srgbClr val="38435C"/>
                </a:solidFill>
                <a:latin typeface="IBM Plex Mono" pitchFamily="34" charset="0"/>
                <a:ea typeface="IBM Plex Mono" pitchFamily="34" charset="-122"/>
                <a:cs typeface="IBM Plex Mono" pitchFamily="34" charset="-120"/>
              </a:rPr>
              <a:t>WOXSEN UNIVERSITY</a:t>
            </a:r>
            <a:endParaRPr lang="en-US" sz="1600" dirty="0"/>
          </a:p>
        </p:txBody>
      </p:sp>
      <p:sp>
        <p:nvSpPr>
          <p:cNvPr id="7" name="Shape 5"/>
          <p:cNvSpPr/>
          <p:nvPr/>
        </p:nvSpPr>
        <p:spPr>
          <a:xfrm>
            <a:off x="987552" y="2514600"/>
            <a:ext cx="4892040" cy="2468880"/>
          </a:xfrm>
          <a:prstGeom prst="roundRect">
            <a:avLst>
              <a:gd name="adj" fmla="val 2963"/>
            </a:avLst>
          </a:prstGeom>
          <a:solidFill>
            <a:srgbClr val="111B30"/>
          </a:solidFill>
          <a:ln w="12700">
            <a:solidFill>
              <a:srgbClr val="38435C"/>
            </a:solidFill>
            <a:prstDash val="solid"/>
          </a:ln>
        </p:spPr>
      </p:sp>
      <p:sp>
        <p:nvSpPr>
          <p:cNvPr id="8" name="Text 6"/>
          <p:cNvSpPr txBox="1"/>
          <p:nvPr/>
        </p:nvSpPr>
        <p:spPr>
          <a:xfrm>
            <a:off x="1307592" y="2788920"/>
            <a:ext cx="4206240" cy="310896"/>
          </a:xfrm>
          <a:prstGeom prst="rect">
            <a:avLst/>
          </a:prstGeom>
          <a:noFill/>
          <a:ln/>
        </p:spPr>
        <p:txBody>
          <a:bodyPr wrap="square" lIns="0" tIns="0" rIns="0" bIns="0" rtlCol="0" anchor="t"/>
          <a:lstStyle/>
          <a:p>
            <a:pPr algn="l" indent="0" marL="0">
              <a:lnSpc>
                <a:spcPct val="108000"/>
              </a:lnSpc>
              <a:buNone/>
            </a:pPr>
            <a:r>
              <a:rPr lang="en-US" sz="1500" dirty="0">
                <a:solidFill>
                  <a:srgbClr val="7C89A3"/>
                </a:solidFill>
                <a:latin typeface="IBM Plex Mono" pitchFamily="34" charset="0"/>
                <a:ea typeface="IBM Plex Mono" pitchFamily="34" charset="-122"/>
                <a:cs typeface="IBM Plex Mono" pitchFamily="34" charset="-120"/>
              </a:rPr>
              <a:t>DATA SUBJECT</a:t>
            </a:r>
            <a:endParaRPr lang="en-US" sz="1500" dirty="0"/>
          </a:p>
        </p:txBody>
      </p:sp>
      <p:sp>
        <p:nvSpPr>
          <p:cNvPr id="9" name="Text 7"/>
          <p:cNvSpPr txBox="1"/>
          <p:nvPr/>
        </p:nvSpPr>
        <p:spPr>
          <a:xfrm>
            <a:off x="1307592" y="3200400"/>
            <a:ext cx="4297680" cy="640080"/>
          </a:xfrm>
          <a:prstGeom prst="rect">
            <a:avLst/>
          </a:prstGeom>
          <a:noFill/>
          <a:ln/>
        </p:spPr>
        <p:txBody>
          <a:bodyPr wrap="square" lIns="0" tIns="0" rIns="0" bIns="0" rtlCol="0" anchor="t"/>
          <a:lstStyle/>
          <a:p>
            <a:pPr algn="l" indent="0" marL="0">
              <a:lnSpc>
                <a:spcPct val="108000"/>
              </a:lnSpc>
              <a:buNone/>
            </a:pPr>
            <a:r>
              <a:rPr lang="en-US" sz="3000" dirty="0">
                <a:solidFill>
                  <a:srgbClr val="EAF0FA"/>
                </a:solidFill>
                <a:latin typeface="Space Grotesk" pitchFamily="34" charset="0"/>
                <a:ea typeface="Space Grotesk" pitchFamily="34" charset="-122"/>
                <a:cs typeface="Space Grotesk" pitchFamily="34" charset="-120"/>
              </a:rPr>
              <a:t>“Delete my data.”</a:t>
            </a:r>
            <a:endParaRPr lang="en-US" sz="3000" dirty="0"/>
          </a:p>
        </p:txBody>
      </p:sp>
      <p:sp>
        <p:nvSpPr>
          <p:cNvPr id="10" name="Text 8"/>
          <p:cNvSpPr txBox="1"/>
          <p:nvPr/>
        </p:nvSpPr>
        <p:spPr>
          <a:xfrm>
            <a:off x="1307592" y="3977640"/>
            <a:ext cx="4297680" cy="731520"/>
          </a:xfrm>
          <a:prstGeom prst="rect">
            <a:avLst/>
          </a:prstGeom>
          <a:noFill/>
          <a:ln/>
        </p:spPr>
        <p:txBody>
          <a:bodyPr wrap="square" lIns="0" tIns="0" rIns="0" bIns="0" rtlCol="0" anchor="t"/>
          <a:lstStyle/>
          <a:p>
            <a:pPr algn="l" indent="0" marL="0">
              <a:lnSpc>
                <a:spcPct val="108000"/>
              </a:lnSpc>
              <a:buNone/>
            </a:pPr>
            <a:r>
              <a:rPr lang="en-US" sz="1800" dirty="0">
                <a:solidFill>
                  <a:srgbClr val="B8C2D6"/>
                </a:solidFill>
                <a:latin typeface="IBM Plex Sans" pitchFamily="34" charset="0"/>
                <a:ea typeface="IBM Plex Sans" pitchFamily="34" charset="-122"/>
                <a:cs typeface="IBM Plex Sans" pitchFamily="34" charset="-120"/>
              </a:rPr>
              <a:t>A lawful erasure request.</a:t>
            </a:r>
            <a:endParaRPr lang="en-US" sz="1800" dirty="0"/>
          </a:p>
        </p:txBody>
      </p:sp>
      <p:sp>
        <p:nvSpPr>
          <p:cNvPr id="11" name="Text 9"/>
          <p:cNvSpPr txBox="1"/>
          <p:nvPr/>
        </p:nvSpPr>
        <p:spPr>
          <a:xfrm>
            <a:off x="5943600" y="3337560"/>
            <a:ext cx="502920" cy="640080"/>
          </a:xfrm>
          <a:prstGeom prst="rect">
            <a:avLst/>
          </a:prstGeom>
          <a:noFill/>
          <a:ln/>
        </p:spPr>
        <p:txBody>
          <a:bodyPr wrap="square" lIns="0" tIns="0" rIns="0" bIns="0" rtlCol="0" anchor="t"/>
          <a:lstStyle/>
          <a:p>
            <a:pPr algn="ctr" indent="0" marL="0">
              <a:lnSpc>
                <a:spcPct val="108000"/>
              </a:lnSpc>
              <a:buNone/>
            </a:pPr>
            <a:r>
              <a:rPr lang="en-US" sz="3200" dirty="0">
                <a:solidFill>
                  <a:srgbClr val="2DD4BF"/>
                </a:solidFill>
                <a:latin typeface="Space Grotesk" pitchFamily="34" charset="0"/>
                <a:ea typeface="Space Grotesk" pitchFamily="34" charset="-122"/>
                <a:cs typeface="Space Grotesk" pitchFamily="34" charset="-120"/>
              </a:rPr>
              <a:t>→</a:t>
            </a:r>
            <a:endParaRPr lang="en-US" sz="3200" dirty="0"/>
          </a:p>
        </p:txBody>
      </p:sp>
      <p:sp>
        <p:nvSpPr>
          <p:cNvPr id="12" name="Shape 10"/>
          <p:cNvSpPr/>
          <p:nvPr/>
        </p:nvSpPr>
        <p:spPr>
          <a:xfrm>
            <a:off x="6519672" y="2514600"/>
            <a:ext cx="4892040" cy="2468880"/>
          </a:xfrm>
          <a:prstGeom prst="roundRect">
            <a:avLst>
              <a:gd name="adj" fmla="val 2963"/>
            </a:avLst>
          </a:prstGeom>
          <a:solidFill>
            <a:srgbClr val="111B30"/>
          </a:solidFill>
          <a:ln w="12700">
            <a:solidFill>
              <a:srgbClr val="38435C"/>
            </a:solidFill>
            <a:prstDash val="solid"/>
          </a:ln>
        </p:spPr>
      </p:sp>
      <p:sp>
        <p:nvSpPr>
          <p:cNvPr id="13" name="Text 11"/>
          <p:cNvSpPr txBox="1"/>
          <p:nvPr/>
        </p:nvSpPr>
        <p:spPr>
          <a:xfrm>
            <a:off x="6839712" y="2788920"/>
            <a:ext cx="4206240" cy="310896"/>
          </a:xfrm>
          <a:prstGeom prst="rect">
            <a:avLst/>
          </a:prstGeom>
          <a:noFill/>
          <a:ln/>
        </p:spPr>
        <p:txBody>
          <a:bodyPr wrap="square" lIns="0" tIns="0" rIns="0" bIns="0" rtlCol="0" anchor="t"/>
          <a:lstStyle/>
          <a:p>
            <a:pPr algn="l" indent="0" marL="0">
              <a:lnSpc>
                <a:spcPct val="108000"/>
              </a:lnSpc>
              <a:buNone/>
            </a:pPr>
            <a:r>
              <a:rPr lang="en-US" sz="1500" dirty="0">
                <a:solidFill>
                  <a:srgbClr val="7C89A3"/>
                </a:solidFill>
                <a:latin typeface="IBM Plex Mono" pitchFamily="34" charset="0"/>
                <a:ea typeface="IBM Plex Mono" pitchFamily="34" charset="-122"/>
                <a:cs typeface="IBM Plex Mono" pitchFamily="34" charset="-120"/>
              </a:rPr>
              <a:t>DATABASE</a:t>
            </a:r>
            <a:endParaRPr lang="en-US" sz="1500" dirty="0"/>
          </a:p>
        </p:txBody>
      </p:sp>
      <p:sp>
        <p:nvSpPr>
          <p:cNvPr id="14" name="Text 12"/>
          <p:cNvSpPr txBox="1"/>
          <p:nvPr/>
        </p:nvSpPr>
        <p:spPr>
          <a:xfrm>
            <a:off x="6839712" y="3200400"/>
            <a:ext cx="4297680" cy="640080"/>
          </a:xfrm>
          <a:prstGeom prst="rect">
            <a:avLst/>
          </a:prstGeom>
          <a:noFill/>
          <a:ln/>
        </p:spPr>
        <p:txBody>
          <a:bodyPr wrap="square" lIns="0" tIns="0" rIns="0" bIns="0" rtlCol="0" anchor="t"/>
          <a:lstStyle/>
          <a:p>
            <a:pPr algn="l" indent="0" marL="0">
              <a:lnSpc>
                <a:spcPct val="108000"/>
              </a:lnSpc>
              <a:buNone/>
            </a:pPr>
            <a:r>
              <a:rPr lang="en-US" sz="3000" dirty="0">
                <a:solidFill>
                  <a:srgbClr val="EAF0FA"/>
                </a:solidFill>
                <a:latin typeface="Space Grotesk" pitchFamily="34" charset="0"/>
                <a:ea typeface="Space Grotesk" pitchFamily="34" charset="-122"/>
                <a:cs typeface="Space Grotesk" pitchFamily="34" charset="-120"/>
              </a:rPr>
              <a:t>Record deleted</a:t>
            </a:r>
            <a:endParaRPr lang="en-US" sz="3000" dirty="0"/>
          </a:p>
        </p:txBody>
      </p:sp>
      <p:sp>
        <p:nvSpPr>
          <p:cNvPr id="15" name="Text 13"/>
          <p:cNvSpPr txBox="1"/>
          <p:nvPr/>
        </p:nvSpPr>
        <p:spPr>
          <a:xfrm>
            <a:off x="6839712" y="3977640"/>
            <a:ext cx="4297680" cy="731520"/>
          </a:xfrm>
          <a:prstGeom prst="rect">
            <a:avLst/>
          </a:prstGeom>
          <a:noFill/>
          <a:ln/>
        </p:spPr>
        <p:txBody>
          <a:bodyPr wrap="square" lIns="0" tIns="0" rIns="0" bIns="0" rtlCol="0" anchor="t"/>
          <a:lstStyle/>
          <a:p>
            <a:pPr algn="l" indent="0" marL="0">
              <a:lnSpc>
                <a:spcPct val="108000"/>
              </a:lnSpc>
              <a:buNone/>
            </a:pPr>
            <a:r>
              <a:rPr lang="en-US" sz="1800" dirty="0">
                <a:solidFill>
                  <a:srgbClr val="B8C2D6"/>
                </a:solidFill>
                <a:latin typeface="IBM Plex Sans" pitchFamily="34" charset="0"/>
                <a:ea typeface="IBM Plex Sans" pitchFamily="34" charset="-122"/>
                <a:cs typeface="IBM Plex Sans" pitchFamily="34" charset="-120"/>
              </a:rPr>
              <a:t>The row leaves storage.</a:t>
            </a:r>
            <a:endParaRPr lang="en-US" sz="1800" dirty="0"/>
          </a:p>
        </p:txBody>
      </p:sp>
      <p:sp>
        <p:nvSpPr>
          <p:cNvPr id="16" name="Text 14"/>
          <p:cNvSpPr txBox="1"/>
          <p:nvPr/>
        </p:nvSpPr>
        <p:spPr>
          <a:xfrm>
            <a:off x="11475720" y="3337560"/>
            <a:ext cx="502920" cy="640080"/>
          </a:xfrm>
          <a:prstGeom prst="rect">
            <a:avLst/>
          </a:prstGeom>
          <a:noFill/>
          <a:ln/>
        </p:spPr>
        <p:txBody>
          <a:bodyPr wrap="square" lIns="0" tIns="0" rIns="0" bIns="0" rtlCol="0" anchor="t"/>
          <a:lstStyle/>
          <a:p>
            <a:pPr algn="ctr" indent="0" marL="0">
              <a:lnSpc>
                <a:spcPct val="108000"/>
              </a:lnSpc>
              <a:buNone/>
            </a:pPr>
            <a:r>
              <a:rPr lang="en-US" sz="3200" dirty="0">
                <a:solidFill>
                  <a:srgbClr val="2DD4BF"/>
                </a:solidFill>
                <a:latin typeface="Space Grotesk" pitchFamily="34" charset="0"/>
                <a:ea typeface="Space Grotesk" pitchFamily="34" charset="-122"/>
                <a:cs typeface="Space Grotesk" pitchFamily="34" charset="-120"/>
              </a:rPr>
              <a:t>→</a:t>
            </a:r>
            <a:endParaRPr lang="en-US" sz="3200" dirty="0"/>
          </a:p>
        </p:txBody>
      </p:sp>
      <p:sp>
        <p:nvSpPr>
          <p:cNvPr id="17" name="Shape 15"/>
          <p:cNvSpPr/>
          <p:nvPr/>
        </p:nvSpPr>
        <p:spPr>
          <a:xfrm>
            <a:off x="12051792" y="2514600"/>
            <a:ext cx="4892040" cy="2468880"/>
          </a:xfrm>
          <a:prstGeom prst="roundRect">
            <a:avLst>
              <a:gd name="adj" fmla="val 2963"/>
            </a:avLst>
          </a:prstGeom>
          <a:solidFill>
            <a:srgbClr val="111B30"/>
          </a:solidFill>
          <a:ln w="12700">
            <a:solidFill>
              <a:srgbClr val="2DD4BF"/>
            </a:solidFill>
            <a:prstDash val="solid"/>
          </a:ln>
        </p:spPr>
      </p:sp>
      <p:sp>
        <p:nvSpPr>
          <p:cNvPr id="18" name="Text 16"/>
          <p:cNvSpPr txBox="1"/>
          <p:nvPr/>
        </p:nvSpPr>
        <p:spPr>
          <a:xfrm>
            <a:off x="12371832" y="2788920"/>
            <a:ext cx="4206240" cy="310896"/>
          </a:xfrm>
          <a:prstGeom prst="rect">
            <a:avLst/>
          </a:prstGeom>
          <a:noFill/>
          <a:ln/>
        </p:spPr>
        <p:txBody>
          <a:bodyPr wrap="square" lIns="0" tIns="0" rIns="0" bIns="0" rtlCol="0" anchor="t"/>
          <a:lstStyle/>
          <a:p>
            <a:pPr algn="l" indent="0" marL="0">
              <a:lnSpc>
                <a:spcPct val="108000"/>
              </a:lnSpc>
              <a:buNone/>
            </a:pPr>
            <a:r>
              <a:rPr lang="en-US" sz="1500" dirty="0">
                <a:solidFill>
                  <a:srgbClr val="2DD4BF"/>
                </a:solidFill>
                <a:latin typeface="IBM Plex Mono" pitchFamily="34" charset="0"/>
                <a:ea typeface="IBM Plex Mono" pitchFamily="34" charset="-122"/>
                <a:cs typeface="IBM Plex Mono" pitchFamily="34" charset="-120"/>
              </a:rPr>
              <a:t>TRAINED MODEL</a:t>
            </a:r>
            <a:endParaRPr lang="en-US" sz="1500" dirty="0"/>
          </a:p>
        </p:txBody>
      </p:sp>
      <p:sp>
        <p:nvSpPr>
          <p:cNvPr id="19" name="Text 17"/>
          <p:cNvSpPr txBox="1"/>
          <p:nvPr/>
        </p:nvSpPr>
        <p:spPr>
          <a:xfrm>
            <a:off x="12371832" y="3200400"/>
            <a:ext cx="4297680" cy="640080"/>
          </a:xfrm>
          <a:prstGeom prst="rect">
            <a:avLst/>
          </a:prstGeom>
          <a:noFill/>
          <a:ln/>
        </p:spPr>
        <p:txBody>
          <a:bodyPr wrap="square" lIns="0" tIns="0" rIns="0" bIns="0" rtlCol="0" anchor="t"/>
          <a:lstStyle/>
          <a:p>
            <a:pPr algn="l" indent="0" marL="0">
              <a:lnSpc>
                <a:spcPct val="108000"/>
              </a:lnSpc>
              <a:buNone/>
            </a:pPr>
            <a:r>
              <a:rPr lang="en-US" sz="3000" dirty="0">
                <a:solidFill>
                  <a:srgbClr val="EAF0FA"/>
                </a:solidFill>
                <a:latin typeface="Space Grotesk" pitchFamily="34" charset="0"/>
                <a:ea typeface="Space Grotesk" pitchFamily="34" charset="-122"/>
                <a:cs typeface="Space Grotesk" pitchFamily="34" charset="-120"/>
              </a:rPr>
              <a:t>Still remembers</a:t>
            </a:r>
            <a:endParaRPr lang="en-US" sz="3000" dirty="0"/>
          </a:p>
        </p:txBody>
      </p:sp>
      <p:sp>
        <p:nvSpPr>
          <p:cNvPr id="20" name="Text 18"/>
          <p:cNvSpPr txBox="1"/>
          <p:nvPr/>
        </p:nvSpPr>
        <p:spPr>
          <a:xfrm>
            <a:off x="12371832" y="3977640"/>
            <a:ext cx="4297680" cy="731520"/>
          </a:xfrm>
          <a:prstGeom prst="rect">
            <a:avLst/>
          </a:prstGeom>
          <a:noFill/>
          <a:ln/>
        </p:spPr>
        <p:txBody>
          <a:bodyPr wrap="square" lIns="0" tIns="0" rIns="0" bIns="0" rtlCol="0" anchor="t"/>
          <a:lstStyle/>
          <a:p>
            <a:pPr algn="l" indent="0" marL="0">
              <a:lnSpc>
                <a:spcPct val="108000"/>
              </a:lnSpc>
              <a:buNone/>
            </a:pPr>
            <a:r>
              <a:rPr lang="en-US" sz="1800" dirty="0">
                <a:solidFill>
                  <a:srgbClr val="B8C2D6"/>
                </a:solidFill>
                <a:latin typeface="IBM Plex Sans" pitchFamily="34" charset="0"/>
                <a:ea typeface="IBM Plex Sans" pitchFamily="34" charset="-122"/>
                <a:cs typeface="IBM Plex Sans" pitchFamily="34" charset="-120"/>
              </a:rPr>
              <a:t>Reproduces it from its weights.</a:t>
            </a:r>
            <a:endParaRPr lang="en-US" sz="1800" dirty="0"/>
          </a:p>
        </p:txBody>
      </p:sp>
      <p:sp>
        <p:nvSpPr>
          <p:cNvPr id="21" name="Shape 19"/>
          <p:cNvSpPr/>
          <p:nvPr/>
        </p:nvSpPr>
        <p:spPr>
          <a:xfrm>
            <a:off x="987552" y="5532120"/>
            <a:ext cx="3840480" cy="2194560"/>
          </a:xfrm>
          <a:prstGeom prst="roundRect">
            <a:avLst>
              <a:gd name="adj" fmla="val 3333"/>
            </a:avLst>
          </a:prstGeom>
          <a:solidFill>
            <a:srgbClr val="111B30"/>
          </a:solidFill>
          <a:ln w="12700">
            <a:solidFill>
              <a:srgbClr val="38435C"/>
            </a:solidFill>
            <a:prstDash val="solid"/>
          </a:ln>
        </p:spPr>
      </p:sp>
      <p:sp>
        <p:nvSpPr>
          <p:cNvPr id="22" name="Text 20"/>
          <p:cNvSpPr txBox="1"/>
          <p:nvPr/>
        </p:nvSpPr>
        <p:spPr>
          <a:xfrm>
            <a:off x="1261872" y="5779008"/>
            <a:ext cx="3383280" cy="310896"/>
          </a:xfrm>
          <a:prstGeom prst="rect">
            <a:avLst/>
          </a:prstGeom>
          <a:noFill/>
          <a:ln/>
        </p:spPr>
        <p:txBody>
          <a:bodyPr wrap="square" lIns="0" tIns="0" rIns="0" bIns="0" rtlCol="0" anchor="t"/>
          <a:lstStyle/>
          <a:p>
            <a:pPr algn="l" indent="0" marL="0">
              <a:lnSpc>
                <a:spcPct val="108000"/>
              </a:lnSpc>
              <a:buNone/>
            </a:pPr>
            <a:r>
              <a:rPr lang="en-US" sz="1500" dirty="0">
                <a:solidFill>
                  <a:srgbClr val="7C89A3"/>
                </a:solidFill>
                <a:latin typeface="IBM Plex Mono" pitchFamily="34" charset="0"/>
                <a:ea typeface="IBM Plex Mono" pitchFamily="34" charset="-122"/>
                <a:cs typeface="IBM Plex Mono" pitchFamily="34" charset="-120"/>
              </a:rPr>
              <a:t>EU · 2016</a:t>
            </a:r>
            <a:endParaRPr lang="en-US" sz="1500" dirty="0"/>
          </a:p>
        </p:txBody>
      </p:sp>
      <p:sp>
        <p:nvSpPr>
          <p:cNvPr id="23" name="Text 21"/>
          <p:cNvSpPr txBox="1"/>
          <p:nvPr/>
        </p:nvSpPr>
        <p:spPr>
          <a:xfrm>
            <a:off x="1261872" y="6199632"/>
            <a:ext cx="3383280" cy="502920"/>
          </a:xfrm>
          <a:prstGeom prst="rect">
            <a:avLst/>
          </a:prstGeom>
          <a:noFill/>
          <a:ln/>
        </p:spPr>
        <p:txBody>
          <a:bodyPr wrap="square" lIns="0" tIns="0" rIns="0" bIns="0" rtlCol="0" anchor="t"/>
          <a:lstStyle/>
          <a:p>
            <a:pPr algn="l" indent="0" marL="0">
              <a:lnSpc>
                <a:spcPct val="108000"/>
              </a:lnSpc>
              <a:buNone/>
            </a:pPr>
            <a:r>
              <a:rPr lang="en-US" sz="2400" dirty="0">
                <a:solidFill>
                  <a:srgbClr val="EAF0FA"/>
                </a:solidFill>
                <a:latin typeface="Space Grotesk" pitchFamily="34" charset="0"/>
                <a:ea typeface="Space Grotesk" pitchFamily="34" charset="-122"/>
                <a:cs typeface="Space Grotesk" pitchFamily="34" charset="-120"/>
              </a:rPr>
              <a:t>GDPR Art. 17</a:t>
            </a:r>
            <a:endParaRPr lang="en-US" sz="2400" dirty="0"/>
          </a:p>
        </p:txBody>
      </p:sp>
      <p:sp>
        <p:nvSpPr>
          <p:cNvPr id="24" name="Text 22"/>
          <p:cNvSpPr txBox="1"/>
          <p:nvPr/>
        </p:nvSpPr>
        <p:spPr>
          <a:xfrm>
            <a:off x="1261872" y="6812280"/>
            <a:ext cx="3383280" cy="640080"/>
          </a:xfrm>
          <a:prstGeom prst="rect">
            <a:avLst/>
          </a:prstGeom>
          <a:noFill/>
          <a:ln/>
        </p:spPr>
        <p:txBody>
          <a:bodyPr wrap="square" lIns="0" tIns="0" rIns="0" bIns="0" rtlCol="0" anchor="t"/>
          <a:lstStyle/>
          <a:p>
            <a:pPr algn="l" indent="0" marL="0">
              <a:lnSpc>
                <a:spcPct val="108000"/>
              </a:lnSpc>
              <a:buNone/>
            </a:pPr>
            <a:r>
              <a:rPr lang="en-US" sz="1700" dirty="0">
                <a:solidFill>
                  <a:srgbClr val="B8C2D6"/>
                </a:solidFill>
                <a:latin typeface="IBM Plex Sans" pitchFamily="34" charset="0"/>
                <a:ea typeface="IBM Plex Sans" pitchFamily="34" charset="-122"/>
                <a:cs typeface="IBM Plex Sans" pitchFamily="34" charset="-120"/>
              </a:rPr>
              <a:t>Right to erasure</a:t>
            </a:r>
            <a:endParaRPr lang="en-US" sz="1700" dirty="0"/>
          </a:p>
        </p:txBody>
      </p:sp>
      <p:sp>
        <p:nvSpPr>
          <p:cNvPr id="25" name="Shape 23"/>
          <p:cNvSpPr/>
          <p:nvPr/>
        </p:nvSpPr>
        <p:spPr>
          <a:xfrm>
            <a:off x="5102352" y="5532120"/>
            <a:ext cx="3840480" cy="2194560"/>
          </a:xfrm>
          <a:prstGeom prst="roundRect">
            <a:avLst>
              <a:gd name="adj" fmla="val 3333"/>
            </a:avLst>
          </a:prstGeom>
          <a:solidFill>
            <a:srgbClr val="111B30"/>
          </a:solidFill>
          <a:ln w="12700">
            <a:solidFill>
              <a:srgbClr val="38435C"/>
            </a:solidFill>
            <a:prstDash val="solid"/>
          </a:ln>
        </p:spPr>
      </p:sp>
      <p:sp>
        <p:nvSpPr>
          <p:cNvPr id="26" name="Text 24"/>
          <p:cNvSpPr txBox="1"/>
          <p:nvPr/>
        </p:nvSpPr>
        <p:spPr>
          <a:xfrm>
            <a:off x="5376672" y="5779008"/>
            <a:ext cx="3383280" cy="310896"/>
          </a:xfrm>
          <a:prstGeom prst="rect">
            <a:avLst/>
          </a:prstGeom>
          <a:noFill/>
          <a:ln/>
        </p:spPr>
        <p:txBody>
          <a:bodyPr wrap="square" lIns="0" tIns="0" rIns="0" bIns="0" rtlCol="0" anchor="t"/>
          <a:lstStyle/>
          <a:p>
            <a:pPr algn="l" indent="0" marL="0">
              <a:lnSpc>
                <a:spcPct val="108000"/>
              </a:lnSpc>
              <a:buNone/>
            </a:pPr>
            <a:r>
              <a:rPr lang="en-US" sz="1500" dirty="0">
                <a:solidFill>
                  <a:srgbClr val="7C89A3"/>
                </a:solidFill>
                <a:latin typeface="IBM Plex Mono" pitchFamily="34" charset="0"/>
                <a:ea typeface="IBM Plex Mono" pitchFamily="34" charset="-122"/>
                <a:cs typeface="IBM Plex Mono" pitchFamily="34" charset="-120"/>
              </a:rPr>
              <a:t>INDIA · 2023</a:t>
            </a:r>
            <a:endParaRPr lang="en-US" sz="1500" dirty="0"/>
          </a:p>
        </p:txBody>
      </p:sp>
      <p:sp>
        <p:nvSpPr>
          <p:cNvPr id="27" name="Text 25"/>
          <p:cNvSpPr txBox="1"/>
          <p:nvPr/>
        </p:nvSpPr>
        <p:spPr>
          <a:xfrm>
            <a:off x="5376672" y="6199632"/>
            <a:ext cx="3383280" cy="502920"/>
          </a:xfrm>
          <a:prstGeom prst="rect">
            <a:avLst/>
          </a:prstGeom>
          <a:noFill/>
          <a:ln/>
        </p:spPr>
        <p:txBody>
          <a:bodyPr wrap="square" lIns="0" tIns="0" rIns="0" bIns="0" rtlCol="0" anchor="t"/>
          <a:lstStyle/>
          <a:p>
            <a:pPr algn="l" indent="0" marL="0">
              <a:lnSpc>
                <a:spcPct val="108000"/>
              </a:lnSpc>
              <a:buNone/>
            </a:pPr>
            <a:r>
              <a:rPr lang="en-US" sz="2400" dirty="0">
                <a:solidFill>
                  <a:srgbClr val="EAF0FA"/>
                </a:solidFill>
                <a:latin typeface="Space Grotesk" pitchFamily="34" charset="0"/>
                <a:ea typeface="Space Grotesk" pitchFamily="34" charset="-122"/>
                <a:cs typeface="Space Grotesk" pitchFamily="34" charset="-120"/>
              </a:rPr>
              <a:t>DPDP Act §12</a:t>
            </a:r>
            <a:endParaRPr lang="en-US" sz="2400" dirty="0"/>
          </a:p>
        </p:txBody>
      </p:sp>
      <p:sp>
        <p:nvSpPr>
          <p:cNvPr id="28" name="Text 26"/>
          <p:cNvSpPr txBox="1"/>
          <p:nvPr/>
        </p:nvSpPr>
        <p:spPr>
          <a:xfrm>
            <a:off x="5376672" y="6812280"/>
            <a:ext cx="3383280" cy="640080"/>
          </a:xfrm>
          <a:prstGeom prst="rect">
            <a:avLst/>
          </a:prstGeom>
          <a:noFill/>
          <a:ln/>
        </p:spPr>
        <p:txBody>
          <a:bodyPr wrap="square" lIns="0" tIns="0" rIns="0" bIns="0" rtlCol="0" anchor="t"/>
          <a:lstStyle/>
          <a:p>
            <a:pPr algn="l" indent="0" marL="0">
              <a:lnSpc>
                <a:spcPct val="108000"/>
              </a:lnSpc>
              <a:buNone/>
            </a:pPr>
            <a:r>
              <a:rPr lang="en-US" sz="1700" dirty="0">
                <a:solidFill>
                  <a:srgbClr val="B8C2D6"/>
                </a:solidFill>
                <a:latin typeface="IBM Plex Sans" pitchFamily="34" charset="0"/>
                <a:ea typeface="IBM Plex Sans" pitchFamily="34" charset="-122"/>
                <a:cs typeface="IBM Plex Sans" pitchFamily="34" charset="-120"/>
              </a:rPr>
              <a:t>Erasure for data principals</a:t>
            </a:r>
            <a:endParaRPr lang="en-US" sz="1700" dirty="0"/>
          </a:p>
        </p:txBody>
      </p:sp>
      <p:sp>
        <p:nvSpPr>
          <p:cNvPr id="29" name="Shape 27"/>
          <p:cNvSpPr/>
          <p:nvPr/>
        </p:nvSpPr>
        <p:spPr>
          <a:xfrm>
            <a:off x="9217152" y="5532120"/>
            <a:ext cx="3840480" cy="2194560"/>
          </a:xfrm>
          <a:prstGeom prst="roundRect">
            <a:avLst>
              <a:gd name="adj" fmla="val 3333"/>
            </a:avLst>
          </a:prstGeom>
          <a:solidFill>
            <a:srgbClr val="111B30"/>
          </a:solidFill>
          <a:ln w="12700">
            <a:solidFill>
              <a:srgbClr val="38435C"/>
            </a:solidFill>
            <a:prstDash val="solid"/>
          </a:ln>
        </p:spPr>
      </p:sp>
      <p:sp>
        <p:nvSpPr>
          <p:cNvPr id="30" name="Text 28"/>
          <p:cNvSpPr txBox="1"/>
          <p:nvPr/>
        </p:nvSpPr>
        <p:spPr>
          <a:xfrm>
            <a:off x="9491472" y="5779008"/>
            <a:ext cx="3383280" cy="310896"/>
          </a:xfrm>
          <a:prstGeom prst="rect">
            <a:avLst/>
          </a:prstGeom>
          <a:noFill/>
          <a:ln/>
        </p:spPr>
        <p:txBody>
          <a:bodyPr wrap="square" lIns="0" tIns="0" rIns="0" bIns="0" rtlCol="0" anchor="t"/>
          <a:lstStyle/>
          <a:p>
            <a:pPr algn="l" indent="0" marL="0">
              <a:lnSpc>
                <a:spcPct val="108000"/>
              </a:lnSpc>
              <a:buNone/>
            </a:pPr>
            <a:r>
              <a:rPr lang="en-US" sz="1500" dirty="0">
                <a:solidFill>
                  <a:srgbClr val="7C89A3"/>
                </a:solidFill>
                <a:latin typeface="IBM Plex Mono" pitchFamily="34" charset="0"/>
                <a:ea typeface="IBM Plex Mono" pitchFamily="34" charset="-122"/>
                <a:cs typeface="IBM Plex Mono" pitchFamily="34" charset="-120"/>
              </a:rPr>
              <a:t>S.D.N.Y. · 2023</a:t>
            </a:r>
            <a:endParaRPr lang="en-US" sz="1500" dirty="0"/>
          </a:p>
        </p:txBody>
      </p:sp>
      <p:sp>
        <p:nvSpPr>
          <p:cNvPr id="31" name="Text 29"/>
          <p:cNvSpPr txBox="1"/>
          <p:nvPr/>
        </p:nvSpPr>
        <p:spPr>
          <a:xfrm>
            <a:off x="9491472" y="6199632"/>
            <a:ext cx="3383280" cy="502920"/>
          </a:xfrm>
          <a:prstGeom prst="rect">
            <a:avLst/>
          </a:prstGeom>
          <a:noFill/>
          <a:ln/>
        </p:spPr>
        <p:txBody>
          <a:bodyPr wrap="square" lIns="0" tIns="0" rIns="0" bIns="0" rtlCol="0" anchor="t"/>
          <a:lstStyle/>
          <a:p>
            <a:pPr algn="l" indent="0" marL="0">
              <a:lnSpc>
                <a:spcPct val="108000"/>
              </a:lnSpc>
              <a:buNone/>
            </a:pPr>
            <a:r>
              <a:rPr lang="en-US" sz="2400" dirty="0">
                <a:solidFill>
                  <a:srgbClr val="EAF0FA"/>
                </a:solidFill>
                <a:latin typeface="Space Grotesk" pitchFamily="34" charset="0"/>
                <a:ea typeface="Space Grotesk" pitchFamily="34" charset="-122"/>
                <a:cs typeface="Space Grotesk" pitchFamily="34" charset="-120"/>
              </a:rPr>
              <a:t>NYT v. OpenAI</a:t>
            </a:r>
            <a:endParaRPr lang="en-US" sz="2400" dirty="0"/>
          </a:p>
        </p:txBody>
      </p:sp>
      <p:sp>
        <p:nvSpPr>
          <p:cNvPr id="32" name="Text 30"/>
          <p:cNvSpPr txBox="1"/>
          <p:nvPr/>
        </p:nvSpPr>
        <p:spPr>
          <a:xfrm>
            <a:off x="9491472" y="6812280"/>
            <a:ext cx="3383280" cy="640080"/>
          </a:xfrm>
          <a:prstGeom prst="rect">
            <a:avLst/>
          </a:prstGeom>
          <a:noFill/>
          <a:ln/>
        </p:spPr>
        <p:txBody>
          <a:bodyPr wrap="square" lIns="0" tIns="0" rIns="0" bIns="0" rtlCol="0" anchor="t"/>
          <a:lstStyle/>
          <a:p>
            <a:pPr algn="l" indent="0" marL="0">
              <a:lnSpc>
                <a:spcPct val="108000"/>
              </a:lnSpc>
              <a:buNone/>
            </a:pPr>
            <a:r>
              <a:rPr lang="en-US" sz="1700" dirty="0">
                <a:solidFill>
                  <a:srgbClr val="B8C2D6"/>
                </a:solidFill>
                <a:latin typeface="IBM Plex Sans" pitchFamily="34" charset="0"/>
                <a:ea typeface="IBM Plex Sans" pitchFamily="34" charset="-122"/>
                <a:cs typeface="IBM Plex Sans" pitchFamily="34" charset="-120"/>
              </a:rPr>
              <a:t>Near-verbatim reproduction</a:t>
            </a:r>
            <a:endParaRPr lang="en-US" sz="1700" dirty="0"/>
          </a:p>
        </p:txBody>
      </p:sp>
      <p:sp>
        <p:nvSpPr>
          <p:cNvPr id="33" name="Shape 31"/>
          <p:cNvSpPr/>
          <p:nvPr/>
        </p:nvSpPr>
        <p:spPr>
          <a:xfrm>
            <a:off x="13331952" y="5532120"/>
            <a:ext cx="3840480" cy="2194560"/>
          </a:xfrm>
          <a:prstGeom prst="roundRect">
            <a:avLst>
              <a:gd name="adj" fmla="val 3333"/>
            </a:avLst>
          </a:prstGeom>
          <a:solidFill>
            <a:srgbClr val="111B30"/>
          </a:solidFill>
          <a:ln w="12700">
            <a:solidFill>
              <a:srgbClr val="38435C"/>
            </a:solidFill>
            <a:prstDash val="solid"/>
          </a:ln>
        </p:spPr>
      </p:sp>
      <p:sp>
        <p:nvSpPr>
          <p:cNvPr id="34" name="Text 32"/>
          <p:cNvSpPr txBox="1"/>
          <p:nvPr/>
        </p:nvSpPr>
        <p:spPr>
          <a:xfrm>
            <a:off x="13606272" y="5779008"/>
            <a:ext cx="3383280" cy="310896"/>
          </a:xfrm>
          <a:prstGeom prst="rect">
            <a:avLst/>
          </a:prstGeom>
          <a:noFill/>
          <a:ln/>
        </p:spPr>
        <p:txBody>
          <a:bodyPr wrap="square" lIns="0" tIns="0" rIns="0" bIns="0" rtlCol="0" anchor="t"/>
          <a:lstStyle/>
          <a:p>
            <a:pPr algn="l" indent="0" marL="0">
              <a:lnSpc>
                <a:spcPct val="108000"/>
              </a:lnSpc>
              <a:buNone/>
            </a:pPr>
            <a:r>
              <a:rPr lang="en-US" sz="1500" dirty="0">
                <a:solidFill>
                  <a:srgbClr val="7C89A3"/>
                </a:solidFill>
                <a:latin typeface="IBM Plex Mono" pitchFamily="34" charset="0"/>
                <a:ea typeface="IBM Plex Mono" pitchFamily="34" charset="-122"/>
                <a:cs typeface="IBM Plex Mono" pitchFamily="34" charset="-120"/>
              </a:rPr>
              <a:t>N.D. CAL. · 2023</a:t>
            </a:r>
            <a:endParaRPr lang="en-US" sz="1500" dirty="0"/>
          </a:p>
        </p:txBody>
      </p:sp>
      <p:sp>
        <p:nvSpPr>
          <p:cNvPr id="35" name="Text 33"/>
          <p:cNvSpPr txBox="1"/>
          <p:nvPr/>
        </p:nvSpPr>
        <p:spPr>
          <a:xfrm>
            <a:off x="13606272" y="6199632"/>
            <a:ext cx="3383280" cy="502920"/>
          </a:xfrm>
          <a:prstGeom prst="rect">
            <a:avLst/>
          </a:prstGeom>
          <a:noFill/>
          <a:ln/>
        </p:spPr>
        <p:txBody>
          <a:bodyPr wrap="square" lIns="0" tIns="0" rIns="0" bIns="0" rtlCol="0" anchor="t"/>
          <a:lstStyle/>
          <a:p>
            <a:pPr algn="l" indent="0" marL="0">
              <a:lnSpc>
                <a:spcPct val="108000"/>
              </a:lnSpc>
              <a:buNone/>
            </a:pPr>
            <a:r>
              <a:rPr lang="en-US" sz="2400" dirty="0">
                <a:solidFill>
                  <a:srgbClr val="EAF0FA"/>
                </a:solidFill>
                <a:latin typeface="Space Grotesk" pitchFamily="34" charset="0"/>
                <a:ea typeface="Space Grotesk" pitchFamily="34" charset="-122"/>
                <a:cs typeface="Space Grotesk" pitchFamily="34" charset="-120"/>
              </a:rPr>
              <a:t>Artists v. Stability</a:t>
            </a:r>
            <a:endParaRPr lang="en-US" sz="2400" dirty="0"/>
          </a:p>
        </p:txBody>
      </p:sp>
      <p:sp>
        <p:nvSpPr>
          <p:cNvPr id="36" name="Text 34"/>
          <p:cNvSpPr txBox="1"/>
          <p:nvPr/>
        </p:nvSpPr>
        <p:spPr>
          <a:xfrm>
            <a:off x="13606272" y="6812280"/>
            <a:ext cx="3383280" cy="640080"/>
          </a:xfrm>
          <a:prstGeom prst="rect">
            <a:avLst/>
          </a:prstGeom>
          <a:noFill/>
          <a:ln/>
        </p:spPr>
        <p:txBody>
          <a:bodyPr wrap="square" lIns="0" tIns="0" rIns="0" bIns="0" rtlCol="0" anchor="t"/>
          <a:lstStyle/>
          <a:p>
            <a:pPr algn="l" indent="0" marL="0">
              <a:lnSpc>
                <a:spcPct val="108000"/>
              </a:lnSpc>
              <a:buNone/>
            </a:pPr>
            <a:r>
              <a:rPr lang="en-US" sz="1700" dirty="0">
                <a:solidFill>
                  <a:srgbClr val="B8C2D6"/>
                </a:solidFill>
                <a:latin typeface="IBM Plex Sans" pitchFamily="34" charset="0"/>
                <a:ea typeface="IBM Plex Sans" pitchFamily="34" charset="-122"/>
                <a:cs typeface="IBM Plex Sans" pitchFamily="34" charset="-120"/>
              </a:rPr>
              <a:t>Memorized training works</a:t>
            </a:r>
            <a:endParaRPr lang="en-US" sz="1700" dirty="0"/>
          </a:p>
        </p:txBody>
      </p:sp>
      <p:sp>
        <p:nvSpPr>
          <p:cNvPr id="37" name="Text 35"/>
          <p:cNvSpPr txBox="1"/>
          <p:nvPr/>
        </p:nvSpPr>
        <p:spPr>
          <a:xfrm>
            <a:off x="987552" y="8092440"/>
            <a:ext cx="16093440" cy="457200"/>
          </a:xfrm>
          <a:prstGeom prst="rect">
            <a:avLst/>
          </a:prstGeom>
          <a:noFill/>
          <a:ln/>
        </p:spPr>
        <p:txBody>
          <a:bodyPr wrap="square" lIns="0" tIns="0" rIns="0" bIns="0" rtlCol="0" anchor="t"/>
          <a:lstStyle/>
          <a:p>
            <a:pPr algn="l" indent="0" marL="0">
              <a:lnSpc>
                <a:spcPct val="108000"/>
              </a:lnSpc>
              <a:buNone/>
            </a:pPr>
            <a:r>
              <a:rPr lang="en-US" sz="1950" dirty="0">
                <a:solidFill>
                  <a:srgbClr val="2DD4BF"/>
                </a:solidFill>
                <a:latin typeface="IBM Plex Sans" pitchFamily="34" charset="0"/>
                <a:ea typeface="IBM Plex Sans" pitchFamily="34" charset="-122"/>
                <a:cs typeface="IBM Plex Sans" pitchFamily="34" charset="-120"/>
              </a:rPr>
              <a:t>The law already assumes deletion is possible. We test whether, technically, it is.</a:t>
            </a:r>
            <a:endParaRPr lang="en-US" sz="1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020"/>
        </a:solidFill>
      </p:bgPr>
    </p:bg>
    <p:spTree>
      <p:nvGrpSpPr>
        <p:cNvPr id="1" name=""/>
        <p:cNvGrpSpPr/>
        <p:nvPr/>
      </p:nvGrpSpPr>
      <p:grpSpPr>
        <a:xfrm>
          <a:off x="0" y="0"/>
          <a:ext cx="0" cy="0"/>
          <a:chOff x="0" y="0"/>
          <a:chExt cx="0" cy="0"/>
        </a:xfrm>
      </p:grpSpPr>
      <p:sp>
        <p:nvSpPr>
          <p:cNvPr id="2" name="Text 0"/>
          <p:cNvSpPr txBox="1"/>
          <p:nvPr/>
        </p:nvSpPr>
        <p:spPr>
          <a:xfrm>
            <a:off x="987552" y="722376"/>
            <a:ext cx="731520" cy="329184"/>
          </a:xfrm>
          <a:prstGeom prst="rect">
            <a:avLst/>
          </a:prstGeom>
          <a:noFill/>
          <a:ln/>
        </p:spPr>
        <p:txBody>
          <a:bodyPr wrap="square" lIns="0" tIns="0" rIns="0" bIns="0" rtlCol="0" anchor="t"/>
          <a:lstStyle/>
          <a:p>
            <a:pPr algn="l" indent="0" marL="0">
              <a:lnSpc>
                <a:spcPct val="108000"/>
              </a:lnSpc>
              <a:buNone/>
            </a:pPr>
            <a:r>
              <a:rPr lang="en-US" sz="1800" dirty="0">
                <a:solidFill>
                  <a:srgbClr val="2DD4BF"/>
                </a:solidFill>
                <a:latin typeface="IBM Plex Mono" pitchFamily="34" charset="0"/>
                <a:ea typeface="IBM Plex Mono" pitchFamily="34" charset="-122"/>
                <a:cs typeface="IBM Plex Mono" pitchFamily="34" charset="-120"/>
              </a:rPr>
              <a:t>03</a:t>
            </a:r>
            <a:endParaRPr lang="en-US" sz="1800" dirty="0"/>
          </a:p>
        </p:txBody>
      </p:sp>
      <p:sp>
        <p:nvSpPr>
          <p:cNvPr id="3" name="Text 1"/>
          <p:cNvSpPr txBox="1"/>
          <p:nvPr/>
        </p:nvSpPr>
        <p:spPr>
          <a:xfrm>
            <a:off x="1938528" y="722376"/>
            <a:ext cx="9144000" cy="329184"/>
          </a:xfrm>
          <a:prstGeom prst="rect">
            <a:avLst/>
          </a:prstGeom>
          <a:noFill/>
          <a:ln/>
        </p:spPr>
        <p:txBody>
          <a:bodyPr wrap="square" lIns="0" tIns="0" rIns="0" bIns="0" rtlCol="0" anchor="t"/>
          <a:lstStyle/>
          <a:p>
            <a:pPr algn="l" indent="0" marL="0">
              <a:lnSpc>
                <a:spcPct val="108000"/>
              </a:lnSpc>
              <a:buNone/>
            </a:pPr>
            <a:r>
              <a:rPr lang="en-US" sz="1800" dirty="0">
                <a:solidFill>
                  <a:srgbClr val="7C89A3"/>
                </a:solidFill>
                <a:latin typeface="IBM Plex Mono" pitchFamily="34" charset="0"/>
                <a:ea typeface="IBM Plex Mono" pitchFamily="34" charset="-122"/>
                <a:cs typeface="IBM Plex Mono" pitchFamily="34" charset="-120"/>
              </a:rPr>
              <a:t>PROBLEM STATEMENT</a:t>
            </a:r>
            <a:endParaRPr lang="en-US" sz="1800" dirty="0"/>
          </a:p>
        </p:txBody>
      </p:sp>
      <p:sp>
        <p:nvSpPr>
          <p:cNvPr id="4" name="Text 2"/>
          <p:cNvSpPr txBox="1"/>
          <p:nvPr/>
        </p:nvSpPr>
        <p:spPr>
          <a:xfrm>
            <a:off x="987552" y="1170432"/>
            <a:ext cx="16093440" cy="731520"/>
          </a:xfrm>
          <a:prstGeom prst="rect">
            <a:avLst/>
          </a:prstGeom>
          <a:noFill/>
          <a:ln/>
        </p:spPr>
        <p:txBody>
          <a:bodyPr wrap="square" lIns="0" tIns="0" rIns="0" bIns="0" rtlCol="0" anchor="t"/>
          <a:lstStyle/>
          <a:p>
            <a:pPr algn="l" indent="0" marL="0">
              <a:lnSpc>
                <a:spcPct val="108000"/>
              </a:lnSpc>
              <a:buNone/>
            </a:pPr>
            <a:r>
              <a:rPr lang="en-US" sz="4200" dirty="0">
                <a:solidFill>
                  <a:srgbClr val="EAF0FA"/>
                </a:solidFill>
                <a:latin typeface="Space Grotesk" pitchFamily="34" charset="0"/>
                <a:ea typeface="Space Grotesk" pitchFamily="34" charset="-122"/>
                <a:cs typeface="Space Grotesk" pitchFamily="34" charset="-120"/>
              </a:rPr>
              <a:t>Two Layers, One Word</a:t>
            </a:r>
            <a:endParaRPr lang="en-US" sz="4200" dirty="0"/>
          </a:p>
        </p:txBody>
      </p:sp>
      <p:sp>
        <p:nvSpPr>
          <p:cNvPr id="5" name="Text 3"/>
          <p:cNvSpPr txBox="1"/>
          <p:nvPr/>
        </p:nvSpPr>
        <p:spPr>
          <a:xfrm>
            <a:off x="987552" y="1993392"/>
            <a:ext cx="16093440" cy="457200"/>
          </a:xfrm>
          <a:prstGeom prst="rect">
            <a:avLst/>
          </a:prstGeom>
          <a:noFill/>
          <a:ln/>
        </p:spPr>
        <p:txBody>
          <a:bodyPr wrap="square" lIns="0" tIns="0" rIns="0" bIns="0" rtlCol="0" anchor="t"/>
          <a:lstStyle/>
          <a:p>
            <a:pPr algn="l" indent="0" marL="0">
              <a:lnSpc>
                <a:spcPct val="108000"/>
              </a:lnSpc>
              <a:buNone/>
            </a:pPr>
            <a:r>
              <a:rPr lang="en-US" sz="1950" dirty="0">
                <a:solidFill>
                  <a:srgbClr val="B8C2D6"/>
                </a:solidFill>
                <a:latin typeface="IBM Plex Sans" pitchFamily="34" charset="0"/>
                <a:ea typeface="IBM Plex Sans" pitchFamily="34" charset="-122"/>
                <a:cs typeface="IBM Plex Sans" pitchFamily="34" charset="-120"/>
              </a:rPr>
              <a:t>“Deletion” names two different problems. The data layer is largely engineered; the model layer is the open one.</a:t>
            </a:r>
            <a:endParaRPr lang="en-US" sz="1950" dirty="0"/>
          </a:p>
        </p:txBody>
      </p:sp>
      <p:sp>
        <p:nvSpPr>
          <p:cNvPr id="6" name="Text 4"/>
          <p:cNvSpPr txBox="1"/>
          <p:nvPr/>
        </p:nvSpPr>
        <p:spPr>
          <a:xfrm>
            <a:off x="987552" y="9436608"/>
            <a:ext cx="4572000" cy="329184"/>
          </a:xfrm>
          <a:prstGeom prst="rect">
            <a:avLst/>
          </a:prstGeom>
          <a:noFill/>
          <a:ln/>
        </p:spPr>
        <p:txBody>
          <a:bodyPr wrap="square" lIns="0" tIns="0" rIns="0" bIns="0" rtlCol="0" anchor="t"/>
          <a:lstStyle/>
          <a:p>
            <a:pPr algn="l" indent="0" marL="0">
              <a:lnSpc>
                <a:spcPct val="108000"/>
              </a:lnSpc>
              <a:buNone/>
            </a:pPr>
            <a:r>
              <a:rPr lang="en-US" sz="1600" dirty="0">
                <a:solidFill>
                  <a:srgbClr val="38435C"/>
                </a:solidFill>
                <a:latin typeface="IBM Plex Mono" pitchFamily="34" charset="0"/>
                <a:ea typeface="IBM Plex Mono" pitchFamily="34" charset="-122"/>
                <a:cs typeface="IBM Plex Mono" pitchFamily="34" charset="-120"/>
              </a:rPr>
              <a:t>FORGETBENCH · HRU</a:t>
            </a:r>
            <a:endParaRPr lang="en-US" sz="1600" dirty="0"/>
          </a:p>
        </p:txBody>
      </p:sp>
      <p:sp>
        <p:nvSpPr>
          <p:cNvPr id="7" name="Text 5"/>
          <p:cNvSpPr txBox="1"/>
          <p:nvPr/>
        </p:nvSpPr>
        <p:spPr>
          <a:xfrm>
            <a:off x="12710160" y="9436608"/>
            <a:ext cx="4572000" cy="329184"/>
          </a:xfrm>
          <a:prstGeom prst="rect">
            <a:avLst/>
          </a:prstGeom>
          <a:noFill/>
          <a:ln/>
        </p:spPr>
        <p:txBody>
          <a:bodyPr wrap="square" lIns="0" tIns="0" rIns="0" bIns="0" rtlCol="0" anchor="t"/>
          <a:lstStyle/>
          <a:p>
            <a:pPr algn="r" indent="0" marL="0">
              <a:lnSpc>
                <a:spcPct val="108000"/>
              </a:lnSpc>
              <a:buNone/>
            </a:pPr>
            <a:r>
              <a:rPr lang="en-US" sz="1600" dirty="0">
                <a:solidFill>
                  <a:srgbClr val="38435C"/>
                </a:solidFill>
                <a:latin typeface="IBM Plex Mono" pitchFamily="34" charset="0"/>
                <a:ea typeface="IBM Plex Mono" pitchFamily="34" charset="-122"/>
                <a:cs typeface="IBM Plex Mono" pitchFamily="34" charset="-120"/>
              </a:rPr>
              <a:t>WOXSEN UNIVERSITY</a:t>
            </a:r>
            <a:endParaRPr lang="en-US" sz="1600" dirty="0"/>
          </a:p>
        </p:txBody>
      </p:sp>
      <p:sp>
        <p:nvSpPr>
          <p:cNvPr id="8" name="Shape 6"/>
          <p:cNvSpPr/>
          <p:nvPr/>
        </p:nvSpPr>
        <p:spPr>
          <a:xfrm>
            <a:off x="987552" y="2743200"/>
            <a:ext cx="7863840" cy="5486400"/>
          </a:xfrm>
          <a:prstGeom prst="roundRect">
            <a:avLst>
              <a:gd name="adj" fmla="val 1333"/>
            </a:avLst>
          </a:prstGeom>
          <a:solidFill>
            <a:srgbClr val="111B30"/>
          </a:solidFill>
          <a:ln w="12700">
            <a:solidFill>
              <a:srgbClr val="38435C"/>
            </a:solidFill>
            <a:prstDash val="solid"/>
          </a:ln>
        </p:spPr>
      </p:sp>
      <p:sp>
        <p:nvSpPr>
          <p:cNvPr id="9" name="Text 7"/>
          <p:cNvSpPr txBox="1"/>
          <p:nvPr/>
        </p:nvSpPr>
        <p:spPr>
          <a:xfrm>
            <a:off x="1353312" y="3063240"/>
            <a:ext cx="6400800" cy="310896"/>
          </a:xfrm>
          <a:prstGeom prst="rect">
            <a:avLst/>
          </a:prstGeom>
          <a:noFill/>
          <a:ln/>
        </p:spPr>
        <p:txBody>
          <a:bodyPr wrap="square" lIns="0" tIns="0" rIns="0" bIns="0" rtlCol="0" anchor="t"/>
          <a:lstStyle/>
          <a:p>
            <a:pPr algn="l" indent="0" marL="0">
              <a:lnSpc>
                <a:spcPct val="108000"/>
              </a:lnSpc>
              <a:buNone/>
            </a:pPr>
            <a:r>
              <a:rPr lang="en-US" sz="1500" dirty="0">
                <a:solidFill>
                  <a:srgbClr val="7C89A3"/>
                </a:solidFill>
                <a:latin typeface="IBM Plex Mono" pitchFamily="34" charset="0"/>
                <a:ea typeface="IBM Plex Mono" pitchFamily="34" charset="-122"/>
                <a:cs typeface="IBM Plex Mono" pitchFamily="34" charset="-120"/>
              </a:rPr>
              <a:t>DATA LAYER</a:t>
            </a:r>
            <a:endParaRPr lang="en-US" sz="1500" dirty="0"/>
          </a:p>
        </p:txBody>
      </p:sp>
      <p:sp>
        <p:nvSpPr>
          <p:cNvPr id="10" name="Text 8"/>
          <p:cNvSpPr txBox="1"/>
          <p:nvPr/>
        </p:nvSpPr>
        <p:spPr>
          <a:xfrm>
            <a:off x="1353312" y="3474720"/>
            <a:ext cx="6949440" cy="640080"/>
          </a:xfrm>
          <a:prstGeom prst="rect">
            <a:avLst/>
          </a:prstGeom>
          <a:noFill/>
          <a:ln/>
        </p:spPr>
        <p:txBody>
          <a:bodyPr wrap="square" lIns="0" tIns="0" rIns="0" bIns="0" rtlCol="0" anchor="t"/>
          <a:lstStyle/>
          <a:p>
            <a:pPr algn="l" indent="0" marL="0">
              <a:lnSpc>
                <a:spcPct val="108000"/>
              </a:lnSpc>
              <a:buNone/>
            </a:pPr>
            <a:r>
              <a:rPr lang="en-US" sz="3000" dirty="0">
                <a:solidFill>
                  <a:srgbClr val="EAF0FA"/>
                </a:solidFill>
                <a:latin typeface="Space Grotesk" pitchFamily="34" charset="0"/>
                <a:ea typeface="Space Grotesk" pitchFamily="34" charset="-122"/>
                <a:cs typeface="Space Grotesk" pitchFamily="34" charset="-120"/>
              </a:rPr>
              <a:t>Largely solved</a:t>
            </a:r>
            <a:endParaRPr lang="en-US" sz="3000" dirty="0"/>
          </a:p>
        </p:txBody>
      </p:sp>
      <p:sp>
        <p:nvSpPr>
          <p:cNvPr id="11" name="Text 9"/>
          <p:cNvSpPr txBox="1"/>
          <p:nvPr/>
        </p:nvSpPr>
        <p:spPr>
          <a:xfrm>
            <a:off x="1353312" y="4434840"/>
            <a:ext cx="457200" cy="457200"/>
          </a:xfrm>
          <a:prstGeom prst="rect">
            <a:avLst/>
          </a:prstGeom>
          <a:noFill/>
          <a:ln/>
        </p:spPr>
        <p:txBody>
          <a:bodyPr wrap="square" lIns="0" tIns="0" rIns="0" bIns="0" rtlCol="0" anchor="t"/>
          <a:lstStyle/>
          <a:p>
            <a:pPr algn="l" indent="0" marL="0">
              <a:lnSpc>
                <a:spcPct val="108000"/>
              </a:lnSpc>
              <a:buNone/>
            </a:pPr>
            <a:r>
              <a:rPr lang="en-US" sz="2000" dirty="0">
                <a:solidFill>
                  <a:srgbClr val="7C89A3"/>
                </a:solidFill>
                <a:latin typeface="IBM Plex Mono" pitchFamily="34" charset="0"/>
                <a:ea typeface="IBM Plex Mono" pitchFamily="34" charset="-122"/>
                <a:cs typeface="IBM Plex Mono" pitchFamily="34" charset="-120"/>
              </a:rPr>
              <a:t>✓</a:t>
            </a:r>
            <a:endParaRPr lang="en-US" sz="2000" dirty="0"/>
          </a:p>
        </p:txBody>
      </p:sp>
      <p:sp>
        <p:nvSpPr>
          <p:cNvPr id="12" name="Text 10"/>
          <p:cNvSpPr txBox="1"/>
          <p:nvPr/>
        </p:nvSpPr>
        <p:spPr>
          <a:xfrm>
            <a:off x="1856232" y="4434840"/>
            <a:ext cx="6675120" cy="731520"/>
          </a:xfrm>
          <a:prstGeom prst="rect">
            <a:avLst/>
          </a:prstGeom>
          <a:noFill/>
          <a:ln/>
        </p:spPr>
        <p:txBody>
          <a:bodyPr wrap="square" lIns="0" tIns="0" rIns="0" bIns="0" rtlCol="0" anchor="t"/>
          <a:lstStyle/>
          <a:p>
            <a:pPr algn="l" indent="0" marL="0">
              <a:lnSpc>
                <a:spcPct val="108000"/>
              </a:lnSpc>
              <a:buNone/>
            </a:pPr>
            <a:r>
              <a:rPr lang="en-US" sz="1900" dirty="0">
                <a:solidFill>
                  <a:srgbClr val="B8C2D6"/>
                </a:solidFill>
                <a:latin typeface="IBM Plex Sans" pitchFamily="34" charset="0"/>
                <a:ea typeface="IBM Plex Sans" pitchFamily="34" charset="-122"/>
                <a:cs typeface="IBM Plex Sans" pitchFamily="34" charset="-120"/>
              </a:rPr>
              <a:t>Delete the account, logs and stored records</a:t>
            </a:r>
            <a:endParaRPr lang="en-US" sz="1900" dirty="0"/>
          </a:p>
        </p:txBody>
      </p:sp>
      <p:sp>
        <p:nvSpPr>
          <p:cNvPr id="13" name="Text 11"/>
          <p:cNvSpPr txBox="1"/>
          <p:nvPr/>
        </p:nvSpPr>
        <p:spPr>
          <a:xfrm>
            <a:off x="1353312" y="5303520"/>
            <a:ext cx="457200" cy="457200"/>
          </a:xfrm>
          <a:prstGeom prst="rect">
            <a:avLst/>
          </a:prstGeom>
          <a:noFill/>
          <a:ln/>
        </p:spPr>
        <p:txBody>
          <a:bodyPr wrap="square" lIns="0" tIns="0" rIns="0" bIns="0" rtlCol="0" anchor="t"/>
          <a:lstStyle/>
          <a:p>
            <a:pPr algn="l" indent="0" marL="0">
              <a:lnSpc>
                <a:spcPct val="108000"/>
              </a:lnSpc>
              <a:buNone/>
            </a:pPr>
            <a:r>
              <a:rPr lang="en-US" sz="2000" dirty="0">
                <a:solidFill>
                  <a:srgbClr val="7C89A3"/>
                </a:solidFill>
                <a:latin typeface="IBM Plex Mono" pitchFamily="34" charset="0"/>
                <a:ea typeface="IBM Plex Mono" pitchFamily="34" charset="-122"/>
                <a:cs typeface="IBM Plex Mono" pitchFamily="34" charset="-120"/>
              </a:rPr>
              <a:t>✓</a:t>
            </a:r>
            <a:endParaRPr lang="en-US" sz="2000" dirty="0"/>
          </a:p>
        </p:txBody>
      </p:sp>
      <p:sp>
        <p:nvSpPr>
          <p:cNvPr id="14" name="Text 12"/>
          <p:cNvSpPr txBox="1"/>
          <p:nvPr/>
        </p:nvSpPr>
        <p:spPr>
          <a:xfrm>
            <a:off x="1856232" y="5303520"/>
            <a:ext cx="6675120" cy="731520"/>
          </a:xfrm>
          <a:prstGeom prst="rect">
            <a:avLst/>
          </a:prstGeom>
          <a:noFill/>
          <a:ln/>
        </p:spPr>
        <p:txBody>
          <a:bodyPr wrap="square" lIns="0" tIns="0" rIns="0" bIns="0" rtlCol="0" anchor="t"/>
          <a:lstStyle/>
          <a:p>
            <a:pPr algn="l" indent="0" marL="0">
              <a:lnSpc>
                <a:spcPct val="108000"/>
              </a:lnSpc>
              <a:buNone/>
            </a:pPr>
            <a:r>
              <a:rPr lang="en-US" sz="1900" dirty="0">
                <a:solidFill>
                  <a:srgbClr val="B8C2D6"/>
                </a:solidFill>
                <a:latin typeface="IBM Plex Sans" pitchFamily="34" charset="0"/>
                <a:ea typeface="IBM Plex Sans" pitchFamily="34" charset="-122"/>
                <a:cs typeface="IBM Plex Sans" pitchFamily="34" charset="-120"/>
              </a:rPr>
              <a:t>Exclude the data from future training runs</a:t>
            </a:r>
            <a:endParaRPr lang="en-US" sz="1900" dirty="0"/>
          </a:p>
        </p:txBody>
      </p:sp>
      <p:sp>
        <p:nvSpPr>
          <p:cNvPr id="15" name="Text 13"/>
          <p:cNvSpPr txBox="1"/>
          <p:nvPr/>
        </p:nvSpPr>
        <p:spPr>
          <a:xfrm>
            <a:off x="1353312" y="6172200"/>
            <a:ext cx="457200" cy="457200"/>
          </a:xfrm>
          <a:prstGeom prst="rect">
            <a:avLst/>
          </a:prstGeom>
          <a:noFill/>
          <a:ln/>
        </p:spPr>
        <p:txBody>
          <a:bodyPr wrap="square" lIns="0" tIns="0" rIns="0" bIns="0" rtlCol="0" anchor="t"/>
          <a:lstStyle/>
          <a:p>
            <a:pPr algn="l" indent="0" marL="0">
              <a:lnSpc>
                <a:spcPct val="108000"/>
              </a:lnSpc>
              <a:buNone/>
            </a:pPr>
            <a:r>
              <a:rPr lang="en-US" sz="2000" dirty="0">
                <a:solidFill>
                  <a:srgbClr val="7C89A3"/>
                </a:solidFill>
                <a:latin typeface="IBM Plex Mono" pitchFamily="34" charset="0"/>
                <a:ea typeface="IBM Plex Mono" pitchFamily="34" charset="-122"/>
                <a:cs typeface="IBM Plex Mono" pitchFamily="34" charset="-120"/>
              </a:rPr>
              <a:t>✓</a:t>
            </a:r>
            <a:endParaRPr lang="en-US" sz="2000" dirty="0"/>
          </a:p>
        </p:txBody>
      </p:sp>
      <p:sp>
        <p:nvSpPr>
          <p:cNvPr id="16" name="Text 14"/>
          <p:cNvSpPr txBox="1"/>
          <p:nvPr/>
        </p:nvSpPr>
        <p:spPr>
          <a:xfrm>
            <a:off x="1856232" y="6172200"/>
            <a:ext cx="6675120" cy="731520"/>
          </a:xfrm>
          <a:prstGeom prst="rect">
            <a:avLst/>
          </a:prstGeom>
          <a:noFill/>
          <a:ln/>
        </p:spPr>
        <p:txBody>
          <a:bodyPr wrap="square" lIns="0" tIns="0" rIns="0" bIns="0" rtlCol="0" anchor="t"/>
          <a:lstStyle/>
          <a:p>
            <a:pPr algn="l" indent="0" marL="0">
              <a:lnSpc>
                <a:spcPct val="108000"/>
              </a:lnSpc>
              <a:buNone/>
            </a:pPr>
            <a:r>
              <a:rPr lang="en-US" sz="1900" dirty="0">
                <a:solidFill>
                  <a:srgbClr val="B8C2D6"/>
                </a:solidFill>
                <a:latin typeface="IBM Plex Sans" pitchFamily="34" charset="0"/>
                <a:ea typeface="IBM Plex Sans" pitchFamily="34" charset="-122"/>
                <a:cs typeface="IBM Plex Sans" pitchFamily="34" charset="-120"/>
              </a:rPr>
              <a:t>Drop it from retrieval and RAG indexes</a:t>
            </a:r>
            <a:endParaRPr lang="en-US" sz="1900" dirty="0"/>
          </a:p>
        </p:txBody>
      </p:sp>
      <p:sp>
        <p:nvSpPr>
          <p:cNvPr id="17" name="Text 15"/>
          <p:cNvSpPr txBox="1"/>
          <p:nvPr/>
        </p:nvSpPr>
        <p:spPr>
          <a:xfrm>
            <a:off x="1353312" y="7040880"/>
            <a:ext cx="457200" cy="457200"/>
          </a:xfrm>
          <a:prstGeom prst="rect">
            <a:avLst/>
          </a:prstGeom>
          <a:noFill/>
          <a:ln/>
        </p:spPr>
        <p:txBody>
          <a:bodyPr wrap="square" lIns="0" tIns="0" rIns="0" bIns="0" rtlCol="0" anchor="t"/>
          <a:lstStyle/>
          <a:p>
            <a:pPr algn="l" indent="0" marL="0">
              <a:lnSpc>
                <a:spcPct val="108000"/>
              </a:lnSpc>
              <a:buNone/>
            </a:pPr>
            <a:r>
              <a:rPr lang="en-US" sz="2000" dirty="0">
                <a:solidFill>
                  <a:srgbClr val="7C89A3"/>
                </a:solidFill>
                <a:latin typeface="IBM Plex Mono" pitchFamily="34" charset="0"/>
                <a:ea typeface="IBM Plex Mono" pitchFamily="34" charset="-122"/>
                <a:cs typeface="IBM Plex Mono" pitchFamily="34" charset="-120"/>
              </a:rPr>
              <a:t>✓</a:t>
            </a:r>
            <a:endParaRPr lang="en-US" sz="2000" dirty="0"/>
          </a:p>
        </p:txBody>
      </p:sp>
      <p:sp>
        <p:nvSpPr>
          <p:cNvPr id="18" name="Text 16"/>
          <p:cNvSpPr txBox="1"/>
          <p:nvPr/>
        </p:nvSpPr>
        <p:spPr>
          <a:xfrm>
            <a:off x="1856232" y="7040880"/>
            <a:ext cx="6675120" cy="731520"/>
          </a:xfrm>
          <a:prstGeom prst="rect">
            <a:avLst/>
          </a:prstGeom>
          <a:noFill/>
          <a:ln/>
        </p:spPr>
        <p:txBody>
          <a:bodyPr wrap="square" lIns="0" tIns="0" rIns="0" bIns="0" rtlCol="0" anchor="t"/>
          <a:lstStyle/>
          <a:p>
            <a:pPr algn="l" indent="0" marL="0">
              <a:lnSpc>
                <a:spcPct val="108000"/>
              </a:lnSpc>
              <a:buNone/>
            </a:pPr>
            <a:r>
              <a:rPr lang="en-US" sz="1900" dirty="0">
                <a:solidFill>
                  <a:srgbClr val="B8C2D6"/>
                </a:solidFill>
                <a:latin typeface="IBM Plex Sans" pitchFamily="34" charset="0"/>
                <a:ea typeface="IBM Plex Sans" pitchFamily="34" charset="-122"/>
                <a:cs typeface="IBM Plex Sans" pitchFamily="34" charset="-120"/>
              </a:rPr>
              <a:t>Filter or refuse the output at inference time</a:t>
            </a:r>
            <a:endParaRPr lang="en-US" sz="1900" dirty="0"/>
          </a:p>
        </p:txBody>
      </p:sp>
      <p:sp>
        <p:nvSpPr>
          <p:cNvPr id="19" name="Shape 17"/>
          <p:cNvSpPr/>
          <p:nvPr/>
        </p:nvSpPr>
        <p:spPr>
          <a:xfrm>
            <a:off x="9217152" y="2743200"/>
            <a:ext cx="7863840" cy="5486400"/>
          </a:xfrm>
          <a:prstGeom prst="roundRect">
            <a:avLst>
              <a:gd name="adj" fmla="val 1333"/>
            </a:avLst>
          </a:prstGeom>
          <a:solidFill>
            <a:srgbClr val="111B30"/>
          </a:solidFill>
          <a:ln w="12700">
            <a:solidFill>
              <a:srgbClr val="2DD4BF"/>
            </a:solidFill>
            <a:prstDash val="solid"/>
          </a:ln>
        </p:spPr>
      </p:sp>
      <p:sp>
        <p:nvSpPr>
          <p:cNvPr id="20" name="Text 18"/>
          <p:cNvSpPr txBox="1"/>
          <p:nvPr/>
        </p:nvSpPr>
        <p:spPr>
          <a:xfrm>
            <a:off x="9582912" y="3063240"/>
            <a:ext cx="6400800" cy="310896"/>
          </a:xfrm>
          <a:prstGeom prst="rect">
            <a:avLst/>
          </a:prstGeom>
          <a:noFill/>
          <a:ln/>
        </p:spPr>
        <p:txBody>
          <a:bodyPr wrap="square" lIns="0" tIns="0" rIns="0" bIns="0" rtlCol="0" anchor="t"/>
          <a:lstStyle/>
          <a:p>
            <a:pPr algn="l" indent="0" marL="0">
              <a:lnSpc>
                <a:spcPct val="108000"/>
              </a:lnSpc>
              <a:buNone/>
            </a:pPr>
            <a:r>
              <a:rPr lang="en-US" sz="1500" dirty="0">
                <a:solidFill>
                  <a:srgbClr val="2DD4BF"/>
                </a:solidFill>
                <a:latin typeface="IBM Plex Mono" pitchFamily="34" charset="0"/>
                <a:ea typeface="IBM Plex Mono" pitchFamily="34" charset="-122"/>
                <a:cs typeface="IBM Plex Mono" pitchFamily="34" charset="-120"/>
              </a:rPr>
              <a:t>MODEL LAYER</a:t>
            </a:r>
            <a:endParaRPr lang="en-US" sz="1500" dirty="0"/>
          </a:p>
        </p:txBody>
      </p:sp>
      <p:sp>
        <p:nvSpPr>
          <p:cNvPr id="21" name="Text 19"/>
          <p:cNvSpPr txBox="1"/>
          <p:nvPr/>
        </p:nvSpPr>
        <p:spPr>
          <a:xfrm>
            <a:off x="9582912" y="3474720"/>
            <a:ext cx="6949440" cy="640080"/>
          </a:xfrm>
          <a:prstGeom prst="rect">
            <a:avLst/>
          </a:prstGeom>
          <a:noFill/>
          <a:ln/>
        </p:spPr>
        <p:txBody>
          <a:bodyPr wrap="square" lIns="0" tIns="0" rIns="0" bIns="0" rtlCol="0" anchor="t"/>
          <a:lstStyle/>
          <a:p>
            <a:pPr algn="l" indent="0" marL="0">
              <a:lnSpc>
                <a:spcPct val="108000"/>
              </a:lnSpc>
              <a:buNone/>
            </a:pPr>
            <a:r>
              <a:rPr lang="en-US" sz="3000" dirty="0">
                <a:solidFill>
                  <a:srgbClr val="EAF0FA"/>
                </a:solidFill>
                <a:latin typeface="Space Grotesk" pitchFamily="34" charset="0"/>
                <a:ea typeface="Space Grotesk" pitchFamily="34" charset="-122"/>
                <a:cs typeface="Space Grotesk" pitchFamily="34" charset="-120"/>
              </a:rPr>
              <a:t>Unresolved</a:t>
            </a:r>
            <a:endParaRPr lang="en-US" sz="3000" dirty="0"/>
          </a:p>
        </p:txBody>
      </p:sp>
      <p:sp>
        <p:nvSpPr>
          <p:cNvPr id="22" name="Text 20"/>
          <p:cNvSpPr txBox="1"/>
          <p:nvPr/>
        </p:nvSpPr>
        <p:spPr>
          <a:xfrm>
            <a:off x="9582912" y="4434840"/>
            <a:ext cx="457200" cy="457200"/>
          </a:xfrm>
          <a:prstGeom prst="rect">
            <a:avLst/>
          </a:prstGeom>
          <a:noFill/>
          <a:ln/>
        </p:spPr>
        <p:txBody>
          <a:bodyPr wrap="square" lIns="0" tIns="0" rIns="0" bIns="0" rtlCol="0" anchor="t"/>
          <a:lstStyle/>
          <a:p>
            <a:pPr algn="l" indent="0" marL="0">
              <a:lnSpc>
                <a:spcPct val="108000"/>
              </a:lnSpc>
              <a:buNone/>
            </a:pPr>
            <a:r>
              <a:rPr lang="en-US" sz="2000" dirty="0">
                <a:solidFill>
                  <a:srgbClr val="2DD4BF"/>
                </a:solidFill>
                <a:latin typeface="IBM Plex Mono" pitchFamily="34" charset="0"/>
                <a:ea typeface="IBM Plex Mono" pitchFamily="34" charset="-122"/>
                <a:cs typeface="IBM Plex Mono" pitchFamily="34" charset="-120"/>
              </a:rPr>
              <a:t>?</a:t>
            </a:r>
            <a:endParaRPr lang="en-US" sz="2000" dirty="0"/>
          </a:p>
        </p:txBody>
      </p:sp>
      <p:sp>
        <p:nvSpPr>
          <p:cNvPr id="23" name="Text 21"/>
          <p:cNvSpPr txBox="1"/>
          <p:nvPr/>
        </p:nvSpPr>
        <p:spPr>
          <a:xfrm>
            <a:off x="10085832" y="4434840"/>
            <a:ext cx="6675120" cy="731520"/>
          </a:xfrm>
          <a:prstGeom prst="rect">
            <a:avLst/>
          </a:prstGeom>
          <a:noFill/>
          <a:ln/>
        </p:spPr>
        <p:txBody>
          <a:bodyPr wrap="square" lIns="0" tIns="0" rIns="0" bIns="0" rtlCol="0" anchor="t"/>
          <a:lstStyle/>
          <a:p>
            <a:pPr algn="l" indent="0" marL="0">
              <a:lnSpc>
                <a:spcPct val="108000"/>
              </a:lnSpc>
              <a:buNone/>
            </a:pPr>
            <a:r>
              <a:rPr lang="en-US" sz="1900" dirty="0">
                <a:solidFill>
                  <a:srgbClr val="B8C2D6"/>
                </a:solidFill>
                <a:latin typeface="IBM Plex Sans" pitchFamily="34" charset="0"/>
                <a:ea typeface="IBM Plex Sans" pitchFamily="34" charset="-122"/>
                <a:cs typeface="IBM Plex Sans" pitchFamily="34" charset="-120"/>
              </a:rPr>
              <a:t>Certify the content is gone from deployed weights</a:t>
            </a:r>
            <a:endParaRPr lang="en-US" sz="1900" dirty="0"/>
          </a:p>
        </p:txBody>
      </p:sp>
      <p:sp>
        <p:nvSpPr>
          <p:cNvPr id="24" name="Text 22"/>
          <p:cNvSpPr txBox="1"/>
          <p:nvPr/>
        </p:nvSpPr>
        <p:spPr>
          <a:xfrm>
            <a:off x="9582912" y="5303520"/>
            <a:ext cx="457200" cy="457200"/>
          </a:xfrm>
          <a:prstGeom prst="rect">
            <a:avLst/>
          </a:prstGeom>
          <a:noFill/>
          <a:ln/>
        </p:spPr>
        <p:txBody>
          <a:bodyPr wrap="square" lIns="0" tIns="0" rIns="0" bIns="0" rtlCol="0" anchor="t"/>
          <a:lstStyle/>
          <a:p>
            <a:pPr algn="l" indent="0" marL="0">
              <a:lnSpc>
                <a:spcPct val="108000"/>
              </a:lnSpc>
              <a:buNone/>
            </a:pPr>
            <a:r>
              <a:rPr lang="en-US" sz="2000" dirty="0">
                <a:solidFill>
                  <a:srgbClr val="2DD4BF"/>
                </a:solidFill>
                <a:latin typeface="IBM Plex Mono" pitchFamily="34" charset="0"/>
                <a:ea typeface="IBM Plex Mono" pitchFamily="34" charset="-122"/>
                <a:cs typeface="IBM Plex Mono" pitchFamily="34" charset="-120"/>
              </a:rPr>
              <a:t>?</a:t>
            </a:r>
            <a:endParaRPr lang="en-US" sz="2000" dirty="0"/>
          </a:p>
        </p:txBody>
      </p:sp>
      <p:sp>
        <p:nvSpPr>
          <p:cNvPr id="25" name="Text 23"/>
          <p:cNvSpPr txBox="1"/>
          <p:nvPr/>
        </p:nvSpPr>
        <p:spPr>
          <a:xfrm>
            <a:off x="10085832" y="5303520"/>
            <a:ext cx="6675120" cy="731520"/>
          </a:xfrm>
          <a:prstGeom prst="rect">
            <a:avLst/>
          </a:prstGeom>
          <a:noFill/>
          <a:ln/>
        </p:spPr>
        <p:txBody>
          <a:bodyPr wrap="square" lIns="0" tIns="0" rIns="0" bIns="0" rtlCol="0" anchor="t"/>
          <a:lstStyle/>
          <a:p>
            <a:pPr algn="l" indent="0" marL="0">
              <a:lnSpc>
                <a:spcPct val="108000"/>
              </a:lnSpc>
              <a:buNone/>
            </a:pPr>
            <a:r>
              <a:rPr lang="en-US" sz="1900" dirty="0">
                <a:solidFill>
                  <a:srgbClr val="B8C2D6"/>
                </a:solidFill>
                <a:latin typeface="IBM Plex Sans" pitchFamily="34" charset="0"/>
                <a:ea typeface="IBM Plex Sans" pitchFamily="34" charset="-122"/>
                <a:cs typeface="IBM Plex Sans" pitchFamily="34" charset="-120"/>
              </a:rPr>
              <a:t>Keep it gone after further fine-tuning</a:t>
            </a:r>
            <a:endParaRPr lang="en-US" sz="1900" dirty="0"/>
          </a:p>
        </p:txBody>
      </p:sp>
      <p:sp>
        <p:nvSpPr>
          <p:cNvPr id="26" name="Text 24"/>
          <p:cNvSpPr txBox="1"/>
          <p:nvPr/>
        </p:nvSpPr>
        <p:spPr>
          <a:xfrm>
            <a:off x="9582912" y="6172200"/>
            <a:ext cx="457200" cy="457200"/>
          </a:xfrm>
          <a:prstGeom prst="rect">
            <a:avLst/>
          </a:prstGeom>
          <a:noFill/>
          <a:ln/>
        </p:spPr>
        <p:txBody>
          <a:bodyPr wrap="square" lIns="0" tIns="0" rIns="0" bIns="0" rtlCol="0" anchor="t"/>
          <a:lstStyle/>
          <a:p>
            <a:pPr algn="l" indent="0" marL="0">
              <a:lnSpc>
                <a:spcPct val="108000"/>
              </a:lnSpc>
              <a:buNone/>
            </a:pPr>
            <a:r>
              <a:rPr lang="en-US" sz="2000" dirty="0">
                <a:solidFill>
                  <a:srgbClr val="2DD4BF"/>
                </a:solidFill>
                <a:latin typeface="IBM Plex Mono" pitchFamily="34" charset="0"/>
                <a:ea typeface="IBM Plex Mono" pitchFamily="34" charset="-122"/>
                <a:cs typeface="IBM Plex Mono" pitchFamily="34" charset="-120"/>
              </a:rPr>
              <a:t>?</a:t>
            </a:r>
            <a:endParaRPr lang="en-US" sz="2000" dirty="0"/>
          </a:p>
        </p:txBody>
      </p:sp>
      <p:sp>
        <p:nvSpPr>
          <p:cNvPr id="27" name="Text 25"/>
          <p:cNvSpPr txBox="1"/>
          <p:nvPr/>
        </p:nvSpPr>
        <p:spPr>
          <a:xfrm>
            <a:off x="10085832" y="6172200"/>
            <a:ext cx="6675120" cy="731520"/>
          </a:xfrm>
          <a:prstGeom prst="rect">
            <a:avLst/>
          </a:prstGeom>
          <a:noFill/>
          <a:ln/>
        </p:spPr>
        <p:txBody>
          <a:bodyPr wrap="square" lIns="0" tIns="0" rIns="0" bIns="0" rtlCol="0" anchor="t"/>
          <a:lstStyle/>
          <a:p>
            <a:pPr algn="l" indent="0" marL="0">
              <a:lnSpc>
                <a:spcPct val="108000"/>
              </a:lnSpc>
              <a:buNone/>
            </a:pPr>
            <a:r>
              <a:rPr lang="en-US" sz="1900" dirty="0">
                <a:solidFill>
                  <a:srgbClr val="B8C2D6"/>
                </a:solidFill>
                <a:latin typeface="IBM Plex Sans" pitchFamily="34" charset="0"/>
                <a:ea typeface="IBM Plex Sans" pitchFamily="34" charset="-122"/>
                <a:cs typeface="IBM Plex Sans" pitchFamily="34" charset="-120"/>
              </a:rPr>
              <a:t>Do it per request, without a retrain-scale budget</a:t>
            </a:r>
            <a:endParaRPr lang="en-US" sz="1900" dirty="0"/>
          </a:p>
        </p:txBody>
      </p:sp>
      <p:sp>
        <p:nvSpPr>
          <p:cNvPr id="28" name="Text 26"/>
          <p:cNvSpPr txBox="1"/>
          <p:nvPr/>
        </p:nvSpPr>
        <p:spPr>
          <a:xfrm>
            <a:off x="9582912" y="7040880"/>
            <a:ext cx="457200" cy="457200"/>
          </a:xfrm>
          <a:prstGeom prst="rect">
            <a:avLst/>
          </a:prstGeom>
          <a:noFill/>
          <a:ln/>
        </p:spPr>
        <p:txBody>
          <a:bodyPr wrap="square" lIns="0" tIns="0" rIns="0" bIns="0" rtlCol="0" anchor="t"/>
          <a:lstStyle/>
          <a:p>
            <a:pPr algn="l" indent="0" marL="0">
              <a:lnSpc>
                <a:spcPct val="108000"/>
              </a:lnSpc>
              <a:buNone/>
            </a:pPr>
            <a:r>
              <a:rPr lang="en-US" sz="2000" dirty="0">
                <a:solidFill>
                  <a:srgbClr val="2DD4BF"/>
                </a:solidFill>
                <a:latin typeface="IBM Plex Mono" pitchFamily="34" charset="0"/>
                <a:ea typeface="IBM Plex Mono" pitchFamily="34" charset="-122"/>
                <a:cs typeface="IBM Plex Mono" pitchFamily="34" charset="-120"/>
              </a:rPr>
              <a:t>?</a:t>
            </a:r>
            <a:endParaRPr lang="en-US" sz="2000" dirty="0"/>
          </a:p>
        </p:txBody>
      </p:sp>
      <p:sp>
        <p:nvSpPr>
          <p:cNvPr id="29" name="Text 27"/>
          <p:cNvSpPr txBox="1"/>
          <p:nvPr/>
        </p:nvSpPr>
        <p:spPr>
          <a:xfrm>
            <a:off x="10085832" y="7040880"/>
            <a:ext cx="6675120" cy="731520"/>
          </a:xfrm>
          <a:prstGeom prst="rect">
            <a:avLst/>
          </a:prstGeom>
          <a:noFill/>
          <a:ln/>
        </p:spPr>
        <p:txBody>
          <a:bodyPr wrap="square" lIns="0" tIns="0" rIns="0" bIns="0" rtlCol="0" anchor="t"/>
          <a:lstStyle/>
          <a:p>
            <a:pPr algn="l" indent="0" marL="0">
              <a:lnSpc>
                <a:spcPct val="108000"/>
              </a:lnSpc>
              <a:buNone/>
            </a:pPr>
            <a:r>
              <a:rPr lang="en-US" sz="1900" dirty="0">
                <a:solidFill>
                  <a:srgbClr val="B8C2D6"/>
                </a:solidFill>
                <a:latin typeface="IBM Plex Sans" pitchFamily="34" charset="0"/>
                <a:ea typeface="IBM Plex Sans" pitchFamily="34" charset="-122"/>
                <a:cs typeface="IBM Plex Sans" pitchFamily="34" charset="-120"/>
              </a:rPr>
              <a:t>Produce evidence a regulator would accept</a:t>
            </a:r>
            <a:endParaRPr lang="en-US" sz="1900" dirty="0"/>
          </a:p>
        </p:txBody>
      </p:sp>
      <p:sp>
        <p:nvSpPr>
          <p:cNvPr id="30" name="Text 28"/>
          <p:cNvSpPr txBox="1"/>
          <p:nvPr/>
        </p:nvSpPr>
        <p:spPr>
          <a:xfrm>
            <a:off x="987552" y="8549640"/>
            <a:ext cx="16093440" cy="457200"/>
          </a:xfrm>
          <a:prstGeom prst="rect">
            <a:avLst/>
          </a:prstGeom>
          <a:noFill/>
          <a:ln/>
        </p:spPr>
        <p:txBody>
          <a:bodyPr wrap="square" lIns="0" tIns="0" rIns="0" bIns="0" rtlCol="0" anchor="t"/>
          <a:lstStyle/>
          <a:p>
            <a:pPr algn="l" indent="0" marL="0">
              <a:lnSpc>
                <a:spcPct val="108000"/>
              </a:lnSpc>
              <a:buNone/>
            </a:pPr>
            <a:r>
              <a:rPr lang="en-US" sz="1800" i="1" dirty="0">
                <a:solidFill>
                  <a:srgbClr val="7C89A3"/>
                </a:solidFill>
                <a:latin typeface="IBM Plex Sans" pitchFamily="34" charset="0"/>
                <a:ea typeface="IBM Plex Sans" pitchFamily="34" charset="-122"/>
                <a:cs typeface="IBM Plex Sans" pitchFamily="34" charset="-120"/>
              </a:rPr>
              <a:t>This is the layer HRU addresses — the third item directly, the second through its durability probe.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020"/>
        </a:solidFill>
      </p:bgPr>
    </p:bg>
    <p:spTree>
      <p:nvGrpSpPr>
        <p:cNvPr id="1" name=""/>
        <p:cNvGrpSpPr/>
        <p:nvPr/>
      </p:nvGrpSpPr>
      <p:grpSpPr>
        <a:xfrm>
          <a:off x="0" y="0"/>
          <a:ext cx="0" cy="0"/>
          <a:chOff x="0" y="0"/>
          <a:chExt cx="0" cy="0"/>
        </a:xfrm>
      </p:grpSpPr>
      <p:sp>
        <p:nvSpPr>
          <p:cNvPr id="2" name="Text 0"/>
          <p:cNvSpPr txBox="1"/>
          <p:nvPr/>
        </p:nvSpPr>
        <p:spPr>
          <a:xfrm>
            <a:off x="987552" y="722376"/>
            <a:ext cx="731520" cy="329184"/>
          </a:xfrm>
          <a:prstGeom prst="rect">
            <a:avLst/>
          </a:prstGeom>
          <a:noFill/>
          <a:ln/>
        </p:spPr>
        <p:txBody>
          <a:bodyPr wrap="square" lIns="0" tIns="0" rIns="0" bIns="0" rtlCol="0" anchor="t"/>
          <a:lstStyle/>
          <a:p>
            <a:pPr algn="l" indent="0" marL="0">
              <a:lnSpc>
                <a:spcPct val="108000"/>
              </a:lnSpc>
              <a:buNone/>
            </a:pPr>
            <a:r>
              <a:rPr lang="en-US" sz="1800" dirty="0">
                <a:solidFill>
                  <a:srgbClr val="2DD4BF"/>
                </a:solidFill>
                <a:latin typeface="IBM Plex Mono" pitchFamily="34" charset="0"/>
                <a:ea typeface="IBM Plex Mono" pitchFamily="34" charset="-122"/>
                <a:cs typeface="IBM Plex Mono" pitchFamily="34" charset="-120"/>
              </a:rPr>
              <a:t>04</a:t>
            </a:r>
            <a:endParaRPr lang="en-US" sz="1800" dirty="0"/>
          </a:p>
        </p:txBody>
      </p:sp>
      <p:sp>
        <p:nvSpPr>
          <p:cNvPr id="3" name="Text 1"/>
          <p:cNvSpPr txBox="1"/>
          <p:nvPr/>
        </p:nvSpPr>
        <p:spPr>
          <a:xfrm>
            <a:off x="1938528" y="722376"/>
            <a:ext cx="9144000" cy="329184"/>
          </a:xfrm>
          <a:prstGeom prst="rect">
            <a:avLst/>
          </a:prstGeom>
          <a:noFill/>
          <a:ln/>
        </p:spPr>
        <p:txBody>
          <a:bodyPr wrap="square" lIns="0" tIns="0" rIns="0" bIns="0" rtlCol="0" anchor="t"/>
          <a:lstStyle/>
          <a:p>
            <a:pPr algn="l" indent="0" marL="0">
              <a:lnSpc>
                <a:spcPct val="108000"/>
              </a:lnSpc>
              <a:buNone/>
            </a:pPr>
            <a:r>
              <a:rPr lang="en-US" sz="1800" dirty="0">
                <a:solidFill>
                  <a:srgbClr val="7C89A3"/>
                </a:solidFill>
                <a:latin typeface="IBM Plex Mono" pitchFamily="34" charset="0"/>
                <a:ea typeface="IBM Plex Mono" pitchFamily="34" charset="-122"/>
                <a:cs typeface="IBM Plex Mono" pitchFamily="34" charset="-120"/>
              </a:rPr>
              <a:t>PROBLEM STATEMENT</a:t>
            </a:r>
            <a:endParaRPr lang="en-US" sz="1800" dirty="0"/>
          </a:p>
        </p:txBody>
      </p:sp>
      <p:sp>
        <p:nvSpPr>
          <p:cNvPr id="4" name="Text 2"/>
          <p:cNvSpPr txBox="1"/>
          <p:nvPr/>
        </p:nvSpPr>
        <p:spPr>
          <a:xfrm>
            <a:off x="987552" y="1170432"/>
            <a:ext cx="16093440" cy="731520"/>
          </a:xfrm>
          <a:prstGeom prst="rect">
            <a:avLst/>
          </a:prstGeom>
          <a:noFill/>
          <a:ln/>
        </p:spPr>
        <p:txBody>
          <a:bodyPr wrap="square" lIns="0" tIns="0" rIns="0" bIns="0" rtlCol="0" anchor="t"/>
          <a:lstStyle/>
          <a:p>
            <a:pPr algn="l" indent="0" marL="0">
              <a:lnSpc>
                <a:spcPct val="108000"/>
              </a:lnSpc>
              <a:buNone/>
            </a:pPr>
            <a:r>
              <a:rPr lang="en-US" sz="4200" dirty="0">
                <a:solidFill>
                  <a:srgbClr val="EAF0FA"/>
                </a:solidFill>
                <a:latin typeface="Space Grotesk" pitchFamily="34" charset="0"/>
                <a:ea typeface="Space Grotesk" pitchFamily="34" charset="-122"/>
                <a:cs typeface="Space Grotesk" pitchFamily="34" charset="-120"/>
              </a:rPr>
              <a:t>And When You Scrub It, It Comes Back</a:t>
            </a:r>
            <a:endParaRPr lang="en-US" sz="4200" dirty="0"/>
          </a:p>
        </p:txBody>
      </p:sp>
      <p:sp>
        <p:nvSpPr>
          <p:cNvPr id="5" name="Text 3"/>
          <p:cNvSpPr txBox="1"/>
          <p:nvPr/>
        </p:nvSpPr>
        <p:spPr>
          <a:xfrm>
            <a:off x="987552" y="9436608"/>
            <a:ext cx="4572000" cy="329184"/>
          </a:xfrm>
          <a:prstGeom prst="rect">
            <a:avLst/>
          </a:prstGeom>
          <a:noFill/>
          <a:ln/>
        </p:spPr>
        <p:txBody>
          <a:bodyPr wrap="square" lIns="0" tIns="0" rIns="0" bIns="0" rtlCol="0" anchor="t"/>
          <a:lstStyle/>
          <a:p>
            <a:pPr algn="l" indent="0" marL="0">
              <a:lnSpc>
                <a:spcPct val="108000"/>
              </a:lnSpc>
              <a:buNone/>
            </a:pPr>
            <a:r>
              <a:rPr lang="en-US" sz="1600" dirty="0">
                <a:solidFill>
                  <a:srgbClr val="38435C"/>
                </a:solidFill>
                <a:latin typeface="IBM Plex Mono" pitchFamily="34" charset="0"/>
                <a:ea typeface="IBM Plex Mono" pitchFamily="34" charset="-122"/>
                <a:cs typeface="IBM Plex Mono" pitchFamily="34" charset="-120"/>
              </a:rPr>
              <a:t>FORGETBENCH · HRU</a:t>
            </a:r>
            <a:endParaRPr lang="en-US" sz="1600" dirty="0"/>
          </a:p>
        </p:txBody>
      </p:sp>
      <p:sp>
        <p:nvSpPr>
          <p:cNvPr id="6" name="Text 4"/>
          <p:cNvSpPr txBox="1"/>
          <p:nvPr/>
        </p:nvSpPr>
        <p:spPr>
          <a:xfrm>
            <a:off x="12710160" y="9436608"/>
            <a:ext cx="4572000" cy="329184"/>
          </a:xfrm>
          <a:prstGeom prst="rect">
            <a:avLst/>
          </a:prstGeom>
          <a:noFill/>
          <a:ln/>
        </p:spPr>
        <p:txBody>
          <a:bodyPr wrap="square" lIns="0" tIns="0" rIns="0" bIns="0" rtlCol="0" anchor="t"/>
          <a:lstStyle/>
          <a:p>
            <a:pPr algn="r" indent="0" marL="0">
              <a:lnSpc>
                <a:spcPct val="108000"/>
              </a:lnSpc>
              <a:buNone/>
            </a:pPr>
            <a:r>
              <a:rPr lang="en-US" sz="1600" dirty="0">
                <a:solidFill>
                  <a:srgbClr val="38435C"/>
                </a:solidFill>
                <a:latin typeface="IBM Plex Mono" pitchFamily="34" charset="0"/>
                <a:ea typeface="IBM Plex Mono" pitchFamily="34" charset="-122"/>
                <a:cs typeface="IBM Plex Mono" pitchFamily="34" charset="-120"/>
              </a:rPr>
              <a:t>WOXSEN UNIVERSITY</a:t>
            </a:r>
            <a:endParaRPr lang="en-US" sz="1600" dirty="0"/>
          </a:p>
        </p:txBody>
      </p:sp>
      <p:sp>
        <p:nvSpPr>
          <p:cNvPr id="7" name="Shape 5"/>
          <p:cNvSpPr/>
          <p:nvPr/>
        </p:nvSpPr>
        <p:spPr>
          <a:xfrm>
            <a:off x="987552" y="2514600"/>
            <a:ext cx="8778240" cy="1691640"/>
          </a:xfrm>
          <a:prstGeom prst="roundRect">
            <a:avLst>
              <a:gd name="adj" fmla="val 4324"/>
            </a:avLst>
          </a:prstGeom>
          <a:solidFill>
            <a:srgbClr val="111B30"/>
          </a:solidFill>
          <a:ln w="12700">
            <a:solidFill>
              <a:srgbClr val="38435C"/>
            </a:solidFill>
            <a:prstDash val="solid"/>
          </a:ln>
        </p:spPr>
      </p:sp>
      <p:sp>
        <p:nvSpPr>
          <p:cNvPr id="8" name="Text 6"/>
          <p:cNvSpPr txBox="1"/>
          <p:nvPr/>
        </p:nvSpPr>
        <p:spPr>
          <a:xfrm>
            <a:off x="1307592" y="2743200"/>
            <a:ext cx="7772400" cy="310896"/>
          </a:xfrm>
          <a:prstGeom prst="rect">
            <a:avLst/>
          </a:prstGeom>
          <a:noFill/>
          <a:ln/>
        </p:spPr>
        <p:txBody>
          <a:bodyPr wrap="square" lIns="0" tIns="0" rIns="0" bIns="0" rtlCol="0" anchor="t"/>
          <a:lstStyle/>
          <a:p>
            <a:pPr algn="l" indent="0" marL="0">
              <a:lnSpc>
                <a:spcPct val="108000"/>
              </a:lnSpc>
              <a:buNone/>
            </a:pPr>
            <a:r>
              <a:rPr lang="en-US" sz="1500" dirty="0">
                <a:solidFill>
                  <a:srgbClr val="7C89A3"/>
                </a:solidFill>
                <a:latin typeface="IBM Plex Mono" pitchFamily="34" charset="0"/>
                <a:ea typeface="IBM Plex Mono" pitchFamily="34" charset="-122"/>
                <a:cs typeface="IBM Plex Mono" pitchFamily="34" charset="-120"/>
              </a:rPr>
              <a:t>STEP 1 · AFTER THE SCRUB</a:t>
            </a:r>
            <a:endParaRPr lang="en-US" sz="1500" dirty="0"/>
          </a:p>
        </p:txBody>
      </p:sp>
      <p:sp>
        <p:nvSpPr>
          <p:cNvPr id="9" name="Text 7"/>
          <p:cNvSpPr txBox="1"/>
          <p:nvPr/>
        </p:nvSpPr>
        <p:spPr>
          <a:xfrm>
            <a:off x="1307592" y="3108960"/>
            <a:ext cx="8229600" cy="502920"/>
          </a:xfrm>
          <a:prstGeom prst="rect">
            <a:avLst/>
          </a:prstGeom>
          <a:noFill/>
          <a:ln/>
        </p:spPr>
        <p:txBody>
          <a:bodyPr wrap="square" lIns="0" tIns="0" rIns="0" bIns="0" rtlCol="0" anchor="t"/>
          <a:lstStyle/>
          <a:p>
            <a:pPr algn="l" indent="0" marL="0">
              <a:lnSpc>
                <a:spcPct val="108000"/>
              </a:lnSpc>
              <a:buNone/>
            </a:pPr>
            <a:r>
              <a:rPr lang="en-US" sz="2500" dirty="0">
                <a:solidFill>
                  <a:srgbClr val="EAF0FA"/>
                </a:solidFill>
                <a:latin typeface="Space Grotesk" pitchFamily="34" charset="0"/>
                <a:ea typeface="Space Grotesk" pitchFamily="34" charset="-122"/>
                <a:cs typeface="Space Grotesk" pitchFamily="34" charset="-120"/>
              </a:rPr>
              <a:t>The model passes the forget test</a:t>
            </a:r>
            <a:endParaRPr lang="en-US" sz="2500" dirty="0"/>
          </a:p>
        </p:txBody>
      </p:sp>
      <p:sp>
        <p:nvSpPr>
          <p:cNvPr id="10" name="Text 8"/>
          <p:cNvSpPr txBox="1"/>
          <p:nvPr/>
        </p:nvSpPr>
        <p:spPr>
          <a:xfrm>
            <a:off x="1307592" y="3611880"/>
            <a:ext cx="8229600" cy="457200"/>
          </a:xfrm>
          <a:prstGeom prst="rect">
            <a:avLst/>
          </a:prstGeom>
          <a:noFill/>
          <a:ln/>
        </p:spPr>
        <p:txBody>
          <a:bodyPr wrap="square" lIns="0" tIns="0" rIns="0" bIns="0" rtlCol="0" anchor="t"/>
          <a:lstStyle/>
          <a:p>
            <a:pPr algn="l" indent="0" marL="0">
              <a:lnSpc>
                <a:spcPct val="108000"/>
              </a:lnSpc>
              <a:buNone/>
            </a:pPr>
            <a:r>
              <a:rPr lang="en-US" sz="1800" dirty="0">
                <a:solidFill>
                  <a:srgbClr val="B8C2D6"/>
                </a:solidFill>
                <a:latin typeface="IBM Plex Sans" pitchFamily="34" charset="0"/>
                <a:ea typeface="IBM Plex Sans" pitchFamily="34" charset="-122"/>
                <a:cs typeface="IBM Plex Sans" pitchFamily="34" charset="-120"/>
              </a:rPr>
              <a:t>Ask it directly and the content is gone.</a:t>
            </a:r>
            <a:endParaRPr lang="en-US" sz="1800" dirty="0"/>
          </a:p>
        </p:txBody>
      </p:sp>
      <p:sp>
        <p:nvSpPr>
          <p:cNvPr id="11" name="Shape 9"/>
          <p:cNvSpPr/>
          <p:nvPr/>
        </p:nvSpPr>
        <p:spPr>
          <a:xfrm>
            <a:off x="987552" y="4480560"/>
            <a:ext cx="8778240" cy="1691640"/>
          </a:xfrm>
          <a:prstGeom prst="roundRect">
            <a:avLst>
              <a:gd name="adj" fmla="val 4324"/>
            </a:avLst>
          </a:prstGeom>
          <a:solidFill>
            <a:srgbClr val="111B30"/>
          </a:solidFill>
          <a:ln w="12700">
            <a:solidFill>
              <a:srgbClr val="38435C"/>
            </a:solidFill>
            <a:prstDash val="solid"/>
          </a:ln>
        </p:spPr>
      </p:sp>
      <p:sp>
        <p:nvSpPr>
          <p:cNvPr id="12" name="Text 10"/>
          <p:cNvSpPr txBox="1"/>
          <p:nvPr/>
        </p:nvSpPr>
        <p:spPr>
          <a:xfrm>
            <a:off x="1307592" y="4709160"/>
            <a:ext cx="7772400" cy="310896"/>
          </a:xfrm>
          <a:prstGeom prst="rect">
            <a:avLst/>
          </a:prstGeom>
          <a:noFill/>
          <a:ln/>
        </p:spPr>
        <p:txBody>
          <a:bodyPr wrap="square" lIns="0" tIns="0" rIns="0" bIns="0" rtlCol="0" anchor="t"/>
          <a:lstStyle/>
          <a:p>
            <a:pPr algn="l" indent="0" marL="0">
              <a:lnSpc>
                <a:spcPct val="108000"/>
              </a:lnSpc>
              <a:buNone/>
            </a:pPr>
            <a:r>
              <a:rPr lang="en-US" sz="1500" dirty="0">
                <a:solidFill>
                  <a:srgbClr val="7C89A3"/>
                </a:solidFill>
                <a:latin typeface="IBM Plex Mono" pitchFamily="34" charset="0"/>
                <a:ea typeface="IBM Plex Mono" pitchFamily="34" charset="-122"/>
                <a:cs typeface="IBM Plex Mono" pitchFamily="34" charset="-120"/>
              </a:rPr>
              <a:t>STEP 2 · THE ATTACK</a:t>
            </a:r>
            <a:endParaRPr lang="en-US" sz="1500" dirty="0"/>
          </a:p>
        </p:txBody>
      </p:sp>
      <p:sp>
        <p:nvSpPr>
          <p:cNvPr id="13" name="Text 11"/>
          <p:cNvSpPr txBox="1"/>
          <p:nvPr/>
        </p:nvSpPr>
        <p:spPr>
          <a:xfrm>
            <a:off x="1307592" y="5074920"/>
            <a:ext cx="8229600" cy="502920"/>
          </a:xfrm>
          <a:prstGeom prst="rect">
            <a:avLst/>
          </a:prstGeom>
          <a:noFill/>
          <a:ln/>
        </p:spPr>
        <p:txBody>
          <a:bodyPr wrap="square" lIns="0" tIns="0" rIns="0" bIns="0" rtlCol="0" anchor="t"/>
          <a:lstStyle/>
          <a:p>
            <a:pPr algn="l" indent="0" marL="0">
              <a:lnSpc>
                <a:spcPct val="108000"/>
              </a:lnSpc>
              <a:buNone/>
            </a:pPr>
            <a:r>
              <a:rPr lang="en-US" sz="2500" dirty="0">
                <a:solidFill>
                  <a:srgbClr val="EAF0FA"/>
                </a:solidFill>
                <a:latin typeface="Space Grotesk" pitchFamily="34" charset="0"/>
                <a:ea typeface="Space Grotesk" pitchFamily="34" charset="-122"/>
                <a:cs typeface="Space Grotesk" pitchFamily="34" charset="-120"/>
              </a:rPr>
              <a:t>A light relearning fine-tune</a:t>
            </a:r>
            <a:endParaRPr lang="en-US" sz="2500" dirty="0"/>
          </a:p>
        </p:txBody>
      </p:sp>
      <p:sp>
        <p:nvSpPr>
          <p:cNvPr id="14" name="Text 12"/>
          <p:cNvSpPr txBox="1"/>
          <p:nvPr/>
        </p:nvSpPr>
        <p:spPr>
          <a:xfrm>
            <a:off x="1307592" y="5577840"/>
            <a:ext cx="8229600" cy="457200"/>
          </a:xfrm>
          <a:prstGeom prst="rect">
            <a:avLst/>
          </a:prstGeom>
          <a:noFill/>
          <a:ln/>
        </p:spPr>
        <p:txBody>
          <a:bodyPr wrap="square" lIns="0" tIns="0" rIns="0" bIns="0" rtlCol="0" anchor="t"/>
          <a:lstStyle/>
          <a:p>
            <a:pPr algn="l" indent="0" marL="0">
              <a:lnSpc>
                <a:spcPct val="108000"/>
              </a:lnSpc>
              <a:buNone/>
            </a:pPr>
            <a:r>
              <a:rPr lang="en-US" sz="1800" dirty="0">
                <a:solidFill>
                  <a:srgbClr val="B8C2D6"/>
                </a:solidFill>
                <a:latin typeface="IBM Plex Sans" pitchFamily="34" charset="0"/>
                <a:ea typeface="IBM Plex Sans" pitchFamily="34" charset="-122"/>
                <a:cs typeface="IBM Plex Sans" pitchFamily="34" charset="-120"/>
              </a:rPr>
              <a:t>Minutes of ordinary training on related data.</a:t>
            </a:r>
            <a:endParaRPr lang="en-US" sz="1800" dirty="0"/>
          </a:p>
        </p:txBody>
      </p:sp>
      <p:sp>
        <p:nvSpPr>
          <p:cNvPr id="15" name="Shape 13"/>
          <p:cNvSpPr/>
          <p:nvPr/>
        </p:nvSpPr>
        <p:spPr>
          <a:xfrm>
            <a:off x="987552" y="6446520"/>
            <a:ext cx="8778240" cy="1691640"/>
          </a:xfrm>
          <a:prstGeom prst="roundRect">
            <a:avLst>
              <a:gd name="adj" fmla="val 4324"/>
            </a:avLst>
          </a:prstGeom>
          <a:solidFill>
            <a:srgbClr val="111B30"/>
          </a:solidFill>
          <a:ln w="12700">
            <a:solidFill>
              <a:srgbClr val="2DD4BF"/>
            </a:solidFill>
            <a:prstDash val="solid"/>
          </a:ln>
        </p:spPr>
      </p:sp>
      <p:sp>
        <p:nvSpPr>
          <p:cNvPr id="16" name="Text 14"/>
          <p:cNvSpPr txBox="1"/>
          <p:nvPr/>
        </p:nvSpPr>
        <p:spPr>
          <a:xfrm>
            <a:off x="1307592" y="6675120"/>
            <a:ext cx="7772400" cy="310896"/>
          </a:xfrm>
          <a:prstGeom prst="rect">
            <a:avLst/>
          </a:prstGeom>
          <a:noFill/>
          <a:ln/>
        </p:spPr>
        <p:txBody>
          <a:bodyPr wrap="square" lIns="0" tIns="0" rIns="0" bIns="0" rtlCol="0" anchor="t"/>
          <a:lstStyle/>
          <a:p>
            <a:pPr algn="l" indent="0" marL="0">
              <a:lnSpc>
                <a:spcPct val="108000"/>
              </a:lnSpc>
              <a:buNone/>
            </a:pPr>
            <a:r>
              <a:rPr lang="en-US" sz="1500" dirty="0">
                <a:solidFill>
                  <a:srgbClr val="2DD4BF"/>
                </a:solidFill>
                <a:latin typeface="IBM Plex Mono" pitchFamily="34" charset="0"/>
                <a:ea typeface="IBM Plex Mono" pitchFamily="34" charset="-122"/>
                <a:cs typeface="IBM Plex Mono" pitchFamily="34" charset="-120"/>
              </a:rPr>
              <a:t>STEP 3 · THE FAILURE</a:t>
            </a:r>
            <a:endParaRPr lang="en-US" sz="1500" dirty="0"/>
          </a:p>
        </p:txBody>
      </p:sp>
      <p:sp>
        <p:nvSpPr>
          <p:cNvPr id="17" name="Text 15"/>
          <p:cNvSpPr txBox="1"/>
          <p:nvPr/>
        </p:nvSpPr>
        <p:spPr>
          <a:xfrm>
            <a:off x="1307592" y="7040880"/>
            <a:ext cx="8229600" cy="502920"/>
          </a:xfrm>
          <a:prstGeom prst="rect">
            <a:avLst/>
          </a:prstGeom>
          <a:noFill/>
          <a:ln/>
        </p:spPr>
        <p:txBody>
          <a:bodyPr wrap="square" lIns="0" tIns="0" rIns="0" bIns="0" rtlCol="0" anchor="t"/>
          <a:lstStyle/>
          <a:p>
            <a:pPr algn="l" indent="0" marL="0">
              <a:lnSpc>
                <a:spcPct val="108000"/>
              </a:lnSpc>
              <a:buNone/>
            </a:pPr>
            <a:r>
              <a:rPr lang="en-US" sz="2500" dirty="0">
                <a:solidFill>
                  <a:srgbClr val="EAF0FA"/>
                </a:solidFill>
                <a:latin typeface="Space Grotesk" pitchFamily="34" charset="0"/>
                <a:ea typeface="Space Grotesk" pitchFamily="34" charset="-122"/>
                <a:cs typeface="Space Grotesk" pitchFamily="34" charset="-120"/>
              </a:rPr>
              <a:t>The forgotten content resurfaces</a:t>
            </a:r>
            <a:endParaRPr lang="en-US" sz="2500" dirty="0"/>
          </a:p>
        </p:txBody>
      </p:sp>
      <p:sp>
        <p:nvSpPr>
          <p:cNvPr id="18" name="Text 16"/>
          <p:cNvSpPr txBox="1"/>
          <p:nvPr/>
        </p:nvSpPr>
        <p:spPr>
          <a:xfrm>
            <a:off x="1307592" y="7543800"/>
            <a:ext cx="8229600" cy="457200"/>
          </a:xfrm>
          <a:prstGeom prst="rect">
            <a:avLst/>
          </a:prstGeom>
          <a:noFill/>
          <a:ln/>
        </p:spPr>
        <p:txBody>
          <a:bodyPr wrap="square" lIns="0" tIns="0" rIns="0" bIns="0" rtlCol="0" anchor="t"/>
          <a:lstStyle/>
          <a:p>
            <a:pPr algn="l" indent="0" marL="0">
              <a:lnSpc>
                <a:spcPct val="108000"/>
              </a:lnSpc>
              <a:buNone/>
            </a:pPr>
            <a:r>
              <a:rPr lang="en-US" sz="1800" dirty="0">
                <a:solidFill>
                  <a:srgbClr val="B8C2D6"/>
                </a:solidFill>
                <a:latin typeface="IBM Plex Sans" pitchFamily="34" charset="0"/>
                <a:ea typeface="IBM Plex Sans" pitchFamily="34" charset="-122"/>
                <a:cs typeface="IBM Plex Sans" pitchFamily="34" charset="-120"/>
              </a:rPr>
              <a:t>It was suppressed, not removed.</a:t>
            </a:r>
            <a:endParaRPr lang="en-US" sz="1800" dirty="0"/>
          </a:p>
        </p:txBody>
      </p:sp>
      <p:sp>
        <p:nvSpPr>
          <p:cNvPr id="19" name="Shape 17"/>
          <p:cNvSpPr/>
          <p:nvPr/>
        </p:nvSpPr>
        <p:spPr>
          <a:xfrm>
            <a:off x="10287000" y="2514600"/>
            <a:ext cx="7013448" cy="5623560"/>
          </a:xfrm>
          <a:prstGeom prst="roundRect">
            <a:avLst>
              <a:gd name="adj" fmla="val 1301"/>
            </a:avLst>
          </a:prstGeom>
          <a:solidFill>
            <a:srgbClr val="111B30"/>
          </a:solidFill>
          <a:ln w="12700">
            <a:solidFill>
              <a:srgbClr val="2DD4BF"/>
            </a:solidFill>
            <a:prstDash val="solid"/>
          </a:ln>
        </p:spPr>
      </p:sp>
      <p:sp>
        <p:nvSpPr>
          <p:cNvPr id="20" name="Text 18"/>
          <p:cNvSpPr txBox="1"/>
          <p:nvPr/>
        </p:nvSpPr>
        <p:spPr>
          <a:xfrm>
            <a:off x="10652760" y="2788920"/>
            <a:ext cx="6400800" cy="310896"/>
          </a:xfrm>
          <a:prstGeom prst="rect">
            <a:avLst/>
          </a:prstGeom>
          <a:noFill/>
          <a:ln/>
        </p:spPr>
        <p:txBody>
          <a:bodyPr wrap="square" lIns="0" tIns="0" rIns="0" bIns="0" rtlCol="0" anchor="t"/>
          <a:lstStyle/>
          <a:p>
            <a:pPr algn="l" indent="0" marL="0">
              <a:lnSpc>
                <a:spcPct val="108000"/>
              </a:lnSpc>
              <a:buNone/>
            </a:pPr>
            <a:r>
              <a:rPr lang="en-US" sz="1500" dirty="0">
                <a:solidFill>
                  <a:srgbClr val="2DD4BF"/>
                </a:solidFill>
                <a:latin typeface="IBM Plex Mono" pitchFamily="34" charset="0"/>
                <a:ea typeface="IBM Plex Mono" pitchFamily="34" charset="-122"/>
                <a:cs typeface="IBM Plex Mono" pitchFamily="34" charset="-120"/>
              </a:rPr>
              <a:t>WE REPRODUCED IT · NPO</a:t>
            </a:r>
            <a:endParaRPr lang="en-US" sz="1500" dirty="0"/>
          </a:p>
        </p:txBody>
      </p:sp>
      <p:sp>
        <p:nvSpPr>
          <p:cNvPr id="21" name="Text 19"/>
          <p:cNvSpPr txBox="1"/>
          <p:nvPr/>
        </p:nvSpPr>
        <p:spPr>
          <a:xfrm>
            <a:off x="10652760" y="3291840"/>
            <a:ext cx="2560320" cy="1097280"/>
          </a:xfrm>
          <a:prstGeom prst="rect">
            <a:avLst/>
          </a:prstGeom>
          <a:noFill/>
          <a:ln/>
        </p:spPr>
        <p:txBody>
          <a:bodyPr wrap="square" lIns="0" tIns="0" rIns="0" bIns="0" rtlCol="0" anchor="t"/>
          <a:lstStyle/>
          <a:p>
            <a:pPr algn="l" indent="0" marL="0">
              <a:lnSpc>
                <a:spcPct val="108000"/>
              </a:lnSpc>
              <a:buNone/>
            </a:pPr>
            <a:r>
              <a:rPr lang="en-US" sz="6000" dirty="0">
                <a:solidFill>
                  <a:srgbClr val="EAF0FA"/>
                </a:solidFill>
                <a:latin typeface="Space Grotesk" pitchFamily="34" charset="0"/>
                <a:ea typeface="Space Grotesk" pitchFamily="34" charset="-122"/>
                <a:cs typeface="Space Grotesk" pitchFamily="34" charset="-120"/>
              </a:rPr>
              <a:t>−4.87</a:t>
            </a:r>
            <a:endParaRPr lang="en-US" sz="6000" dirty="0"/>
          </a:p>
        </p:txBody>
      </p:sp>
      <p:sp>
        <p:nvSpPr>
          <p:cNvPr id="22" name="Text 20"/>
          <p:cNvSpPr txBox="1"/>
          <p:nvPr/>
        </p:nvSpPr>
        <p:spPr>
          <a:xfrm>
            <a:off x="10652760" y="4434840"/>
            <a:ext cx="3017520" cy="365760"/>
          </a:xfrm>
          <a:prstGeom prst="rect">
            <a:avLst/>
          </a:prstGeom>
          <a:noFill/>
          <a:ln/>
        </p:spPr>
        <p:txBody>
          <a:bodyPr wrap="square" lIns="0" tIns="0" rIns="0" bIns="0" rtlCol="0" anchor="t"/>
          <a:lstStyle/>
          <a:p>
            <a:pPr algn="l" indent="0" marL="0">
              <a:lnSpc>
                <a:spcPct val="108000"/>
              </a:lnSpc>
              <a:buNone/>
            </a:pPr>
            <a:r>
              <a:rPr lang="en-US" sz="1400" dirty="0">
                <a:solidFill>
                  <a:srgbClr val="7C89A3"/>
                </a:solidFill>
                <a:latin typeface="IBM Plex Mono" pitchFamily="34" charset="0"/>
                <a:ea typeface="IBM Plex Mono" pitchFamily="34" charset="-122"/>
                <a:cs typeface="IBM Plex Mono" pitchFamily="34" charset="-120"/>
              </a:rPr>
              <a:t>right after the scrub</a:t>
            </a:r>
            <a:endParaRPr lang="en-US" sz="1400" dirty="0"/>
          </a:p>
        </p:txBody>
      </p:sp>
      <p:sp>
        <p:nvSpPr>
          <p:cNvPr id="23" name="Text 21"/>
          <p:cNvSpPr txBox="1"/>
          <p:nvPr/>
        </p:nvSpPr>
        <p:spPr>
          <a:xfrm>
            <a:off x="13213080" y="3429000"/>
            <a:ext cx="731520" cy="914400"/>
          </a:xfrm>
          <a:prstGeom prst="rect">
            <a:avLst/>
          </a:prstGeom>
          <a:noFill/>
          <a:ln/>
        </p:spPr>
        <p:txBody>
          <a:bodyPr wrap="square" lIns="0" tIns="0" rIns="0" bIns="0" rtlCol="0" anchor="t"/>
          <a:lstStyle/>
          <a:p>
            <a:pPr algn="ctr" indent="0" marL="0">
              <a:lnSpc>
                <a:spcPct val="108000"/>
              </a:lnSpc>
              <a:buNone/>
            </a:pPr>
            <a:r>
              <a:rPr lang="en-US" sz="4400" dirty="0">
                <a:solidFill>
                  <a:srgbClr val="2DD4BF"/>
                </a:solidFill>
                <a:latin typeface="Space Grotesk" pitchFamily="34" charset="0"/>
                <a:ea typeface="Space Grotesk" pitchFamily="34" charset="-122"/>
                <a:cs typeface="Space Grotesk" pitchFamily="34" charset="-120"/>
              </a:rPr>
              <a:t>→</a:t>
            </a:r>
            <a:endParaRPr lang="en-US" sz="4400" dirty="0"/>
          </a:p>
        </p:txBody>
      </p:sp>
      <p:sp>
        <p:nvSpPr>
          <p:cNvPr id="24" name="Text 22"/>
          <p:cNvSpPr txBox="1"/>
          <p:nvPr/>
        </p:nvSpPr>
        <p:spPr>
          <a:xfrm>
            <a:off x="14218920" y="3291840"/>
            <a:ext cx="2834640" cy="1097280"/>
          </a:xfrm>
          <a:prstGeom prst="rect">
            <a:avLst/>
          </a:prstGeom>
          <a:noFill/>
          <a:ln/>
        </p:spPr>
        <p:txBody>
          <a:bodyPr wrap="square" lIns="0" tIns="0" rIns="0" bIns="0" rtlCol="0" anchor="t"/>
          <a:lstStyle/>
          <a:p>
            <a:pPr algn="l" indent="0" marL="0">
              <a:lnSpc>
                <a:spcPct val="108000"/>
              </a:lnSpc>
              <a:buNone/>
            </a:pPr>
            <a:r>
              <a:rPr lang="en-US" sz="6000" dirty="0">
                <a:solidFill>
                  <a:srgbClr val="2DD4BF"/>
                </a:solidFill>
                <a:latin typeface="Space Grotesk" pitchFamily="34" charset="0"/>
                <a:ea typeface="Space Grotesk" pitchFamily="34" charset="-122"/>
                <a:cs typeface="Space Grotesk" pitchFamily="34" charset="-120"/>
              </a:rPr>
              <a:t>−0.76</a:t>
            </a:r>
            <a:endParaRPr lang="en-US" sz="6000" dirty="0"/>
          </a:p>
        </p:txBody>
      </p:sp>
      <p:sp>
        <p:nvSpPr>
          <p:cNvPr id="25" name="Text 23"/>
          <p:cNvSpPr txBox="1"/>
          <p:nvPr/>
        </p:nvSpPr>
        <p:spPr>
          <a:xfrm>
            <a:off x="14218920" y="4434840"/>
            <a:ext cx="2834640" cy="365760"/>
          </a:xfrm>
          <a:prstGeom prst="rect">
            <a:avLst/>
          </a:prstGeom>
          <a:noFill/>
          <a:ln/>
        </p:spPr>
        <p:txBody>
          <a:bodyPr wrap="square" lIns="0" tIns="0" rIns="0" bIns="0" rtlCol="0" anchor="t"/>
          <a:lstStyle/>
          <a:p>
            <a:pPr algn="l" indent="0" marL="0">
              <a:lnSpc>
                <a:spcPct val="108000"/>
              </a:lnSpc>
              <a:buNone/>
            </a:pPr>
            <a:r>
              <a:rPr lang="en-US" sz="1400" dirty="0">
                <a:solidFill>
                  <a:srgbClr val="7C89A3"/>
                </a:solidFill>
                <a:latin typeface="IBM Plex Mono" pitchFamily="34" charset="0"/>
                <a:ea typeface="IBM Plex Mono" pitchFamily="34" charset="-122"/>
                <a:cs typeface="IBM Plex Mono" pitchFamily="34" charset="-120"/>
              </a:rPr>
              <a:t>after a 15-step attack</a:t>
            </a:r>
            <a:endParaRPr lang="en-US" sz="1400" dirty="0"/>
          </a:p>
        </p:txBody>
      </p:sp>
      <p:sp>
        <p:nvSpPr>
          <p:cNvPr id="26" name="Text 24"/>
          <p:cNvSpPr txBox="1"/>
          <p:nvPr/>
        </p:nvSpPr>
        <p:spPr>
          <a:xfrm>
            <a:off x="10652760" y="5120640"/>
            <a:ext cx="6309360" cy="1371600"/>
          </a:xfrm>
          <a:prstGeom prst="rect">
            <a:avLst/>
          </a:prstGeom>
          <a:noFill/>
          <a:ln/>
        </p:spPr>
        <p:txBody>
          <a:bodyPr wrap="square" lIns="0" tIns="0" rIns="0" bIns="0" rtlCol="0" anchor="t"/>
          <a:lstStyle/>
          <a:p>
            <a:pPr algn="l" indent="0" marL="0">
              <a:lnSpc>
                <a:spcPct val="115000"/>
              </a:lnSpc>
              <a:buNone/>
            </a:pPr>
            <a:r>
              <a:rPr lang="en-US" sz="1750" dirty="0">
                <a:solidFill>
                  <a:srgbClr val="B8C2D6"/>
                </a:solidFill>
                <a:latin typeface="IBM Plex Sans" pitchFamily="34" charset="0"/>
                <a:ea typeface="IBM Plex Sans" pitchFamily="34" charset="-122"/>
                <a:cs typeface="IBM Plex Sans" pitchFamily="34" charset="-120"/>
              </a:rPr>
              <a:t>Forget-set log-probability (lower = more forgotten). Most of NPO's suppression is undone by a short fine-tune on paraphrases of the same facts.</a:t>
            </a:r>
            <a:endParaRPr lang="en-US" sz="1750" dirty="0"/>
          </a:p>
        </p:txBody>
      </p:sp>
      <p:sp>
        <p:nvSpPr>
          <p:cNvPr id="27" name="Text 25"/>
          <p:cNvSpPr txBox="1"/>
          <p:nvPr/>
        </p:nvSpPr>
        <p:spPr>
          <a:xfrm>
            <a:off x="10652760" y="6812280"/>
            <a:ext cx="6309360" cy="1005840"/>
          </a:xfrm>
          <a:prstGeom prst="rect">
            <a:avLst/>
          </a:prstGeom>
          <a:noFill/>
          <a:ln/>
        </p:spPr>
        <p:txBody>
          <a:bodyPr wrap="square" lIns="0" tIns="0" rIns="0" bIns="0" rtlCol="0" anchor="t"/>
          <a:lstStyle/>
          <a:p>
            <a:pPr algn="l" indent="0" marL="0">
              <a:lnSpc>
                <a:spcPct val="115000"/>
              </a:lnSpc>
              <a:buNone/>
            </a:pPr>
            <a:r>
              <a:rPr lang="en-US" sz="1400" dirty="0">
                <a:solidFill>
                  <a:srgbClr val="7C89A3"/>
                </a:solidFill>
                <a:latin typeface="IBM Plex Sans" pitchFamily="34" charset="0"/>
                <a:ea typeface="IBM Plex Sans" pitchFamily="34" charset="-122"/>
                <a:cs typeface="IBM Plex Sans" pitchFamily="34" charset="-120"/>
              </a:rPr>
              <a:t>Pattern documented in “Jogging the Memory”, arXiv:2406.13356. Whole-answer score; fact-level re-test planned.</a:t>
            </a:r>
            <a:endParaRPr lang="en-US" sz="1400" dirty="0"/>
          </a:p>
        </p:txBody>
      </p:sp>
      <p:sp>
        <p:nvSpPr>
          <p:cNvPr id="28" name="Text 26"/>
          <p:cNvSpPr txBox="1"/>
          <p:nvPr/>
        </p:nvSpPr>
        <p:spPr>
          <a:xfrm>
            <a:off x="987552" y="8549640"/>
            <a:ext cx="16093440" cy="457200"/>
          </a:xfrm>
          <a:prstGeom prst="rect">
            <a:avLst/>
          </a:prstGeom>
          <a:noFill/>
          <a:ln/>
        </p:spPr>
        <p:txBody>
          <a:bodyPr wrap="square" lIns="0" tIns="0" rIns="0" bIns="0" rtlCol="0" anchor="t"/>
          <a:lstStyle/>
          <a:p>
            <a:pPr algn="l" indent="0" marL="0">
              <a:lnSpc>
                <a:spcPct val="108000"/>
              </a:lnSpc>
              <a:buNone/>
            </a:pPr>
            <a:r>
              <a:rPr lang="en-US" sz="1950" dirty="0">
                <a:solidFill>
                  <a:srgbClr val="2DD4BF"/>
                </a:solidFill>
                <a:latin typeface="IBM Plex Sans" pitchFamily="34" charset="0"/>
                <a:ea typeface="IBM Plex Sans" pitchFamily="34" charset="-122"/>
                <a:cs typeface="IBM Plex Sans" pitchFamily="34" charset="-120"/>
              </a:rPr>
              <a:t>Durability — not just forgetting — is the property no one is measuring.</a:t>
            </a:r>
            <a:endParaRPr lang="en-US" sz="1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020"/>
        </a:solidFill>
      </p:bgPr>
    </p:bg>
    <p:spTree>
      <p:nvGrpSpPr>
        <p:cNvPr id="1" name=""/>
        <p:cNvGrpSpPr/>
        <p:nvPr/>
      </p:nvGrpSpPr>
      <p:grpSpPr>
        <a:xfrm>
          <a:off x="0" y="0"/>
          <a:ext cx="0" cy="0"/>
          <a:chOff x="0" y="0"/>
          <a:chExt cx="0" cy="0"/>
        </a:xfrm>
      </p:grpSpPr>
      <p:sp>
        <p:nvSpPr>
          <p:cNvPr id="2" name="Text 0"/>
          <p:cNvSpPr txBox="1"/>
          <p:nvPr/>
        </p:nvSpPr>
        <p:spPr>
          <a:xfrm>
            <a:off x="987552" y="722376"/>
            <a:ext cx="731520" cy="329184"/>
          </a:xfrm>
          <a:prstGeom prst="rect">
            <a:avLst/>
          </a:prstGeom>
          <a:noFill/>
          <a:ln/>
        </p:spPr>
        <p:txBody>
          <a:bodyPr wrap="square" lIns="0" tIns="0" rIns="0" bIns="0" rtlCol="0" anchor="t"/>
          <a:lstStyle/>
          <a:p>
            <a:pPr algn="l" indent="0" marL="0">
              <a:lnSpc>
                <a:spcPct val="108000"/>
              </a:lnSpc>
              <a:buNone/>
            </a:pPr>
            <a:r>
              <a:rPr lang="en-US" sz="1800" dirty="0">
                <a:solidFill>
                  <a:srgbClr val="2DD4BF"/>
                </a:solidFill>
                <a:latin typeface="IBM Plex Mono" pitchFamily="34" charset="0"/>
                <a:ea typeface="IBM Plex Mono" pitchFamily="34" charset="-122"/>
                <a:cs typeface="IBM Plex Mono" pitchFamily="34" charset="-120"/>
              </a:rPr>
              <a:t>05</a:t>
            </a:r>
            <a:endParaRPr lang="en-US" sz="1800" dirty="0"/>
          </a:p>
        </p:txBody>
      </p:sp>
      <p:sp>
        <p:nvSpPr>
          <p:cNvPr id="3" name="Text 1"/>
          <p:cNvSpPr txBox="1"/>
          <p:nvPr/>
        </p:nvSpPr>
        <p:spPr>
          <a:xfrm>
            <a:off x="1938528" y="722376"/>
            <a:ext cx="9144000" cy="329184"/>
          </a:xfrm>
          <a:prstGeom prst="rect">
            <a:avLst/>
          </a:prstGeom>
          <a:noFill/>
          <a:ln/>
        </p:spPr>
        <p:txBody>
          <a:bodyPr wrap="square" lIns="0" tIns="0" rIns="0" bIns="0" rtlCol="0" anchor="t"/>
          <a:lstStyle/>
          <a:p>
            <a:pPr algn="l" indent="0" marL="0">
              <a:lnSpc>
                <a:spcPct val="108000"/>
              </a:lnSpc>
              <a:buNone/>
            </a:pPr>
            <a:r>
              <a:rPr lang="en-US" sz="1800" dirty="0">
                <a:solidFill>
                  <a:srgbClr val="7C89A3"/>
                </a:solidFill>
                <a:latin typeface="IBM Plex Mono" pitchFamily="34" charset="0"/>
                <a:ea typeface="IBM Plex Mono" pitchFamily="34" charset="-122"/>
                <a:cs typeface="IBM Plex Mono" pitchFamily="34" charset="-120"/>
              </a:rPr>
              <a:t>LITERATURE REVIEW</a:t>
            </a:r>
            <a:endParaRPr lang="en-US" sz="1800" dirty="0"/>
          </a:p>
        </p:txBody>
      </p:sp>
      <p:sp>
        <p:nvSpPr>
          <p:cNvPr id="4" name="Text 2"/>
          <p:cNvSpPr txBox="1"/>
          <p:nvPr/>
        </p:nvSpPr>
        <p:spPr>
          <a:xfrm>
            <a:off x="987552" y="1170432"/>
            <a:ext cx="16093440" cy="731520"/>
          </a:xfrm>
          <a:prstGeom prst="rect">
            <a:avLst/>
          </a:prstGeom>
          <a:noFill/>
          <a:ln/>
        </p:spPr>
        <p:txBody>
          <a:bodyPr wrap="square" lIns="0" tIns="0" rIns="0" bIns="0" rtlCol="0" anchor="t"/>
          <a:lstStyle/>
          <a:p>
            <a:pPr algn="l" indent="0" marL="0">
              <a:lnSpc>
                <a:spcPct val="108000"/>
              </a:lnSpc>
              <a:buNone/>
            </a:pPr>
            <a:r>
              <a:rPr lang="en-US" sz="4200" dirty="0">
                <a:solidFill>
                  <a:srgbClr val="EAF0FA"/>
                </a:solidFill>
                <a:latin typeface="Space Grotesk" pitchFamily="34" charset="0"/>
                <a:ea typeface="Space Grotesk" pitchFamily="34" charset="-122"/>
                <a:cs typeface="Space Grotesk" pitchFamily="34" charset="-120"/>
              </a:rPr>
              <a:t>Four Milestones — and One Warning</a:t>
            </a:r>
            <a:endParaRPr lang="en-US" sz="4200" dirty="0"/>
          </a:p>
        </p:txBody>
      </p:sp>
      <p:sp>
        <p:nvSpPr>
          <p:cNvPr id="5" name="Text 3"/>
          <p:cNvSpPr txBox="1"/>
          <p:nvPr/>
        </p:nvSpPr>
        <p:spPr>
          <a:xfrm>
            <a:off x="987552" y="9436608"/>
            <a:ext cx="4572000" cy="329184"/>
          </a:xfrm>
          <a:prstGeom prst="rect">
            <a:avLst/>
          </a:prstGeom>
          <a:noFill/>
          <a:ln/>
        </p:spPr>
        <p:txBody>
          <a:bodyPr wrap="square" lIns="0" tIns="0" rIns="0" bIns="0" rtlCol="0" anchor="t"/>
          <a:lstStyle/>
          <a:p>
            <a:pPr algn="l" indent="0" marL="0">
              <a:lnSpc>
                <a:spcPct val="108000"/>
              </a:lnSpc>
              <a:buNone/>
            </a:pPr>
            <a:r>
              <a:rPr lang="en-US" sz="1600" dirty="0">
                <a:solidFill>
                  <a:srgbClr val="38435C"/>
                </a:solidFill>
                <a:latin typeface="IBM Plex Mono" pitchFamily="34" charset="0"/>
                <a:ea typeface="IBM Plex Mono" pitchFamily="34" charset="-122"/>
                <a:cs typeface="IBM Plex Mono" pitchFamily="34" charset="-120"/>
              </a:rPr>
              <a:t>FORGETBENCH · HRU</a:t>
            </a:r>
            <a:endParaRPr lang="en-US" sz="1600" dirty="0"/>
          </a:p>
        </p:txBody>
      </p:sp>
      <p:sp>
        <p:nvSpPr>
          <p:cNvPr id="6" name="Text 4"/>
          <p:cNvSpPr txBox="1"/>
          <p:nvPr/>
        </p:nvSpPr>
        <p:spPr>
          <a:xfrm>
            <a:off x="12710160" y="9436608"/>
            <a:ext cx="4572000" cy="329184"/>
          </a:xfrm>
          <a:prstGeom prst="rect">
            <a:avLst/>
          </a:prstGeom>
          <a:noFill/>
          <a:ln/>
        </p:spPr>
        <p:txBody>
          <a:bodyPr wrap="square" lIns="0" tIns="0" rIns="0" bIns="0" rtlCol="0" anchor="t"/>
          <a:lstStyle/>
          <a:p>
            <a:pPr algn="r" indent="0" marL="0">
              <a:lnSpc>
                <a:spcPct val="108000"/>
              </a:lnSpc>
              <a:buNone/>
            </a:pPr>
            <a:r>
              <a:rPr lang="en-US" sz="1600" dirty="0">
                <a:solidFill>
                  <a:srgbClr val="38435C"/>
                </a:solidFill>
                <a:latin typeface="IBM Plex Mono" pitchFamily="34" charset="0"/>
                <a:ea typeface="IBM Plex Mono" pitchFamily="34" charset="-122"/>
                <a:cs typeface="IBM Plex Mono" pitchFamily="34" charset="-120"/>
              </a:rPr>
              <a:t>WOXSEN UNIVERSITY</a:t>
            </a:r>
            <a:endParaRPr lang="en-US" sz="1600" dirty="0"/>
          </a:p>
        </p:txBody>
      </p:sp>
      <p:sp>
        <p:nvSpPr>
          <p:cNvPr id="7" name="Shape 5"/>
          <p:cNvSpPr/>
          <p:nvPr/>
        </p:nvSpPr>
        <p:spPr>
          <a:xfrm>
            <a:off x="987552" y="2468880"/>
            <a:ext cx="3840480" cy="6035040"/>
          </a:xfrm>
          <a:prstGeom prst="roundRect">
            <a:avLst>
              <a:gd name="adj" fmla="val 1905"/>
            </a:avLst>
          </a:prstGeom>
          <a:solidFill>
            <a:srgbClr val="111B30"/>
          </a:solidFill>
          <a:ln w="12700">
            <a:solidFill>
              <a:srgbClr val="38435C"/>
            </a:solidFill>
            <a:prstDash val="solid"/>
          </a:ln>
        </p:spPr>
      </p:sp>
      <p:sp>
        <p:nvSpPr>
          <p:cNvPr id="8" name="Text 6"/>
          <p:cNvSpPr txBox="1"/>
          <p:nvPr/>
        </p:nvSpPr>
        <p:spPr>
          <a:xfrm>
            <a:off x="1261872" y="2724912"/>
            <a:ext cx="1463040" cy="365760"/>
          </a:xfrm>
          <a:prstGeom prst="rect">
            <a:avLst/>
          </a:prstGeom>
          <a:noFill/>
          <a:ln/>
        </p:spPr>
        <p:txBody>
          <a:bodyPr wrap="square" lIns="0" tIns="0" rIns="0" bIns="0" rtlCol="0" anchor="t"/>
          <a:lstStyle/>
          <a:p>
            <a:pPr algn="l" indent="0" marL="0">
              <a:lnSpc>
                <a:spcPct val="108000"/>
              </a:lnSpc>
              <a:buNone/>
            </a:pPr>
            <a:r>
              <a:rPr lang="en-US" sz="1600" dirty="0">
                <a:solidFill>
                  <a:srgbClr val="7C89A3"/>
                </a:solidFill>
                <a:latin typeface="IBM Plex Mono" pitchFamily="34" charset="0"/>
                <a:ea typeface="IBM Plex Mono" pitchFamily="34" charset="-122"/>
                <a:cs typeface="IBM Plex Mono" pitchFamily="34" charset="-120"/>
              </a:rPr>
              <a:t>2021</a:t>
            </a:r>
            <a:endParaRPr lang="en-US" sz="1600" dirty="0"/>
          </a:p>
        </p:txBody>
      </p:sp>
      <p:sp>
        <p:nvSpPr>
          <p:cNvPr id="9" name="Text 7"/>
          <p:cNvSpPr txBox="1"/>
          <p:nvPr/>
        </p:nvSpPr>
        <p:spPr>
          <a:xfrm>
            <a:off x="2907792" y="2724912"/>
            <a:ext cx="1645920" cy="365760"/>
          </a:xfrm>
          <a:prstGeom prst="rect">
            <a:avLst/>
          </a:prstGeom>
          <a:noFill/>
          <a:ln/>
        </p:spPr>
        <p:txBody>
          <a:bodyPr wrap="square" lIns="0" tIns="0" rIns="0" bIns="0" rtlCol="0" anchor="t"/>
          <a:lstStyle/>
          <a:p>
            <a:pPr algn="r" indent="0" marL="0">
              <a:lnSpc>
                <a:spcPct val="108000"/>
              </a:lnSpc>
              <a:buNone/>
            </a:pPr>
            <a:r>
              <a:rPr lang="en-US" sz="1600" dirty="0">
                <a:solidFill>
                  <a:srgbClr val="7C89A3"/>
                </a:solidFill>
                <a:latin typeface="IBM Plex Mono" pitchFamily="34" charset="0"/>
                <a:ea typeface="IBM Plex Mono" pitchFamily="34" charset="-122"/>
                <a:cs typeface="IBM Plex Mono" pitchFamily="34" charset="-120"/>
              </a:rPr>
              <a:t>~10×</a:t>
            </a:r>
            <a:endParaRPr lang="en-US" sz="1600" dirty="0"/>
          </a:p>
        </p:txBody>
      </p:sp>
      <p:sp>
        <p:nvSpPr>
          <p:cNvPr id="10" name="Text 8"/>
          <p:cNvSpPr txBox="1"/>
          <p:nvPr/>
        </p:nvSpPr>
        <p:spPr>
          <a:xfrm>
            <a:off x="1261872" y="3291840"/>
            <a:ext cx="3383280" cy="1005840"/>
          </a:xfrm>
          <a:prstGeom prst="rect">
            <a:avLst/>
          </a:prstGeom>
          <a:noFill/>
          <a:ln/>
        </p:spPr>
        <p:txBody>
          <a:bodyPr wrap="square" lIns="0" tIns="0" rIns="0" bIns="0" rtlCol="0" anchor="t"/>
          <a:lstStyle/>
          <a:p>
            <a:pPr algn="l" indent="0" marL="0">
              <a:lnSpc>
                <a:spcPct val="108000"/>
              </a:lnSpc>
              <a:buNone/>
            </a:pPr>
            <a:r>
              <a:rPr lang="en-US" sz="2800" dirty="0">
                <a:solidFill>
                  <a:srgbClr val="EAF0FA"/>
                </a:solidFill>
                <a:latin typeface="Space Grotesk" pitchFamily="34" charset="0"/>
                <a:ea typeface="Space Grotesk" pitchFamily="34" charset="-122"/>
                <a:cs typeface="Space Grotesk" pitchFamily="34" charset="-120"/>
              </a:rPr>
              <a:t>SISA</a:t>
            </a:r>
            <a:endParaRPr lang="en-US" sz="2800" dirty="0"/>
          </a:p>
        </p:txBody>
      </p:sp>
      <p:sp>
        <p:nvSpPr>
          <p:cNvPr id="11" name="Text 9"/>
          <p:cNvSpPr txBox="1"/>
          <p:nvPr/>
        </p:nvSpPr>
        <p:spPr>
          <a:xfrm>
            <a:off x="1261872" y="4434840"/>
            <a:ext cx="3337560" cy="2468880"/>
          </a:xfrm>
          <a:prstGeom prst="rect">
            <a:avLst/>
          </a:prstGeom>
          <a:noFill/>
          <a:ln/>
        </p:spPr>
        <p:txBody>
          <a:bodyPr wrap="square" lIns="0" tIns="0" rIns="0" bIns="0" rtlCol="0" anchor="t"/>
          <a:lstStyle/>
          <a:p>
            <a:pPr algn="l" indent="0" marL="0">
              <a:lnSpc>
                <a:spcPct val="115000"/>
              </a:lnSpc>
              <a:buNone/>
            </a:pPr>
            <a:r>
              <a:rPr lang="en-US" sz="1750" dirty="0">
                <a:solidFill>
                  <a:srgbClr val="B8C2D6"/>
                </a:solidFill>
                <a:latin typeface="IBM Plex Sans" pitchFamily="34" charset="0"/>
                <a:ea typeface="IBM Plex Sans" pitchFamily="34" charset="-122"/>
                <a:cs typeface="IBM Plex Sans" pitchFamily="34" charset="-120"/>
              </a:rPr>
              <a:t>Shard, isolate, slice, aggregate — retrain only the affected shard. Exact, but still retrain-scale.</a:t>
            </a:r>
            <a:endParaRPr lang="en-US" sz="1750" dirty="0"/>
          </a:p>
        </p:txBody>
      </p:sp>
      <p:sp>
        <p:nvSpPr>
          <p:cNvPr id="12" name="Text 10"/>
          <p:cNvSpPr txBox="1"/>
          <p:nvPr/>
        </p:nvSpPr>
        <p:spPr>
          <a:xfrm>
            <a:off x="1261872" y="7178040"/>
            <a:ext cx="3337560" cy="365760"/>
          </a:xfrm>
          <a:prstGeom prst="rect">
            <a:avLst/>
          </a:prstGeom>
          <a:noFill/>
          <a:ln/>
        </p:spPr>
        <p:txBody>
          <a:bodyPr wrap="square" lIns="0" tIns="0" rIns="0" bIns="0" rtlCol="0" anchor="t"/>
          <a:lstStyle/>
          <a:p>
            <a:pPr algn="l" indent="0" marL="0">
              <a:lnSpc>
                <a:spcPct val="108000"/>
              </a:lnSpc>
              <a:buNone/>
            </a:pPr>
            <a:r>
              <a:rPr lang="en-US" sz="1300" dirty="0">
                <a:solidFill>
                  <a:srgbClr val="7C89A3"/>
                </a:solidFill>
                <a:latin typeface="IBM Plex Mono" pitchFamily="34" charset="0"/>
                <a:ea typeface="IBM Plex Mono" pitchFamily="34" charset="-122"/>
                <a:cs typeface="IBM Plex Mono" pitchFamily="34" charset="-120"/>
              </a:rPr>
              <a:t>Bourtoule et al.</a:t>
            </a:r>
            <a:endParaRPr lang="en-US" sz="1300" dirty="0"/>
          </a:p>
        </p:txBody>
      </p:sp>
      <p:sp>
        <p:nvSpPr>
          <p:cNvPr id="13" name="Text 11"/>
          <p:cNvSpPr txBox="1"/>
          <p:nvPr/>
        </p:nvSpPr>
        <p:spPr>
          <a:xfrm>
            <a:off x="1261872" y="7863840"/>
            <a:ext cx="3291840" cy="310896"/>
          </a:xfrm>
          <a:prstGeom prst="rect">
            <a:avLst/>
          </a:prstGeom>
          <a:noFill/>
          <a:ln/>
        </p:spPr>
        <p:txBody>
          <a:bodyPr wrap="square" lIns="0" tIns="0" rIns="0" bIns="0" rtlCol="0" anchor="t"/>
          <a:lstStyle/>
          <a:p>
            <a:pPr algn="l" indent="0" marL="0">
              <a:lnSpc>
                <a:spcPct val="108000"/>
              </a:lnSpc>
              <a:buNone/>
            </a:pPr>
            <a:r>
              <a:rPr lang="en-US" sz="1500" dirty="0">
                <a:solidFill>
                  <a:srgbClr val="7C89A3"/>
                </a:solidFill>
                <a:latin typeface="IBM Plex Mono" pitchFamily="34" charset="0"/>
                <a:ea typeface="IBM Plex Mono" pitchFamily="34" charset="-122"/>
                <a:cs typeface="IBM Plex Mono" pitchFamily="34" charset="-120"/>
              </a:rPr>
              <a:t>ARM A</a:t>
            </a:r>
            <a:endParaRPr lang="en-US" sz="1500" dirty="0"/>
          </a:p>
        </p:txBody>
      </p:sp>
      <p:sp>
        <p:nvSpPr>
          <p:cNvPr id="14" name="Shape 12"/>
          <p:cNvSpPr/>
          <p:nvPr/>
        </p:nvSpPr>
        <p:spPr>
          <a:xfrm>
            <a:off x="5102352" y="2468880"/>
            <a:ext cx="3840480" cy="6035040"/>
          </a:xfrm>
          <a:prstGeom prst="roundRect">
            <a:avLst>
              <a:gd name="adj" fmla="val 1905"/>
            </a:avLst>
          </a:prstGeom>
          <a:solidFill>
            <a:srgbClr val="111B30"/>
          </a:solidFill>
          <a:ln w="12700">
            <a:solidFill>
              <a:srgbClr val="38435C"/>
            </a:solidFill>
            <a:prstDash val="solid"/>
          </a:ln>
        </p:spPr>
      </p:sp>
      <p:sp>
        <p:nvSpPr>
          <p:cNvPr id="15" name="Text 13"/>
          <p:cNvSpPr txBox="1"/>
          <p:nvPr/>
        </p:nvSpPr>
        <p:spPr>
          <a:xfrm>
            <a:off x="5376672" y="2724912"/>
            <a:ext cx="1463040" cy="365760"/>
          </a:xfrm>
          <a:prstGeom prst="rect">
            <a:avLst/>
          </a:prstGeom>
          <a:noFill/>
          <a:ln/>
        </p:spPr>
        <p:txBody>
          <a:bodyPr wrap="square" lIns="0" tIns="0" rIns="0" bIns="0" rtlCol="0" anchor="t"/>
          <a:lstStyle/>
          <a:p>
            <a:pPr algn="l" indent="0" marL="0">
              <a:lnSpc>
                <a:spcPct val="108000"/>
              </a:lnSpc>
              <a:buNone/>
            </a:pPr>
            <a:r>
              <a:rPr lang="en-US" sz="1600" dirty="0">
                <a:solidFill>
                  <a:srgbClr val="7C89A3"/>
                </a:solidFill>
                <a:latin typeface="IBM Plex Mono" pitchFamily="34" charset="0"/>
                <a:ea typeface="IBM Plex Mono" pitchFamily="34" charset="-122"/>
                <a:cs typeface="IBM Plex Mono" pitchFamily="34" charset="-120"/>
              </a:rPr>
              <a:t>2024</a:t>
            </a:r>
            <a:endParaRPr lang="en-US" sz="1600" dirty="0"/>
          </a:p>
        </p:txBody>
      </p:sp>
      <p:sp>
        <p:nvSpPr>
          <p:cNvPr id="16" name="Text 14"/>
          <p:cNvSpPr txBox="1"/>
          <p:nvPr/>
        </p:nvSpPr>
        <p:spPr>
          <a:xfrm>
            <a:off x="7022592" y="2724912"/>
            <a:ext cx="1645920" cy="365760"/>
          </a:xfrm>
          <a:prstGeom prst="rect">
            <a:avLst/>
          </a:prstGeom>
          <a:noFill/>
          <a:ln/>
        </p:spPr>
        <p:txBody>
          <a:bodyPr wrap="square" lIns="0" tIns="0" rIns="0" bIns="0" rtlCol="0" anchor="t"/>
          <a:lstStyle/>
          <a:p>
            <a:pPr algn="r" indent="0" marL="0">
              <a:lnSpc>
                <a:spcPct val="108000"/>
              </a:lnSpc>
              <a:buNone/>
            </a:pPr>
            <a:r>
              <a:rPr lang="en-US" sz="1600" dirty="0">
                <a:solidFill>
                  <a:srgbClr val="7C89A3"/>
                </a:solidFill>
                <a:latin typeface="IBM Plex Mono" pitchFamily="34" charset="0"/>
                <a:ea typeface="IBM Plex Mono" pitchFamily="34" charset="-122"/>
                <a:cs typeface="IBM Plex Mono" pitchFamily="34" charset="-120"/>
              </a:rPr>
              <a:t>~1×</a:t>
            </a:r>
            <a:endParaRPr lang="en-US" sz="1600" dirty="0"/>
          </a:p>
        </p:txBody>
      </p:sp>
      <p:sp>
        <p:nvSpPr>
          <p:cNvPr id="17" name="Text 15"/>
          <p:cNvSpPr txBox="1"/>
          <p:nvPr/>
        </p:nvSpPr>
        <p:spPr>
          <a:xfrm>
            <a:off x="5376672" y="3291840"/>
            <a:ext cx="3383280" cy="1005840"/>
          </a:xfrm>
          <a:prstGeom prst="rect">
            <a:avLst/>
          </a:prstGeom>
          <a:noFill/>
          <a:ln/>
        </p:spPr>
        <p:txBody>
          <a:bodyPr wrap="square" lIns="0" tIns="0" rIns="0" bIns="0" rtlCol="0" anchor="t"/>
          <a:lstStyle/>
          <a:p>
            <a:pPr algn="l" indent="0" marL="0">
              <a:lnSpc>
                <a:spcPct val="108000"/>
              </a:lnSpc>
              <a:buNone/>
            </a:pPr>
            <a:r>
              <a:rPr lang="en-US" sz="2800" dirty="0">
                <a:solidFill>
                  <a:srgbClr val="EAF0FA"/>
                </a:solidFill>
                <a:latin typeface="Space Grotesk" pitchFamily="34" charset="0"/>
                <a:ea typeface="Space Grotesk" pitchFamily="34" charset="-122"/>
                <a:cs typeface="Space Grotesk" pitchFamily="34" charset="-120"/>
              </a:rPr>
              <a:t>NPO · RMU</a:t>
            </a:r>
            <a:endParaRPr lang="en-US" sz="2800" dirty="0"/>
          </a:p>
        </p:txBody>
      </p:sp>
      <p:sp>
        <p:nvSpPr>
          <p:cNvPr id="18" name="Text 16"/>
          <p:cNvSpPr txBox="1"/>
          <p:nvPr/>
        </p:nvSpPr>
        <p:spPr>
          <a:xfrm>
            <a:off x="5376672" y="4434840"/>
            <a:ext cx="3337560" cy="2468880"/>
          </a:xfrm>
          <a:prstGeom prst="rect">
            <a:avLst/>
          </a:prstGeom>
          <a:noFill/>
          <a:ln/>
        </p:spPr>
        <p:txBody>
          <a:bodyPr wrap="square" lIns="0" tIns="0" rIns="0" bIns="0" rtlCol="0" anchor="t"/>
          <a:lstStyle/>
          <a:p>
            <a:pPr algn="l" indent="0" marL="0">
              <a:lnSpc>
                <a:spcPct val="115000"/>
              </a:lnSpc>
              <a:buNone/>
            </a:pPr>
            <a:r>
              <a:rPr lang="en-US" sz="1750" dirty="0">
                <a:solidFill>
                  <a:srgbClr val="B8C2D6"/>
                </a:solidFill>
                <a:latin typeface="IBM Plex Sans" pitchFamily="34" charset="0"/>
                <a:ea typeface="IBM Plex Sans" pitchFamily="34" charset="-122"/>
                <a:cs typeface="IBM Plex Sans" pitchFamily="34" charset="-120"/>
              </a:rPr>
              <a:t>Preference-loss scrub and representation misdirection — approximate unlearning in one training pass.</a:t>
            </a:r>
            <a:endParaRPr lang="en-US" sz="1750" dirty="0"/>
          </a:p>
        </p:txBody>
      </p:sp>
      <p:sp>
        <p:nvSpPr>
          <p:cNvPr id="19" name="Text 17"/>
          <p:cNvSpPr txBox="1"/>
          <p:nvPr/>
        </p:nvSpPr>
        <p:spPr>
          <a:xfrm>
            <a:off x="5376672" y="7178040"/>
            <a:ext cx="3337560" cy="365760"/>
          </a:xfrm>
          <a:prstGeom prst="rect">
            <a:avLst/>
          </a:prstGeom>
          <a:noFill/>
          <a:ln/>
        </p:spPr>
        <p:txBody>
          <a:bodyPr wrap="square" lIns="0" tIns="0" rIns="0" bIns="0" rtlCol="0" anchor="t"/>
          <a:lstStyle/>
          <a:p>
            <a:pPr algn="l" indent="0" marL="0">
              <a:lnSpc>
                <a:spcPct val="108000"/>
              </a:lnSpc>
              <a:buNone/>
            </a:pPr>
            <a:r>
              <a:rPr lang="en-US" sz="1300" dirty="0">
                <a:solidFill>
                  <a:srgbClr val="7C89A3"/>
                </a:solidFill>
                <a:latin typeface="IBM Plex Mono" pitchFamily="34" charset="0"/>
                <a:ea typeface="IBM Plex Mono" pitchFamily="34" charset="-122"/>
                <a:cs typeface="IBM Plex Mono" pitchFamily="34" charset="-120"/>
              </a:rPr>
              <a:t>Zhang et al.; Li et al.</a:t>
            </a:r>
            <a:endParaRPr lang="en-US" sz="1300" dirty="0"/>
          </a:p>
        </p:txBody>
      </p:sp>
      <p:sp>
        <p:nvSpPr>
          <p:cNvPr id="20" name="Text 18"/>
          <p:cNvSpPr txBox="1"/>
          <p:nvPr/>
        </p:nvSpPr>
        <p:spPr>
          <a:xfrm>
            <a:off x="5376672" y="7863840"/>
            <a:ext cx="3291840" cy="310896"/>
          </a:xfrm>
          <a:prstGeom prst="rect">
            <a:avLst/>
          </a:prstGeom>
          <a:noFill/>
          <a:ln/>
        </p:spPr>
        <p:txBody>
          <a:bodyPr wrap="square" lIns="0" tIns="0" rIns="0" bIns="0" rtlCol="0" anchor="t"/>
          <a:lstStyle/>
          <a:p>
            <a:pPr algn="l" indent="0" marL="0">
              <a:lnSpc>
                <a:spcPct val="108000"/>
              </a:lnSpc>
              <a:buNone/>
            </a:pPr>
            <a:r>
              <a:rPr lang="en-US" sz="1500" dirty="0">
                <a:solidFill>
                  <a:srgbClr val="7C89A3"/>
                </a:solidFill>
                <a:latin typeface="IBM Plex Mono" pitchFamily="34" charset="0"/>
                <a:ea typeface="IBM Plex Mono" pitchFamily="34" charset="-122"/>
                <a:cs typeface="IBM Plex Mono" pitchFamily="34" charset="-120"/>
              </a:rPr>
              <a:t>ARM B</a:t>
            </a:r>
            <a:endParaRPr lang="en-US" sz="1500" dirty="0"/>
          </a:p>
        </p:txBody>
      </p:sp>
      <p:sp>
        <p:nvSpPr>
          <p:cNvPr id="21" name="Shape 19"/>
          <p:cNvSpPr/>
          <p:nvPr/>
        </p:nvSpPr>
        <p:spPr>
          <a:xfrm>
            <a:off x="9217152" y="2468880"/>
            <a:ext cx="3840480" cy="6035040"/>
          </a:xfrm>
          <a:prstGeom prst="roundRect">
            <a:avLst>
              <a:gd name="adj" fmla="val 1905"/>
            </a:avLst>
          </a:prstGeom>
          <a:solidFill>
            <a:srgbClr val="111B30"/>
          </a:solidFill>
          <a:ln w="12700">
            <a:solidFill>
              <a:srgbClr val="2DD4BF"/>
            </a:solidFill>
            <a:prstDash val="solid"/>
          </a:ln>
        </p:spPr>
      </p:sp>
      <p:sp>
        <p:nvSpPr>
          <p:cNvPr id="22" name="Text 20"/>
          <p:cNvSpPr txBox="1"/>
          <p:nvPr/>
        </p:nvSpPr>
        <p:spPr>
          <a:xfrm>
            <a:off x="9491472" y="2724912"/>
            <a:ext cx="1463040" cy="365760"/>
          </a:xfrm>
          <a:prstGeom prst="rect">
            <a:avLst/>
          </a:prstGeom>
          <a:noFill/>
          <a:ln/>
        </p:spPr>
        <p:txBody>
          <a:bodyPr wrap="square" lIns="0" tIns="0" rIns="0" bIns="0" rtlCol="0" anchor="t"/>
          <a:lstStyle/>
          <a:p>
            <a:pPr algn="l" indent="0" marL="0">
              <a:lnSpc>
                <a:spcPct val="108000"/>
              </a:lnSpc>
              <a:buNone/>
            </a:pPr>
            <a:r>
              <a:rPr lang="en-US" sz="1600" dirty="0">
                <a:solidFill>
                  <a:srgbClr val="7C89A3"/>
                </a:solidFill>
                <a:latin typeface="IBM Plex Mono" pitchFamily="34" charset="0"/>
                <a:ea typeface="IBM Plex Mono" pitchFamily="34" charset="-122"/>
                <a:cs typeface="IBM Plex Mono" pitchFamily="34" charset="-120"/>
              </a:rPr>
              <a:t>2024</a:t>
            </a:r>
            <a:endParaRPr lang="en-US" sz="1600" dirty="0"/>
          </a:p>
        </p:txBody>
      </p:sp>
      <p:sp>
        <p:nvSpPr>
          <p:cNvPr id="23" name="Text 21"/>
          <p:cNvSpPr txBox="1"/>
          <p:nvPr/>
        </p:nvSpPr>
        <p:spPr>
          <a:xfrm>
            <a:off x="11137392" y="2724912"/>
            <a:ext cx="1645920" cy="365760"/>
          </a:xfrm>
          <a:prstGeom prst="rect">
            <a:avLst/>
          </a:prstGeom>
          <a:noFill/>
          <a:ln/>
        </p:spPr>
        <p:txBody>
          <a:bodyPr wrap="square" lIns="0" tIns="0" rIns="0" bIns="0" rtlCol="0" anchor="t"/>
          <a:lstStyle/>
          <a:p>
            <a:pPr algn="r" indent="0" marL="0">
              <a:lnSpc>
                <a:spcPct val="108000"/>
              </a:lnSpc>
              <a:buNone/>
            </a:pPr>
            <a:r>
              <a:rPr lang="en-US" sz="1600" dirty="0">
                <a:solidFill>
                  <a:srgbClr val="2DD4BF"/>
                </a:solidFill>
                <a:latin typeface="IBM Plex Mono" pitchFamily="34" charset="0"/>
                <a:ea typeface="IBM Plex Mono" pitchFamily="34" charset="-122"/>
                <a:cs typeface="IBM Plex Mono" pitchFamily="34" charset="-120"/>
              </a:rPr>
              <a:t>warning</a:t>
            </a:r>
            <a:endParaRPr lang="en-US" sz="1600" dirty="0"/>
          </a:p>
        </p:txBody>
      </p:sp>
      <p:sp>
        <p:nvSpPr>
          <p:cNvPr id="24" name="Text 22"/>
          <p:cNvSpPr txBox="1"/>
          <p:nvPr/>
        </p:nvSpPr>
        <p:spPr>
          <a:xfrm>
            <a:off x="9491472" y="3291840"/>
            <a:ext cx="3383280" cy="1005840"/>
          </a:xfrm>
          <a:prstGeom prst="rect">
            <a:avLst/>
          </a:prstGeom>
          <a:noFill/>
          <a:ln/>
        </p:spPr>
        <p:txBody>
          <a:bodyPr wrap="square" lIns="0" tIns="0" rIns="0" bIns="0" rtlCol="0" anchor="t"/>
          <a:lstStyle/>
          <a:p>
            <a:pPr algn="l" indent="0" marL="0">
              <a:lnSpc>
                <a:spcPct val="108000"/>
              </a:lnSpc>
              <a:buNone/>
            </a:pPr>
            <a:r>
              <a:rPr lang="en-US" sz="2800" dirty="0">
                <a:solidFill>
                  <a:srgbClr val="EAF0FA"/>
                </a:solidFill>
                <a:latin typeface="Space Grotesk" pitchFamily="34" charset="0"/>
                <a:ea typeface="Space Grotesk" pitchFamily="34" charset="-122"/>
                <a:cs typeface="Space Grotesk" pitchFamily="34" charset="-120"/>
              </a:rPr>
              <a:t>Relearning attacks</a:t>
            </a:r>
            <a:endParaRPr lang="en-US" sz="2800" dirty="0"/>
          </a:p>
        </p:txBody>
      </p:sp>
      <p:sp>
        <p:nvSpPr>
          <p:cNvPr id="25" name="Text 23"/>
          <p:cNvSpPr txBox="1"/>
          <p:nvPr/>
        </p:nvSpPr>
        <p:spPr>
          <a:xfrm>
            <a:off x="9491472" y="4434840"/>
            <a:ext cx="3337560" cy="2468880"/>
          </a:xfrm>
          <a:prstGeom prst="rect">
            <a:avLst/>
          </a:prstGeom>
          <a:noFill/>
          <a:ln/>
        </p:spPr>
        <p:txBody>
          <a:bodyPr wrap="square" lIns="0" tIns="0" rIns="0" bIns="0" rtlCol="0" anchor="t"/>
          <a:lstStyle/>
          <a:p>
            <a:pPr algn="l" indent="0" marL="0">
              <a:lnSpc>
                <a:spcPct val="115000"/>
              </a:lnSpc>
              <a:buNone/>
            </a:pPr>
            <a:r>
              <a:rPr lang="en-US" sz="1750" dirty="0">
                <a:solidFill>
                  <a:srgbClr val="B8C2D6"/>
                </a:solidFill>
                <a:latin typeface="IBM Plex Sans" pitchFamily="34" charset="0"/>
                <a:ea typeface="IBM Plex Sans" pitchFamily="34" charset="-122"/>
                <a:cs typeface="IBM Plex Sans" pitchFamily="34" charset="-120"/>
              </a:rPr>
              <a:t>A light fine-tune revives forgotten content. Approximate unlearning suppresses; it does not remove.</a:t>
            </a:r>
            <a:endParaRPr lang="en-US" sz="1750" dirty="0"/>
          </a:p>
        </p:txBody>
      </p:sp>
      <p:sp>
        <p:nvSpPr>
          <p:cNvPr id="26" name="Text 24"/>
          <p:cNvSpPr txBox="1"/>
          <p:nvPr/>
        </p:nvSpPr>
        <p:spPr>
          <a:xfrm>
            <a:off x="9491472" y="7178040"/>
            <a:ext cx="3337560" cy="365760"/>
          </a:xfrm>
          <a:prstGeom prst="rect">
            <a:avLst/>
          </a:prstGeom>
          <a:noFill/>
          <a:ln/>
        </p:spPr>
        <p:txBody>
          <a:bodyPr wrap="square" lIns="0" tIns="0" rIns="0" bIns="0" rtlCol="0" anchor="t"/>
          <a:lstStyle/>
          <a:p>
            <a:pPr algn="l" indent="0" marL="0">
              <a:lnSpc>
                <a:spcPct val="108000"/>
              </a:lnSpc>
              <a:buNone/>
            </a:pPr>
            <a:r>
              <a:rPr lang="en-US" sz="1300" dirty="0">
                <a:solidFill>
                  <a:srgbClr val="7C89A3"/>
                </a:solidFill>
                <a:latin typeface="IBM Plex Mono" pitchFamily="34" charset="0"/>
                <a:ea typeface="IBM Plex Mono" pitchFamily="34" charset="-122"/>
                <a:cs typeface="IBM Plex Mono" pitchFamily="34" charset="-120"/>
              </a:rPr>
              <a:t>arXiv:2406.13356</a:t>
            </a:r>
            <a:endParaRPr lang="en-US" sz="1300" dirty="0"/>
          </a:p>
        </p:txBody>
      </p:sp>
      <p:sp>
        <p:nvSpPr>
          <p:cNvPr id="27" name="Text 25"/>
          <p:cNvSpPr txBox="1"/>
          <p:nvPr/>
        </p:nvSpPr>
        <p:spPr>
          <a:xfrm>
            <a:off x="9491472" y="7863840"/>
            <a:ext cx="3291840" cy="310896"/>
          </a:xfrm>
          <a:prstGeom prst="rect">
            <a:avLst/>
          </a:prstGeom>
          <a:noFill/>
          <a:ln/>
        </p:spPr>
        <p:txBody>
          <a:bodyPr wrap="square" lIns="0" tIns="0" rIns="0" bIns="0" rtlCol="0" anchor="t"/>
          <a:lstStyle/>
          <a:p>
            <a:pPr algn="l" indent="0" marL="0">
              <a:lnSpc>
                <a:spcPct val="108000"/>
              </a:lnSpc>
              <a:buNone/>
            </a:pPr>
            <a:r>
              <a:rPr lang="en-US" sz="1500" dirty="0">
                <a:solidFill>
                  <a:srgbClr val="2DD4BF"/>
                </a:solidFill>
                <a:latin typeface="IBM Plex Mono" pitchFamily="34" charset="0"/>
                <a:ea typeface="IBM Plex Mono" pitchFamily="34" charset="-122"/>
                <a:cs typeface="IBM Plex Mono" pitchFamily="34" charset="-120"/>
              </a:rPr>
              <a:t>ATTACK</a:t>
            </a:r>
            <a:endParaRPr lang="en-US" sz="1500" dirty="0"/>
          </a:p>
        </p:txBody>
      </p:sp>
      <p:sp>
        <p:nvSpPr>
          <p:cNvPr id="28" name="Shape 26"/>
          <p:cNvSpPr/>
          <p:nvPr/>
        </p:nvSpPr>
        <p:spPr>
          <a:xfrm>
            <a:off x="13331952" y="2468880"/>
            <a:ext cx="3840480" cy="6035040"/>
          </a:xfrm>
          <a:prstGeom prst="roundRect">
            <a:avLst>
              <a:gd name="adj" fmla="val 1905"/>
            </a:avLst>
          </a:prstGeom>
          <a:solidFill>
            <a:srgbClr val="111B30"/>
          </a:solidFill>
          <a:ln w="12700">
            <a:solidFill>
              <a:srgbClr val="38435C"/>
            </a:solidFill>
            <a:prstDash val="solid"/>
          </a:ln>
        </p:spPr>
      </p:sp>
      <p:sp>
        <p:nvSpPr>
          <p:cNvPr id="29" name="Text 27"/>
          <p:cNvSpPr txBox="1"/>
          <p:nvPr/>
        </p:nvSpPr>
        <p:spPr>
          <a:xfrm>
            <a:off x="13606272" y="2724912"/>
            <a:ext cx="1463040" cy="365760"/>
          </a:xfrm>
          <a:prstGeom prst="rect">
            <a:avLst/>
          </a:prstGeom>
          <a:noFill/>
          <a:ln/>
        </p:spPr>
        <p:txBody>
          <a:bodyPr wrap="square" lIns="0" tIns="0" rIns="0" bIns="0" rtlCol="0" anchor="t"/>
          <a:lstStyle/>
          <a:p>
            <a:pPr algn="l" indent="0" marL="0">
              <a:lnSpc>
                <a:spcPct val="108000"/>
              </a:lnSpc>
              <a:buNone/>
            </a:pPr>
            <a:r>
              <a:rPr lang="en-US" sz="1600" dirty="0">
                <a:solidFill>
                  <a:srgbClr val="7C89A3"/>
                </a:solidFill>
                <a:latin typeface="IBM Plex Mono" pitchFamily="34" charset="0"/>
                <a:ea typeface="IBM Plex Mono" pitchFamily="34" charset="-122"/>
                <a:cs typeface="IBM Plex Mono" pitchFamily="34" charset="-120"/>
              </a:rPr>
              <a:t>2024</a:t>
            </a:r>
            <a:endParaRPr lang="en-US" sz="1600" dirty="0"/>
          </a:p>
        </p:txBody>
      </p:sp>
      <p:sp>
        <p:nvSpPr>
          <p:cNvPr id="30" name="Text 28"/>
          <p:cNvSpPr txBox="1"/>
          <p:nvPr/>
        </p:nvSpPr>
        <p:spPr>
          <a:xfrm>
            <a:off x="15252192" y="2724912"/>
            <a:ext cx="1645920" cy="365760"/>
          </a:xfrm>
          <a:prstGeom prst="rect">
            <a:avLst/>
          </a:prstGeom>
          <a:noFill/>
          <a:ln/>
        </p:spPr>
        <p:txBody>
          <a:bodyPr wrap="square" lIns="0" tIns="0" rIns="0" bIns="0" rtlCol="0" anchor="t"/>
          <a:lstStyle/>
          <a:p>
            <a:pPr algn="r" indent="0" marL="0">
              <a:lnSpc>
                <a:spcPct val="108000"/>
              </a:lnSpc>
              <a:buNone/>
            </a:pPr>
            <a:r>
              <a:rPr lang="en-US" sz="1600" dirty="0">
                <a:solidFill>
                  <a:srgbClr val="7C89A3"/>
                </a:solidFill>
                <a:latin typeface="IBM Plex Mono" pitchFamily="34" charset="0"/>
                <a:ea typeface="IBM Plex Mono" pitchFamily="34" charset="-122"/>
                <a:cs typeface="IBM Plex Mono" pitchFamily="34" charset="-120"/>
              </a:rPr>
              <a:t>metrics</a:t>
            </a:r>
            <a:endParaRPr lang="en-US" sz="1600" dirty="0"/>
          </a:p>
        </p:txBody>
      </p:sp>
      <p:sp>
        <p:nvSpPr>
          <p:cNvPr id="31" name="Text 29"/>
          <p:cNvSpPr txBox="1"/>
          <p:nvPr/>
        </p:nvSpPr>
        <p:spPr>
          <a:xfrm>
            <a:off x="13606272" y="3291840"/>
            <a:ext cx="3383280" cy="1005840"/>
          </a:xfrm>
          <a:prstGeom prst="rect">
            <a:avLst/>
          </a:prstGeom>
          <a:noFill/>
          <a:ln/>
        </p:spPr>
        <p:txBody>
          <a:bodyPr wrap="square" lIns="0" tIns="0" rIns="0" bIns="0" rtlCol="0" anchor="t"/>
          <a:lstStyle/>
          <a:p>
            <a:pPr algn="l" indent="0" marL="0">
              <a:lnSpc>
                <a:spcPct val="108000"/>
              </a:lnSpc>
              <a:buNone/>
            </a:pPr>
            <a:r>
              <a:rPr lang="en-US" sz="2800" dirty="0">
                <a:solidFill>
                  <a:srgbClr val="EAF0FA"/>
                </a:solidFill>
                <a:latin typeface="Space Grotesk" pitchFamily="34" charset="0"/>
                <a:ea typeface="Space Grotesk" pitchFamily="34" charset="-122"/>
                <a:cs typeface="Space Grotesk" pitchFamily="34" charset="-120"/>
              </a:rPr>
              <a:t>TOFU · MUSE</a:t>
            </a:r>
            <a:endParaRPr lang="en-US" sz="2800" dirty="0"/>
          </a:p>
        </p:txBody>
      </p:sp>
      <p:sp>
        <p:nvSpPr>
          <p:cNvPr id="32" name="Text 30"/>
          <p:cNvSpPr txBox="1"/>
          <p:nvPr/>
        </p:nvSpPr>
        <p:spPr>
          <a:xfrm>
            <a:off x="13606272" y="4434840"/>
            <a:ext cx="3337560" cy="2468880"/>
          </a:xfrm>
          <a:prstGeom prst="rect">
            <a:avLst/>
          </a:prstGeom>
          <a:noFill/>
          <a:ln/>
        </p:spPr>
        <p:txBody>
          <a:bodyPr wrap="square" lIns="0" tIns="0" rIns="0" bIns="0" rtlCol="0" anchor="t"/>
          <a:lstStyle/>
          <a:p>
            <a:pPr algn="l" indent="0" marL="0">
              <a:lnSpc>
                <a:spcPct val="115000"/>
              </a:lnSpc>
              <a:buNone/>
            </a:pPr>
            <a:r>
              <a:rPr lang="en-US" sz="1750" dirty="0">
                <a:solidFill>
                  <a:srgbClr val="B8C2D6"/>
                </a:solidFill>
                <a:latin typeface="IBM Plex Sans" pitchFamily="34" charset="0"/>
                <a:ea typeface="IBM Plex Sans" pitchFamily="34" charset="-122"/>
                <a:cs typeface="IBM Plex Sans" pitchFamily="34" charset="-120"/>
              </a:rPr>
              <a:t>Benchmarks for forget and retain quality — but neither scores durability after an attack.</a:t>
            </a:r>
            <a:endParaRPr lang="en-US" sz="1750" dirty="0"/>
          </a:p>
        </p:txBody>
      </p:sp>
      <p:sp>
        <p:nvSpPr>
          <p:cNvPr id="33" name="Text 31"/>
          <p:cNvSpPr txBox="1"/>
          <p:nvPr/>
        </p:nvSpPr>
        <p:spPr>
          <a:xfrm>
            <a:off x="13606272" y="7178040"/>
            <a:ext cx="3337560" cy="365760"/>
          </a:xfrm>
          <a:prstGeom prst="rect">
            <a:avLst/>
          </a:prstGeom>
          <a:noFill/>
          <a:ln/>
        </p:spPr>
        <p:txBody>
          <a:bodyPr wrap="square" lIns="0" tIns="0" rIns="0" bIns="0" rtlCol="0" anchor="t"/>
          <a:lstStyle/>
          <a:p>
            <a:pPr algn="l" indent="0" marL="0">
              <a:lnSpc>
                <a:spcPct val="108000"/>
              </a:lnSpc>
              <a:buNone/>
            </a:pPr>
            <a:r>
              <a:rPr lang="en-US" sz="1300" dirty="0">
                <a:solidFill>
                  <a:srgbClr val="7C89A3"/>
                </a:solidFill>
                <a:latin typeface="IBM Plex Mono" pitchFamily="34" charset="0"/>
                <a:ea typeface="IBM Plex Mono" pitchFamily="34" charset="-122"/>
                <a:cs typeface="IBM Plex Mono" pitchFamily="34" charset="-120"/>
              </a:rPr>
              <a:t>Maini et al.; Shi et al.</a:t>
            </a:r>
            <a:endParaRPr lang="en-US" sz="1300" dirty="0"/>
          </a:p>
        </p:txBody>
      </p:sp>
      <p:sp>
        <p:nvSpPr>
          <p:cNvPr id="34" name="Text 32"/>
          <p:cNvSpPr txBox="1"/>
          <p:nvPr/>
        </p:nvSpPr>
        <p:spPr>
          <a:xfrm>
            <a:off x="13606272" y="7863840"/>
            <a:ext cx="3291840" cy="310896"/>
          </a:xfrm>
          <a:prstGeom prst="rect">
            <a:avLst/>
          </a:prstGeom>
          <a:noFill/>
          <a:ln/>
        </p:spPr>
        <p:txBody>
          <a:bodyPr wrap="square" lIns="0" tIns="0" rIns="0" bIns="0" rtlCol="0" anchor="t"/>
          <a:lstStyle/>
          <a:p>
            <a:pPr algn="l" indent="0" marL="0">
              <a:lnSpc>
                <a:spcPct val="108000"/>
              </a:lnSpc>
              <a:buNone/>
            </a:pPr>
            <a:r>
              <a:rPr lang="en-US" sz="1500" dirty="0">
                <a:solidFill>
                  <a:srgbClr val="7C89A3"/>
                </a:solidFill>
                <a:latin typeface="IBM Plex Mono" pitchFamily="34" charset="0"/>
                <a:ea typeface="IBM Plex Mono" pitchFamily="34" charset="-122"/>
                <a:cs typeface="IBM Plex Mono" pitchFamily="34" charset="-120"/>
              </a:rPr>
              <a:t>METRICS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020"/>
        </a:solidFill>
      </p:bgPr>
    </p:bg>
    <p:spTree>
      <p:nvGrpSpPr>
        <p:cNvPr id="1" name=""/>
        <p:cNvGrpSpPr/>
        <p:nvPr/>
      </p:nvGrpSpPr>
      <p:grpSpPr>
        <a:xfrm>
          <a:off x="0" y="0"/>
          <a:ext cx="0" cy="0"/>
          <a:chOff x="0" y="0"/>
          <a:chExt cx="0" cy="0"/>
        </a:xfrm>
      </p:grpSpPr>
      <p:sp>
        <p:nvSpPr>
          <p:cNvPr id="2" name="Text 0"/>
          <p:cNvSpPr txBox="1"/>
          <p:nvPr/>
        </p:nvSpPr>
        <p:spPr>
          <a:xfrm>
            <a:off x="987552" y="722376"/>
            <a:ext cx="731520" cy="329184"/>
          </a:xfrm>
          <a:prstGeom prst="rect">
            <a:avLst/>
          </a:prstGeom>
          <a:noFill/>
          <a:ln/>
        </p:spPr>
        <p:txBody>
          <a:bodyPr wrap="square" lIns="0" tIns="0" rIns="0" bIns="0" rtlCol="0" anchor="t"/>
          <a:lstStyle/>
          <a:p>
            <a:pPr algn="l" indent="0" marL="0">
              <a:lnSpc>
                <a:spcPct val="108000"/>
              </a:lnSpc>
              <a:buNone/>
            </a:pPr>
            <a:r>
              <a:rPr lang="en-US" sz="1800" dirty="0">
                <a:solidFill>
                  <a:srgbClr val="2DD4BF"/>
                </a:solidFill>
                <a:latin typeface="IBM Plex Mono" pitchFamily="34" charset="0"/>
                <a:ea typeface="IBM Plex Mono" pitchFamily="34" charset="-122"/>
                <a:cs typeface="IBM Plex Mono" pitchFamily="34" charset="-120"/>
              </a:rPr>
              <a:t>06</a:t>
            </a:r>
            <a:endParaRPr lang="en-US" sz="1800" dirty="0"/>
          </a:p>
        </p:txBody>
      </p:sp>
      <p:sp>
        <p:nvSpPr>
          <p:cNvPr id="3" name="Text 1"/>
          <p:cNvSpPr txBox="1"/>
          <p:nvPr/>
        </p:nvSpPr>
        <p:spPr>
          <a:xfrm>
            <a:off x="1938528" y="722376"/>
            <a:ext cx="9144000" cy="329184"/>
          </a:xfrm>
          <a:prstGeom prst="rect">
            <a:avLst/>
          </a:prstGeom>
          <a:noFill/>
          <a:ln/>
        </p:spPr>
        <p:txBody>
          <a:bodyPr wrap="square" lIns="0" tIns="0" rIns="0" bIns="0" rtlCol="0" anchor="t"/>
          <a:lstStyle/>
          <a:p>
            <a:pPr algn="l" indent="0" marL="0">
              <a:lnSpc>
                <a:spcPct val="108000"/>
              </a:lnSpc>
              <a:buNone/>
            </a:pPr>
            <a:r>
              <a:rPr lang="en-US" sz="1800" dirty="0">
                <a:solidFill>
                  <a:srgbClr val="7C89A3"/>
                </a:solidFill>
                <a:latin typeface="IBM Plex Mono" pitchFamily="34" charset="0"/>
                <a:ea typeface="IBM Plex Mono" pitchFamily="34" charset="-122"/>
                <a:cs typeface="IBM Plex Mono" pitchFamily="34" charset="-120"/>
              </a:rPr>
              <a:t>RESEARCH GAPS</a:t>
            </a:r>
            <a:endParaRPr lang="en-US" sz="1800" dirty="0"/>
          </a:p>
        </p:txBody>
      </p:sp>
      <p:sp>
        <p:nvSpPr>
          <p:cNvPr id="4" name="Text 2"/>
          <p:cNvSpPr txBox="1"/>
          <p:nvPr/>
        </p:nvSpPr>
        <p:spPr>
          <a:xfrm>
            <a:off x="987552" y="1170432"/>
            <a:ext cx="16093440" cy="731520"/>
          </a:xfrm>
          <a:prstGeom prst="rect">
            <a:avLst/>
          </a:prstGeom>
          <a:noFill/>
          <a:ln/>
        </p:spPr>
        <p:txBody>
          <a:bodyPr wrap="square" lIns="0" tIns="0" rIns="0" bIns="0" rtlCol="0" anchor="t"/>
          <a:lstStyle/>
          <a:p>
            <a:pPr algn="l" indent="0" marL="0">
              <a:lnSpc>
                <a:spcPct val="108000"/>
              </a:lnSpc>
              <a:buNone/>
            </a:pPr>
            <a:r>
              <a:rPr lang="en-US" sz="4200" dirty="0">
                <a:solidFill>
                  <a:srgbClr val="EAF0FA"/>
                </a:solidFill>
                <a:latin typeface="Space Grotesk" pitchFamily="34" charset="0"/>
                <a:ea typeface="Space Grotesk" pitchFamily="34" charset="-122"/>
                <a:cs typeface="Space Grotesk" pitchFamily="34" charset="-120"/>
              </a:rPr>
              <a:t>The Unoccupied Quadrant</a:t>
            </a:r>
            <a:endParaRPr lang="en-US" sz="4200" dirty="0"/>
          </a:p>
        </p:txBody>
      </p:sp>
      <p:sp>
        <p:nvSpPr>
          <p:cNvPr id="5" name="Text 3"/>
          <p:cNvSpPr txBox="1"/>
          <p:nvPr/>
        </p:nvSpPr>
        <p:spPr>
          <a:xfrm>
            <a:off x="987552" y="9436608"/>
            <a:ext cx="4572000" cy="329184"/>
          </a:xfrm>
          <a:prstGeom prst="rect">
            <a:avLst/>
          </a:prstGeom>
          <a:noFill/>
          <a:ln/>
        </p:spPr>
        <p:txBody>
          <a:bodyPr wrap="square" lIns="0" tIns="0" rIns="0" bIns="0" rtlCol="0" anchor="t"/>
          <a:lstStyle/>
          <a:p>
            <a:pPr algn="l" indent="0" marL="0">
              <a:lnSpc>
                <a:spcPct val="108000"/>
              </a:lnSpc>
              <a:buNone/>
            </a:pPr>
            <a:r>
              <a:rPr lang="en-US" sz="1600" dirty="0">
                <a:solidFill>
                  <a:srgbClr val="38435C"/>
                </a:solidFill>
                <a:latin typeface="IBM Plex Mono" pitchFamily="34" charset="0"/>
                <a:ea typeface="IBM Plex Mono" pitchFamily="34" charset="-122"/>
                <a:cs typeface="IBM Plex Mono" pitchFamily="34" charset="-120"/>
              </a:rPr>
              <a:t>FORGETBENCH · HRU</a:t>
            </a:r>
            <a:endParaRPr lang="en-US" sz="1600" dirty="0"/>
          </a:p>
        </p:txBody>
      </p:sp>
      <p:sp>
        <p:nvSpPr>
          <p:cNvPr id="6" name="Text 4"/>
          <p:cNvSpPr txBox="1"/>
          <p:nvPr/>
        </p:nvSpPr>
        <p:spPr>
          <a:xfrm>
            <a:off x="12710160" y="9436608"/>
            <a:ext cx="4572000" cy="329184"/>
          </a:xfrm>
          <a:prstGeom prst="rect">
            <a:avLst/>
          </a:prstGeom>
          <a:noFill/>
          <a:ln/>
        </p:spPr>
        <p:txBody>
          <a:bodyPr wrap="square" lIns="0" tIns="0" rIns="0" bIns="0" rtlCol="0" anchor="t"/>
          <a:lstStyle/>
          <a:p>
            <a:pPr algn="r" indent="0" marL="0">
              <a:lnSpc>
                <a:spcPct val="108000"/>
              </a:lnSpc>
              <a:buNone/>
            </a:pPr>
            <a:r>
              <a:rPr lang="en-US" sz="1600" dirty="0">
                <a:solidFill>
                  <a:srgbClr val="38435C"/>
                </a:solidFill>
                <a:latin typeface="IBM Plex Mono" pitchFamily="34" charset="0"/>
                <a:ea typeface="IBM Plex Mono" pitchFamily="34" charset="-122"/>
                <a:cs typeface="IBM Plex Mono" pitchFamily="34" charset="-120"/>
              </a:rPr>
              <a:t>WOXSEN UNIVERSITY</a:t>
            </a:r>
            <a:endParaRPr lang="en-US" sz="1600" dirty="0"/>
          </a:p>
        </p:txBody>
      </p:sp>
      <p:sp>
        <p:nvSpPr>
          <p:cNvPr id="7" name="Shape 5"/>
          <p:cNvSpPr/>
          <p:nvPr/>
        </p:nvSpPr>
        <p:spPr>
          <a:xfrm>
            <a:off x="987552" y="2377440"/>
            <a:ext cx="8778240" cy="6309360"/>
          </a:xfrm>
          <a:prstGeom prst="roundRect">
            <a:avLst>
              <a:gd name="adj" fmla="val 580"/>
            </a:avLst>
          </a:prstGeom>
          <a:solidFill>
            <a:srgbClr val="111B30"/>
          </a:solidFill>
          <a:ln w="12700">
            <a:solidFill>
              <a:srgbClr val="38435C"/>
            </a:solidFill>
            <a:prstDash val="solid"/>
          </a:ln>
        </p:spPr>
      </p:sp>
      <p:sp>
        <p:nvSpPr>
          <p:cNvPr id="8" name="Shape 6"/>
          <p:cNvSpPr/>
          <p:nvPr/>
        </p:nvSpPr>
        <p:spPr>
          <a:xfrm>
            <a:off x="1810512" y="7863840"/>
            <a:ext cx="7589520" cy="0"/>
          </a:xfrm>
          <a:prstGeom prst="line">
            <a:avLst/>
          </a:prstGeom>
          <a:noFill/>
          <a:ln w="15875">
            <a:solidFill>
              <a:srgbClr val="7C89A3"/>
            </a:solidFill>
            <a:prstDash val="solid"/>
          </a:ln>
        </p:spPr>
      </p:sp>
      <p:sp>
        <p:nvSpPr>
          <p:cNvPr id="9" name="Shape 7"/>
          <p:cNvSpPr/>
          <p:nvPr/>
        </p:nvSpPr>
        <p:spPr>
          <a:xfrm>
            <a:off x="1810512" y="2743200"/>
            <a:ext cx="0" cy="5120640"/>
          </a:xfrm>
          <a:prstGeom prst="line">
            <a:avLst/>
          </a:prstGeom>
          <a:noFill/>
          <a:ln w="15875">
            <a:solidFill>
              <a:srgbClr val="7C89A3"/>
            </a:solidFill>
            <a:prstDash val="solid"/>
          </a:ln>
        </p:spPr>
      </p:sp>
      <p:sp>
        <p:nvSpPr>
          <p:cNvPr id="10" name="Text 8"/>
          <p:cNvSpPr txBox="1"/>
          <p:nvPr/>
        </p:nvSpPr>
        <p:spPr>
          <a:xfrm>
            <a:off x="1810512" y="8046720"/>
            <a:ext cx="7315200" cy="320040"/>
          </a:xfrm>
          <a:prstGeom prst="rect">
            <a:avLst/>
          </a:prstGeom>
          <a:noFill/>
          <a:ln/>
        </p:spPr>
        <p:txBody>
          <a:bodyPr wrap="square" lIns="0" tIns="0" rIns="0" bIns="0" rtlCol="0" anchor="t"/>
          <a:lstStyle/>
          <a:p>
            <a:pPr algn="l" indent="0" marL="0">
              <a:lnSpc>
                <a:spcPct val="108000"/>
              </a:lnSpc>
              <a:buNone/>
            </a:pPr>
            <a:r>
              <a:rPr lang="en-US" sz="1300" dirty="0">
                <a:solidFill>
                  <a:srgbClr val="7C89A3"/>
                </a:solidFill>
                <a:latin typeface="IBM Plex Mono" pitchFamily="34" charset="0"/>
                <a:ea typeface="IBM Plex Mono" pitchFamily="34" charset="-122"/>
                <a:cs typeface="IBM Plex Mono" pitchFamily="34" charset="-120"/>
              </a:rPr>
              <a:t>COMPUTE COST PER ERASURE REQUEST →</a:t>
            </a:r>
            <a:endParaRPr lang="en-US" sz="1300" dirty="0"/>
          </a:p>
        </p:txBody>
      </p:sp>
      <p:sp>
        <p:nvSpPr>
          <p:cNvPr id="11" name="Text 9"/>
          <p:cNvSpPr txBox="1"/>
          <p:nvPr/>
        </p:nvSpPr>
        <p:spPr>
          <a:xfrm>
            <a:off x="1124712" y="2514600"/>
            <a:ext cx="2743200" cy="320040"/>
          </a:xfrm>
          <a:prstGeom prst="rect">
            <a:avLst/>
          </a:prstGeom>
          <a:noFill/>
          <a:ln/>
        </p:spPr>
        <p:txBody>
          <a:bodyPr wrap="square" lIns="0" tIns="0" rIns="0" bIns="0" rtlCol="0" anchor="t"/>
          <a:lstStyle/>
          <a:p>
            <a:pPr algn="l" indent="0" marL="0">
              <a:lnSpc>
                <a:spcPct val="108000"/>
              </a:lnSpc>
              <a:buNone/>
            </a:pPr>
            <a:r>
              <a:rPr lang="en-US" sz="1300" dirty="0">
                <a:solidFill>
                  <a:srgbClr val="7C89A3"/>
                </a:solidFill>
                <a:latin typeface="IBM Plex Mono" pitchFamily="34" charset="0"/>
                <a:ea typeface="IBM Plex Mono" pitchFamily="34" charset="-122"/>
                <a:cs typeface="IBM Plex Mono" pitchFamily="34" charset="-120"/>
              </a:rPr>
              <a:t>DURABILITY ↑</a:t>
            </a:r>
            <a:endParaRPr lang="en-US" sz="1300" dirty="0"/>
          </a:p>
        </p:txBody>
      </p:sp>
      <p:sp>
        <p:nvSpPr>
          <p:cNvPr id="12" name="Shape 10"/>
          <p:cNvSpPr/>
          <p:nvPr/>
        </p:nvSpPr>
        <p:spPr>
          <a:xfrm>
            <a:off x="2039112" y="3017520"/>
            <a:ext cx="3291840" cy="2103120"/>
          </a:xfrm>
          <a:prstGeom prst="roundRect">
            <a:avLst>
              <a:gd name="adj" fmla="val 4348"/>
            </a:avLst>
          </a:prstGeom>
          <a:solidFill>
            <a:srgbClr val="2DD4BF">
              <a:alpha val="12000"/>
            </a:srgbClr>
          </a:solidFill>
          <a:ln w="15875">
            <a:solidFill>
              <a:srgbClr val="2DD4BF"/>
            </a:solidFill>
            <a:prstDash val="dash"/>
          </a:ln>
        </p:spPr>
      </p:sp>
      <p:sp>
        <p:nvSpPr>
          <p:cNvPr id="13" name="Text 11"/>
          <p:cNvSpPr txBox="1"/>
          <p:nvPr/>
        </p:nvSpPr>
        <p:spPr>
          <a:xfrm>
            <a:off x="2313432" y="3246120"/>
            <a:ext cx="2743200" cy="320040"/>
          </a:xfrm>
          <a:prstGeom prst="rect">
            <a:avLst/>
          </a:prstGeom>
          <a:noFill/>
          <a:ln/>
        </p:spPr>
        <p:txBody>
          <a:bodyPr wrap="square" lIns="0" tIns="0" rIns="0" bIns="0" rtlCol="0" anchor="t"/>
          <a:lstStyle/>
          <a:p>
            <a:pPr algn="l" indent="0" marL="0">
              <a:lnSpc>
                <a:spcPct val="108000"/>
              </a:lnSpc>
              <a:buNone/>
            </a:pPr>
            <a:r>
              <a:rPr lang="en-US" sz="1400" dirty="0">
                <a:solidFill>
                  <a:srgbClr val="2DD4BF"/>
                </a:solidFill>
                <a:latin typeface="IBM Plex Mono" pitchFamily="34" charset="0"/>
                <a:ea typeface="IBM Plex Mono" pitchFamily="34" charset="-122"/>
                <a:cs typeface="IBM Plex Mono" pitchFamily="34" charset="-120"/>
              </a:rPr>
              <a:t>UNOCCUPIED</a:t>
            </a:r>
            <a:endParaRPr lang="en-US" sz="1400" dirty="0"/>
          </a:p>
        </p:txBody>
      </p:sp>
      <p:sp>
        <p:nvSpPr>
          <p:cNvPr id="14" name="Text 12"/>
          <p:cNvSpPr txBox="1"/>
          <p:nvPr/>
        </p:nvSpPr>
        <p:spPr>
          <a:xfrm>
            <a:off x="2313432" y="3657600"/>
            <a:ext cx="2834640" cy="868680"/>
          </a:xfrm>
          <a:prstGeom prst="rect">
            <a:avLst/>
          </a:prstGeom>
          <a:noFill/>
          <a:ln/>
        </p:spPr>
        <p:txBody>
          <a:bodyPr wrap="square" lIns="0" tIns="0" rIns="0" bIns="0" rtlCol="0" anchor="t"/>
          <a:lstStyle/>
          <a:p>
            <a:pPr algn="l" indent="0" marL="0">
              <a:lnSpc>
                <a:spcPct val="108000"/>
              </a:lnSpc>
              <a:buNone/>
            </a:pPr>
            <a:r>
              <a:rPr lang="en-US" sz="1500" dirty="0">
                <a:solidFill>
                  <a:srgbClr val="B8C2D6"/>
                </a:solidFill>
                <a:latin typeface="IBM Plex Sans" pitchFamily="34" charset="0"/>
                <a:ea typeface="IBM Plex Sans" pitchFamily="34" charset="-122"/>
                <a:cs typeface="IBM Plex Sans" pitchFamily="34" charset="-120"/>
              </a:rPr>
              <a:t>Cheap enough per request, durable enough to survive fine-tuning.</a:t>
            </a:r>
            <a:endParaRPr lang="en-US" sz="1500" dirty="0"/>
          </a:p>
        </p:txBody>
      </p:sp>
      <p:sp>
        <p:nvSpPr>
          <p:cNvPr id="15" name="Text 13"/>
          <p:cNvSpPr txBox="1"/>
          <p:nvPr/>
        </p:nvSpPr>
        <p:spPr>
          <a:xfrm>
            <a:off x="2313432" y="4617720"/>
            <a:ext cx="2926080" cy="365760"/>
          </a:xfrm>
          <a:prstGeom prst="rect">
            <a:avLst/>
          </a:prstGeom>
          <a:noFill/>
          <a:ln/>
        </p:spPr>
        <p:txBody>
          <a:bodyPr wrap="square" lIns="0" tIns="0" rIns="0" bIns="0" rtlCol="0" anchor="t"/>
          <a:lstStyle/>
          <a:p>
            <a:pPr algn="l" indent="0" marL="0">
              <a:lnSpc>
                <a:spcPct val="108000"/>
              </a:lnSpc>
              <a:buNone/>
            </a:pPr>
            <a:r>
              <a:rPr lang="en-US" sz="1300" dirty="0">
                <a:solidFill>
                  <a:srgbClr val="2DD4BF"/>
                </a:solidFill>
                <a:latin typeface="IBM Plex Mono" pitchFamily="34" charset="0"/>
                <a:ea typeface="IBM Plex Mono" pitchFamily="34" charset="-122"/>
                <a:cs typeface="IBM Plex Mono" pitchFamily="34" charset="-120"/>
              </a:rPr>
              <a:t>HRU · 2–5× design target</a:t>
            </a:r>
            <a:endParaRPr lang="en-US" sz="1300" dirty="0"/>
          </a:p>
        </p:txBody>
      </p:sp>
      <p:sp>
        <p:nvSpPr>
          <p:cNvPr id="16" name="Shape 14"/>
          <p:cNvSpPr/>
          <p:nvPr/>
        </p:nvSpPr>
        <p:spPr>
          <a:xfrm>
            <a:off x="7754112" y="3291840"/>
            <a:ext cx="219456" cy="219456"/>
          </a:xfrm>
          <a:prstGeom prst="ellipse">
            <a:avLst/>
          </a:prstGeom>
          <a:solidFill>
            <a:srgbClr val="7C89A3"/>
          </a:solidFill>
          <a:ln w="12700">
            <a:solidFill>
              <a:srgbClr val="7C89A3"/>
            </a:solidFill>
            <a:prstDash val="solid"/>
          </a:ln>
        </p:spPr>
      </p:sp>
      <p:sp>
        <p:nvSpPr>
          <p:cNvPr id="17" name="Text 15"/>
          <p:cNvSpPr txBox="1"/>
          <p:nvPr/>
        </p:nvSpPr>
        <p:spPr>
          <a:xfrm>
            <a:off x="8101584" y="3200400"/>
            <a:ext cx="2194560" cy="365760"/>
          </a:xfrm>
          <a:prstGeom prst="rect">
            <a:avLst/>
          </a:prstGeom>
          <a:noFill/>
          <a:ln/>
        </p:spPr>
        <p:txBody>
          <a:bodyPr wrap="square" lIns="0" tIns="0" rIns="0" bIns="0" rtlCol="0" anchor="t"/>
          <a:lstStyle/>
          <a:p>
            <a:pPr algn="l" indent="0" marL="0">
              <a:lnSpc>
                <a:spcPct val="108000"/>
              </a:lnSpc>
              <a:buNone/>
            </a:pPr>
            <a:r>
              <a:rPr lang="en-US" sz="1700" dirty="0">
                <a:solidFill>
                  <a:srgbClr val="EAF0FA"/>
                </a:solidFill>
                <a:latin typeface="IBM Plex Sans" pitchFamily="34" charset="0"/>
                <a:ea typeface="IBM Plex Sans" pitchFamily="34" charset="-122"/>
                <a:cs typeface="IBM Plex Sans" pitchFamily="34" charset="-120"/>
              </a:rPr>
              <a:t>Full retrain</a:t>
            </a:r>
            <a:endParaRPr lang="en-US" sz="1700" dirty="0"/>
          </a:p>
        </p:txBody>
      </p:sp>
      <p:sp>
        <p:nvSpPr>
          <p:cNvPr id="18" name="Text 16"/>
          <p:cNvSpPr txBox="1"/>
          <p:nvPr/>
        </p:nvSpPr>
        <p:spPr>
          <a:xfrm>
            <a:off x="8101584" y="3566160"/>
            <a:ext cx="2194560" cy="320040"/>
          </a:xfrm>
          <a:prstGeom prst="rect">
            <a:avLst/>
          </a:prstGeom>
          <a:noFill/>
          <a:ln/>
        </p:spPr>
        <p:txBody>
          <a:bodyPr wrap="square" lIns="0" tIns="0" rIns="0" bIns="0" rtlCol="0" anchor="t"/>
          <a:lstStyle/>
          <a:p>
            <a:pPr algn="l" indent="0" marL="0">
              <a:lnSpc>
                <a:spcPct val="108000"/>
              </a:lnSpc>
              <a:buNone/>
            </a:pPr>
            <a:r>
              <a:rPr lang="en-US" sz="1200" dirty="0">
                <a:solidFill>
                  <a:srgbClr val="7C89A3"/>
                </a:solidFill>
                <a:latin typeface="IBM Plex Mono" pitchFamily="34" charset="0"/>
                <a:ea typeface="IBM Plex Mono" pitchFamily="34" charset="-122"/>
                <a:cs typeface="IBM Plex Mono" pitchFamily="34" charset="-120"/>
              </a:rPr>
              <a:t>~100× · exact</a:t>
            </a:r>
            <a:endParaRPr lang="en-US" sz="1200" dirty="0"/>
          </a:p>
        </p:txBody>
      </p:sp>
      <p:sp>
        <p:nvSpPr>
          <p:cNvPr id="19" name="Shape 17"/>
          <p:cNvSpPr/>
          <p:nvPr/>
        </p:nvSpPr>
        <p:spPr>
          <a:xfrm>
            <a:off x="6108192" y="3840480"/>
            <a:ext cx="219456" cy="219456"/>
          </a:xfrm>
          <a:prstGeom prst="ellipse">
            <a:avLst/>
          </a:prstGeom>
          <a:solidFill>
            <a:srgbClr val="7C89A3"/>
          </a:solidFill>
          <a:ln w="12700">
            <a:solidFill>
              <a:srgbClr val="7C89A3"/>
            </a:solidFill>
            <a:prstDash val="solid"/>
          </a:ln>
        </p:spPr>
      </p:sp>
      <p:sp>
        <p:nvSpPr>
          <p:cNvPr id="20" name="Text 18"/>
          <p:cNvSpPr txBox="1"/>
          <p:nvPr/>
        </p:nvSpPr>
        <p:spPr>
          <a:xfrm>
            <a:off x="6455664" y="3749040"/>
            <a:ext cx="2194560" cy="365760"/>
          </a:xfrm>
          <a:prstGeom prst="rect">
            <a:avLst/>
          </a:prstGeom>
          <a:noFill/>
          <a:ln/>
        </p:spPr>
        <p:txBody>
          <a:bodyPr wrap="square" lIns="0" tIns="0" rIns="0" bIns="0" rtlCol="0" anchor="t"/>
          <a:lstStyle/>
          <a:p>
            <a:pPr algn="l" indent="0" marL="0">
              <a:lnSpc>
                <a:spcPct val="108000"/>
              </a:lnSpc>
              <a:buNone/>
            </a:pPr>
            <a:r>
              <a:rPr lang="en-US" sz="1700" dirty="0">
                <a:solidFill>
                  <a:srgbClr val="EAF0FA"/>
                </a:solidFill>
                <a:latin typeface="IBM Plex Sans" pitchFamily="34" charset="0"/>
                <a:ea typeface="IBM Plex Sans" pitchFamily="34" charset="-122"/>
                <a:cs typeface="IBM Plex Sans" pitchFamily="34" charset="-120"/>
              </a:rPr>
              <a:t>SISA</a:t>
            </a:r>
            <a:endParaRPr lang="en-US" sz="1700" dirty="0"/>
          </a:p>
        </p:txBody>
      </p:sp>
      <p:sp>
        <p:nvSpPr>
          <p:cNvPr id="21" name="Text 19"/>
          <p:cNvSpPr txBox="1"/>
          <p:nvPr/>
        </p:nvSpPr>
        <p:spPr>
          <a:xfrm>
            <a:off x="6455664" y="4114800"/>
            <a:ext cx="2194560" cy="320040"/>
          </a:xfrm>
          <a:prstGeom prst="rect">
            <a:avLst/>
          </a:prstGeom>
          <a:noFill/>
          <a:ln/>
        </p:spPr>
        <p:txBody>
          <a:bodyPr wrap="square" lIns="0" tIns="0" rIns="0" bIns="0" rtlCol="0" anchor="t"/>
          <a:lstStyle/>
          <a:p>
            <a:pPr algn="l" indent="0" marL="0">
              <a:lnSpc>
                <a:spcPct val="108000"/>
              </a:lnSpc>
              <a:buNone/>
            </a:pPr>
            <a:r>
              <a:rPr lang="en-US" sz="1200" dirty="0">
                <a:solidFill>
                  <a:srgbClr val="7C89A3"/>
                </a:solidFill>
                <a:latin typeface="IBM Plex Mono" pitchFamily="34" charset="0"/>
                <a:ea typeface="IBM Plex Mono" pitchFamily="34" charset="-122"/>
                <a:cs typeface="IBM Plex Mono" pitchFamily="34" charset="-120"/>
              </a:rPr>
              <a:t>~10× · exact shard</a:t>
            </a:r>
            <a:endParaRPr lang="en-US" sz="1200" dirty="0"/>
          </a:p>
        </p:txBody>
      </p:sp>
      <p:sp>
        <p:nvSpPr>
          <p:cNvPr id="22" name="Shape 20"/>
          <p:cNvSpPr/>
          <p:nvPr/>
        </p:nvSpPr>
        <p:spPr>
          <a:xfrm>
            <a:off x="2176272" y="6583680"/>
            <a:ext cx="219456" cy="219456"/>
          </a:xfrm>
          <a:prstGeom prst="ellipse">
            <a:avLst/>
          </a:prstGeom>
          <a:solidFill>
            <a:srgbClr val="7C89A3"/>
          </a:solidFill>
          <a:ln w="12700">
            <a:solidFill>
              <a:srgbClr val="7C89A3"/>
            </a:solidFill>
            <a:prstDash val="solid"/>
          </a:ln>
        </p:spPr>
      </p:sp>
      <p:sp>
        <p:nvSpPr>
          <p:cNvPr id="23" name="Text 21"/>
          <p:cNvSpPr txBox="1"/>
          <p:nvPr/>
        </p:nvSpPr>
        <p:spPr>
          <a:xfrm>
            <a:off x="2523744" y="6492240"/>
            <a:ext cx="2194560" cy="365760"/>
          </a:xfrm>
          <a:prstGeom prst="rect">
            <a:avLst/>
          </a:prstGeom>
          <a:noFill/>
          <a:ln/>
        </p:spPr>
        <p:txBody>
          <a:bodyPr wrap="square" lIns="0" tIns="0" rIns="0" bIns="0" rtlCol="0" anchor="t"/>
          <a:lstStyle/>
          <a:p>
            <a:pPr algn="l" indent="0" marL="0">
              <a:lnSpc>
                <a:spcPct val="108000"/>
              </a:lnSpc>
              <a:buNone/>
            </a:pPr>
            <a:r>
              <a:rPr lang="en-US" sz="1700" dirty="0">
                <a:solidFill>
                  <a:srgbClr val="EAF0FA"/>
                </a:solidFill>
                <a:latin typeface="IBM Plex Sans" pitchFamily="34" charset="0"/>
                <a:ea typeface="IBM Plex Sans" pitchFamily="34" charset="-122"/>
                <a:cs typeface="IBM Plex Sans" pitchFamily="34" charset="-120"/>
              </a:rPr>
              <a:t>NPO</a:t>
            </a:r>
            <a:endParaRPr lang="en-US" sz="1700" dirty="0"/>
          </a:p>
        </p:txBody>
      </p:sp>
      <p:sp>
        <p:nvSpPr>
          <p:cNvPr id="24" name="Text 22"/>
          <p:cNvSpPr txBox="1"/>
          <p:nvPr/>
        </p:nvSpPr>
        <p:spPr>
          <a:xfrm>
            <a:off x="2523744" y="6858000"/>
            <a:ext cx="2194560" cy="320040"/>
          </a:xfrm>
          <a:prstGeom prst="rect">
            <a:avLst/>
          </a:prstGeom>
          <a:noFill/>
          <a:ln/>
        </p:spPr>
        <p:txBody>
          <a:bodyPr wrap="square" lIns="0" tIns="0" rIns="0" bIns="0" rtlCol="0" anchor="t"/>
          <a:lstStyle/>
          <a:p>
            <a:pPr algn="l" indent="0" marL="0">
              <a:lnSpc>
                <a:spcPct val="108000"/>
              </a:lnSpc>
              <a:buNone/>
            </a:pPr>
            <a:r>
              <a:rPr lang="en-US" sz="1200" dirty="0">
                <a:solidFill>
                  <a:srgbClr val="7C89A3"/>
                </a:solidFill>
                <a:latin typeface="IBM Plex Mono" pitchFamily="34" charset="0"/>
                <a:ea typeface="IBM Plex Mono" pitchFamily="34" charset="-122"/>
                <a:cs typeface="IBM Plex Mono" pitchFamily="34" charset="-120"/>
              </a:rPr>
              <a:t>1× · preference loss</a:t>
            </a:r>
            <a:endParaRPr lang="en-US" sz="1200" dirty="0"/>
          </a:p>
        </p:txBody>
      </p:sp>
      <p:sp>
        <p:nvSpPr>
          <p:cNvPr id="25" name="Shape 23"/>
          <p:cNvSpPr/>
          <p:nvPr/>
        </p:nvSpPr>
        <p:spPr>
          <a:xfrm>
            <a:off x="4370832" y="7223760"/>
            <a:ext cx="219456" cy="219456"/>
          </a:xfrm>
          <a:prstGeom prst="ellipse">
            <a:avLst/>
          </a:prstGeom>
          <a:solidFill>
            <a:srgbClr val="7C89A3"/>
          </a:solidFill>
          <a:ln w="12700">
            <a:solidFill>
              <a:srgbClr val="7C89A3"/>
            </a:solidFill>
            <a:prstDash val="solid"/>
          </a:ln>
        </p:spPr>
      </p:sp>
      <p:sp>
        <p:nvSpPr>
          <p:cNvPr id="26" name="Text 24"/>
          <p:cNvSpPr txBox="1"/>
          <p:nvPr/>
        </p:nvSpPr>
        <p:spPr>
          <a:xfrm>
            <a:off x="4718304" y="7132320"/>
            <a:ext cx="2194560" cy="365760"/>
          </a:xfrm>
          <a:prstGeom prst="rect">
            <a:avLst/>
          </a:prstGeom>
          <a:noFill/>
          <a:ln/>
        </p:spPr>
        <p:txBody>
          <a:bodyPr wrap="square" lIns="0" tIns="0" rIns="0" bIns="0" rtlCol="0" anchor="t"/>
          <a:lstStyle/>
          <a:p>
            <a:pPr algn="l" indent="0" marL="0">
              <a:lnSpc>
                <a:spcPct val="108000"/>
              </a:lnSpc>
              <a:buNone/>
            </a:pPr>
            <a:r>
              <a:rPr lang="en-US" sz="1700" dirty="0">
                <a:solidFill>
                  <a:srgbClr val="EAF0FA"/>
                </a:solidFill>
                <a:latin typeface="IBM Plex Sans" pitchFamily="34" charset="0"/>
                <a:ea typeface="IBM Plex Sans" pitchFamily="34" charset="-122"/>
                <a:cs typeface="IBM Plex Sans" pitchFamily="34" charset="-120"/>
              </a:rPr>
              <a:t>RMU</a:t>
            </a:r>
            <a:endParaRPr lang="en-US" sz="1700" dirty="0"/>
          </a:p>
        </p:txBody>
      </p:sp>
      <p:sp>
        <p:nvSpPr>
          <p:cNvPr id="27" name="Text 25"/>
          <p:cNvSpPr txBox="1"/>
          <p:nvPr/>
        </p:nvSpPr>
        <p:spPr>
          <a:xfrm>
            <a:off x="4718304" y="7498080"/>
            <a:ext cx="2194560" cy="320040"/>
          </a:xfrm>
          <a:prstGeom prst="rect">
            <a:avLst/>
          </a:prstGeom>
          <a:noFill/>
          <a:ln/>
        </p:spPr>
        <p:txBody>
          <a:bodyPr wrap="square" lIns="0" tIns="0" rIns="0" bIns="0" rtlCol="0" anchor="t"/>
          <a:lstStyle/>
          <a:p>
            <a:pPr algn="l" indent="0" marL="0">
              <a:lnSpc>
                <a:spcPct val="108000"/>
              </a:lnSpc>
              <a:buNone/>
            </a:pPr>
            <a:r>
              <a:rPr lang="en-US" sz="1200" dirty="0">
                <a:solidFill>
                  <a:srgbClr val="7C89A3"/>
                </a:solidFill>
                <a:latin typeface="IBM Plex Mono" pitchFamily="34" charset="0"/>
                <a:ea typeface="IBM Plex Mono" pitchFamily="34" charset="-122"/>
                <a:cs typeface="IBM Plex Mono" pitchFamily="34" charset="-120"/>
              </a:rPr>
              <a:t>1× · misdirection</a:t>
            </a:r>
            <a:endParaRPr lang="en-US" sz="1200" dirty="0"/>
          </a:p>
        </p:txBody>
      </p:sp>
      <p:sp>
        <p:nvSpPr>
          <p:cNvPr id="28" name="Shape 26"/>
          <p:cNvSpPr/>
          <p:nvPr/>
        </p:nvSpPr>
        <p:spPr>
          <a:xfrm>
            <a:off x="10287000" y="2377440"/>
            <a:ext cx="7013448" cy="1920240"/>
          </a:xfrm>
          <a:prstGeom prst="roundRect">
            <a:avLst>
              <a:gd name="adj" fmla="val 3810"/>
            </a:avLst>
          </a:prstGeom>
          <a:solidFill>
            <a:srgbClr val="111B30"/>
          </a:solidFill>
          <a:ln w="12700">
            <a:solidFill>
              <a:srgbClr val="38435C"/>
            </a:solidFill>
            <a:prstDash val="solid"/>
          </a:ln>
        </p:spPr>
      </p:sp>
      <p:sp>
        <p:nvSpPr>
          <p:cNvPr id="29" name="Text 27"/>
          <p:cNvSpPr txBox="1"/>
          <p:nvPr/>
        </p:nvSpPr>
        <p:spPr>
          <a:xfrm>
            <a:off x="10607040" y="2606040"/>
            <a:ext cx="3657600" cy="310896"/>
          </a:xfrm>
          <a:prstGeom prst="rect">
            <a:avLst/>
          </a:prstGeom>
          <a:noFill/>
          <a:ln/>
        </p:spPr>
        <p:txBody>
          <a:bodyPr wrap="square" lIns="0" tIns="0" rIns="0" bIns="0" rtlCol="0" anchor="t"/>
          <a:lstStyle/>
          <a:p>
            <a:pPr algn="l" indent="0" marL="0">
              <a:lnSpc>
                <a:spcPct val="108000"/>
              </a:lnSpc>
              <a:buNone/>
            </a:pPr>
            <a:r>
              <a:rPr lang="en-US" sz="1500" dirty="0">
                <a:solidFill>
                  <a:srgbClr val="2DD4BF"/>
                </a:solidFill>
                <a:latin typeface="IBM Plex Mono" pitchFamily="34" charset="0"/>
                <a:ea typeface="IBM Plex Mono" pitchFamily="34" charset="-122"/>
                <a:cs typeface="IBM Plex Mono" pitchFamily="34" charset="-120"/>
              </a:rPr>
              <a:t>GAP 1</a:t>
            </a:r>
            <a:endParaRPr lang="en-US" sz="1500" dirty="0"/>
          </a:p>
        </p:txBody>
      </p:sp>
      <p:sp>
        <p:nvSpPr>
          <p:cNvPr id="30" name="Text 28"/>
          <p:cNvSpPr txBox="1"/>
          <p:nvPr/>
        </p:nvSpPr>
        <p:spPr>
          <a:xfrm>
            <a:off x="10607040" y="2971800"/>
            <a:ext cx="6400800" cy="457200"/>
          </a:xfrm>
          <a:prstGeom prst="rect">
            <a:avLst/>
          </a:prstGeom>
          <a:noFill/>
          <a:ln/>
        </p:spPr>
        <p:txBody>
          <a:bodyPr wrap="square" lIns="0" tIns="0" rIns="0" bIns="0" rtlCol="0" anchor="t"/>
          <a:lstStyle/>
          <a:p>
            <a:pPr algn="l" indent="0" marL="0">
              <a:lnSpc>
                <a:spcPct val="108000"/>
              </a:lnSpc>
              <a:buNone/>
            </a:pPr>
            <a:r>
              <a:rPr lang="en-US" sz="2300" dirty="0">
                <a:solidFill>
                  <a:srgbClr val="EAF0FA"/>
                </a:solidFill>
                <a:latin typeface="Space Grotesk" pitchFamily="34" charset="0"/>
                <a:ea typeface="Space Grotesk" pitchFamily="34" charset="-122"/>
                <a:cs typeface="Space Grotesk" pitchFamily="34" charset="-120"/>
              </a:rPr>
              <a:t>Nothing is cheap and durable</a:t>
            </a:r>
            <a:endParaRPr lang="en-US" sz="2300" dirty="0"/>
          </a:p>
        </p:txBody>
      </p:sp>
      <p:sp>
        <p:nvSpPr>
          <p:cNvPr id="31" name="Text 29"/>
          <p:cNvSpPr txBox="1"/>
          <p:nvPr/>
        </p:nvSpPr>
        <p:spPr>
          <a:xfrm>
            <a:off x="10607040" y="3474720"/>
            <a:ext cx="6400800" cy="731520"/>
          </a:xfrm>
          <a:prstGeom prst="rect">
            <a:avLst/>
          </a:prstGeom>
          <a:noFill/>
          <a:ln/>
        </p:spPr>
        <p:txBody>
          <a:bodyPr wrap="square" lIns="0" tIns="0" rIns="0" bIns="0" rtlCol="0" anchor="t"/>
          <a:lstStyle/>
          <a:p>
            <a:pPr algn="l" indent="0" marL="0">
              <a:lnSpc>
                <a:spcPct val="108000"/>
              </a:lnSpc>
              <a:buNone/>
            </a:pPr>
            <a:r>
              <a:rPr lang="en-US" sz="1650" dirty="0">
                <a:solidFill>
                  <a:srgbClr val="B8C2D6"/>
                </a:solidFill>
                <a:latin typeface="IBM Plex Sans" pitchFamily="34" charset="0"/>
                <a:ea typeface="IBM Plex Sans" pitchFamily="34" charset="-122"/>
                <a:cs typeface="IBM Plex Sans" pitchFamily="34" charset="-120"/>
              </a:rPr>
              <a:t>Exact methods cost 10–100×; cheap methods reverse under attack.</a:t>
            </a:r>
            <a:endParaRPr lang="en-US" sz="1650" dirty="0"/>
          </a:p>
        </p:txBody>
      </p:sp>
      <p:sp>
        <p:nvSpPr>
          <p:cNvPr id="32" name="Shape 30"/>
          <p:cNvSpPr/>
          <p:nvPr/>
        </p:nvSpPr>
        <p:spPr>
          <a:xfrm>
            <a:off x="10287000" y="4544568"/>
            <a:ext cx="7013448" cy="1920240"/>
          </a:xfrm>
          <a:prstGeom prst="roundRect">
            <a:avLst>
              <a:gd name="adj" fmla="val 3810"/>
            </a:avLst>
          </a:prstGeom>
          <a:solidFill>
            <a:srgbClr val="111B30"/>
          </a:solidFill>
          <a:ln w="12700">
            <a:solidFill>
              <a:srgbClr val="38435C"/>
            </a:solidFill>
            <a:prstDash val="solid"/>
          </a:ln>
        </p:spPr>
      </p:sp>
      <p:sp>
        <p:nvSpPr>
          <p:cNvPr id="33" name="Text 31"/>
          <p:cNvSpPr txBox="1"/>
          <p:nvPr/>
        </p:nvSpPr>
        <p:spPr>
          <a:xfrm>
            <a:off x="10607040" y="4773168"/>
            <a:ext cx="3657600" cy="310896"/>
          </a:xfrm>
          <a:prstGeom prst="rect">
            <a:avLst/>
          </a:prstGeom>
          <a:noFill/>
          <a:ln/>
        </p:spPr>
        <p:txBody>
          <a:bodyPr wrap="square" lIns="0" tIns="0" rIns="0" bIns="0" rtlCol="0" anchor="t"/>
          <a:lstStyle/>
          <a:p>
            <a:pPr algn="l" indent="0" marL="0">
              <a:lnSpc>
                <a:spcPct val="108000"/>
              </a:lnSpc>
              <a:buNone/>
            </a:pPr>
            <a:r>
              <a:rPr lang="en-US" sz="1500" dirty="0">
                <a:solidFill>
                  <a:srgbClr val="2DD4BF"/>
                </a:solidFill>
                <a:latin typeface="IBM Plex Mono" pitchFamily="34" charset="0"/>
                <a:ea typeface="IBM Plex Mono" pitchFamily="34" charset="-122"/>
                <a:cs typeface="IBM Plex Mono" pitchFamily="34" charset="-120"/>
              </a:rPr>
              <a:t>GAP 2</a:t>
            </a:r>
            <a:endParaRPr lang="en-US" sz="1500" dirty="0"/>
          </a:p>
        </p:txBody>
      </p:sp>
      <p:sp>
        <p:nvSpPr>
          <p:cNvPr id="34" name="Text 32"/>
          <p:cNvSpPr txBox="1"/>
          <p:nvPr/>
        </p:nvSpPr>
        <p:spPr>
          <a:xfrm>
            <a:off x="10607040" y="5138928"/>
            <a:ext cx="6400800" cy="457200"/>
          </a:xfrm>
          <a:prstGeom prst="rect">
            <a:avLst/>
          </a:prstGeom>
          <a:noFill/>
          <a:ln/>
        </p:spPr>
        <p:txBody>
          <a:bodyPr wrap="square" lIns="0" tIns="0" rIns="0" bIns="0" rtlCol="0" anchor="t"/>
          <a:lstStyle/>
          <a:p>
            <a:pPr algn="l" indent="0" marL="0">
              <a:lnSpc>
                <a:spcPct val="108000"/>
              </a:lnSpc>
              <a:buNone/>
            </a:pPr>
            <a:r>
              <a:rPr lang="en-US" sz="2300" dirty="0">
                <a:solidFill>
                  <a:srgbClr val="EAF0FA"/>
                </a:solidFill>
                <a:latin typeface="Space Grotesk" pitchFamily="34" charset="0"/>
                <a:ea typeface="Space Grotesk" pitchFamily="34" charset="-122"/>
                <a:cs typeface="Space Grotesk" pitchFamily="34" charset="-120"/>
              </a:rPr>
              <a:t>Durability isn’t a standard metric</a:t>
            </a:r>
            <a:endParaRPr lang="en-US" sz="2300" dirty="0"/>
          </a:p>
        </p:txBody>
      </p:sp>
      <p:sp>
        <p:nvSpPr>
          <p:cNvPr id="35" name="Text 33"/>
          <p:cNvSpPr txBox="1"/>
          <p:nvPr/>
        </p:nvSpPr>
        <p:spPr>
          <a:xfrm>
            <a:off x="10607040" y="5641848"/>
            <a:ext cx="6400800" cy="731520"/>
          </a:xfrm>
          <a:prstGeom prst="rect">
            <a:avLst/>
          </a:prstGeom>
          <a:noFill/>
          <a:ln/>
        </p:spPr>
        <p:txBody>
          <a:bodyPr wrap="square" lIns="0" tIns="0" rIns="0" bIns="0" rtlCol="0" anchor="t"/>
          <a:lstStyle/>
          <a:p>
            <a:pPr algn="l" indent="0" marL="0">
              <a:lnSpc>
                <a:spcPct val="108000"/>
              </a:lnSpc>
              <a:buNone/>
            </a:pPr>
            <a:r>
              <a:rPr lang="en-US" sz="1650" dirty="0">
                <a:solidFill>
                  <a:srgbClr val="B8C2D6"/>
                </a:solidFill>
                <a:latin typeface="IBM Plex Sans" pitchFamily="34" charset="0"/>
                <a:ea typeface="IBM Plex Sans" pitchFamily="34" charset="-122"/>
                <a:cs typeface="IBM Plex Sans" pitchFamily="34" charset="-120"/>
              </a:rPr>
              <a:t>TOFU and MUSE score forgetting once — never after an attack.</a:t>
            </a:r>
            <a:endParaRPr lang="en-US" sz="1650" dirty="0"/>
          </a:p>
        </p:txBody>
      </p:sp>
      <p:sp>
        <p:nvSpPr>
          <p:cNvPr id="36" name="Shape 34"/>
          <p:cNvSpPr/>
          <p:nvPr/>
        </p:nvSpPr>
        <p:spPr>
          <a:xfrm>
            <a:off x="10287000" y="6711696"/>
            <a:ext cx="7013448" cy="1920240"/>
          </a:xfrm>
          <a:prstGeom prst="roundRect">
            <a:avLst>
              <a:gd name="adj" fmla="val 3810"/>
            </a:avLst>
          </a:prstGeom>
          <a:solidFill>
            <a:srgbClr val="111B30"/>
          </a:solidFill>
          <a:ln w="12700">
            <a:solidFill>
              <a:srgbClr val="38435C"/>
            </a:solidFill>
            <a:prstDash val="solid"/>
          </a:ln>
        </p:spPr>
      </p:sp>
      <p:sp>
        <p:nvSpPr>
          <p:cNvPr id="37" name="Text 35"/>
          <p:cNvSpPr txBox="1"/>
          <p:nvPr/>
        </p:nvSpPr>
        <p:spPr>
          <a:xfrm>
            <a:off x="10607040" y="6940296"/>
            <a:ext cx="3657600" cy="310896"/>
          </a:xfrm>
          <a:prstGeom prst="rect">
            <a:avLst/>
          </a:prstGeom>
          <a:noFill/>
          <a:ln/>
        </p:spPr>
        <p:txBody>
          <a:bodyPr wrap="square" lIns="0" tIns="0" rIns="0" bIns="0" rtlCol="0" anchor="t"/>
          <a:lstStyle/>
          <a:p>
            <a:pPr algn="l" indent="0" marL="0">
              <a:lnSpc>
                <a:spcPct val="108000"/>
              </a:lnSpc>
              <a:buNone/>
            </a:pPr>
            <a:r>
              <a:rPr lang="en-US" sz="1500" dirty="0">
                <a:solidFill>
                  <a:srgbClr val="2DD4BF"/>
                </a:solidFill>
                <a:latin typeface="IBM Plex Mono" pitchFamily="34" charset="0"/>
                <a:ea typeface="IBM Plex Mono" pitchFamily="34" charset="-122"/>
                <a:cs typeface="IBM Plex Mono" pitchFamily="34" charset="-120"/>
              </a:rPr>
              <a:t>GAP 3</a:t>
            </a:r>
            <a:endParaRPr lang="en-US" sz="1500" dirty="0"/>
          </a:p>
        </p:txBody>
      </p:sp>
      <p:sp>
        <p:nvSpPr>
          <p:cNvPr id="38" name="Text 36"/>
          <p:cNvSpPr txBox="1"/>
          <p:nvPr/>
        </p:nvSpPr>
        <p:spPr>
          <a:xfrm>
            <a:off x="10607040" y="7306056"/>
            <a:ext cx="6400800" cy="457200"/>
          </a:xfrm>
          <a:prstGeom prst="rect">
            <a:avLst/>
          </a:prstGeom>
          <a:noFill/>
          <a:ln/>
        </p:spPr>
        <p:txBody>
          <a:bodyPr wrap="square" lIns="0" tIns="0" rIns="0" bIns="0" rtlCol="0" anchor="t"/>
          <a:lstStyle/>
          <a:p>
            <a:pPr algn="l" indent="0" marL="0">
              <a:lnSpc>
                <a:spcPct val="108000"/>
              </a:lnSpc>
              <a:buNone/>
            </a:pPr>
            <a:r>
              <a:rPr lang="en-US" sz="2300" dirty="0">
                <a:solidFill>
                  <a:srgbClr val="EAF0FA"/>
                </a:solidFill>
                <a:latin typeface="Space Grotesk" pitchFamily="34" charset="0"/>
                <a:ea typeface="Space Grotesk" pitchFamily="34" charset="-122"/>
                <a:cs typeface="Space Grotesk" pitchFamily="34" charset="-120"/>
              </a:rPr>
              <a:t>No common harness</a:t>
            </a:r>
            <a:endParaRPr lang="en-US" sz="2300" dirty="0"/>
          </a:p>
        </p:txBody>
      </p:sp>
      <p:sp>
        <p:nvSpPr>
          <p:cNvPr id="39" name="Text 37"/>
          <p:cNvSpPr txBox="1"/>
          <p:nvPr/>
        </p:nvSpPr>
        <p:spPr>
          <a:xfrm>
            <a:off x="10607040" y="7808976"/>
            <a:ext cx="6400800" cy="731520"/>
          </a:xfrm>
          <a:prstGeom prst="rect">
            <a:avLst/>
          </a:prstGeom>
          <a:noFill/>
          <a:ln/>
        </p:spPr>
        <p:txBody>
          <a:bodyPr wrap="square" lIns="0" tIns="0" rIns="0" bIns="0" rtlCol="0" anchor="t"/>
          <a:lstStyle/>
          <a:p>
            <a:pPr algn="l" indent="0" marL="0">
              <a:lnSpc>
                <a:spcPct val="108000"/>
              </a:lnSpc>
              <a:buNone/>
            </a:pPr>
            <a:r>
              <a:rPr lang="en-US" sz="1650" dirty="0">
                <a:solidFill>
                  <a:srgbClr val="B8C2D6"/>
                </a:solidFill>
                <a:latin typeface="IBM Plex Sans" pitchFamily="34" charset="0"/>
                <a:ea typeface="IBM Plex Sans" pitchFamily="34" charset="-122"/>
                <a:cs typeface="IBM Plex Sans" pitchFamily="34" charset="-120"/>
              </a:rPr>
              <a:t>Methods are reported on different models, probes and cost accounting.</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020"/>
        </a:solidFill>
      </p:bgPr>
    </p:bg>
    <p:spTree>
      <p:nvGrpSpPr>
        <p:cNvPr id="1" name=""/>
        <p:cNvGrpSpPr/>
        <p:nvPr/>
      </p:nvGrpSpPr>
      <p:grpSpPr>
        <a:xfrm>
          <a:off x="0" y="0"/>
          <a:ext cx="0" cy="0"/>
          <a:chOff x="0" y="0"/>
          <a:chExt cx="0" cy="0"/>
        </a:xfrm>
      </p:grpSpPr>
      <p:sp>
        <p:nvSpPr>
          <p:cNvPr id="2" name="Text 0"/>
          <p:cNvSpPr txBox="1"/>
          <p:nvPr/>
        </p:nvSpPr>
        <p:spPr>
          <a:xfrm>
            <a:off x="987552" y="722376"/>
            <a:ext cx="731520" cy="329184"/>
          </a:xfrm>
          <a:prstGeom prst="rect">
            <a:avLst/>
          </a:prstGeom>
          <a:noFill/>
          <a:ln/>
        </p:spPr>
        <p:txBody>
          <a:bodyPr wrap="square" lIns="0" tIns="0" rIns="0" bIns="0" rtlCol="0" anchor="t"/>
          <a:lstStyle/>
          <a:p>
            <a:pPr algn="l" indent="0" marL="0">
              <a:lnSpc>
                <a:spcPct val="108000"/>
              </a:lnSpc>
              <a:buNone/>
            </a:pPr>
            <a:r>
              <a:rPr lang="en-US" sz="1800" dirty="0">
                <a:solidFill>
                  <a:srgbClr val="2DD4BF"/>
                </a:solidFill>
                <a:latin typeface="IBM Plex Mono" pitchFamily="34" charset="0"/>
                <a:ea typeface="IBM Plex Mono" pitchFamily="34" charset="-122"/>
                <a:cs typeface="IBM Plex Mono" pitchFamily="34" charset="-120"/>
              </a:rPr>
              <a:t>07</a:t>
            </a:r>
            <a:endParaRPr lang="en-US" sz="1800" dirty="0"/>
          </a:p>
        </p:txBody>
      </p:sp>
      <p:sp>
        <p:nvSpPr>
          <p:cNvPr id="3" name="Text 1"/>
          <p:cNvSpPr txBox="1"/>
          <p:nvPr/>
        </p:nvSpPr>
        <p:spPr>
          <a:xfrm>
            <a:off x="1938528" y="722376"/>
            <a:ext cx="9144000" cy="329184"/>
          </a:xfrm>
          <a:prstGeom prst="rect">
            <a:avLst/>
          </a:prstGeom>
          <a:noFill/>
          <a:ln/>
        </p:spPr>
        <p:txBody>
          <a:bodyPr wrap="square" lIns="0" tIns="0" rIns="0" bIns="0" rtlCol="0" anchor="t"/>
          <a:lstStyle/>
          <a:p>
            <a:pPr algn="l" indent="0" marL="0">
              <a:lnSpc>
                <a:spcPct val="108000"/>
              </a:lnSpc>
              <a:buNone/>
            </a:pPr>
            <a:r>
              <a:rPr lang="en-US" sz="1800" dirty="0">
                <a:solidFill>
                  <a:srgbClr val="7C89A3"/>
                </a:solidFill>
                <a:latin typeface="IBM Plex Mono" pitchFamily="34" charset="0"/>
                <a:ea typeface="IBM Plex Mono" pitchFamily="34" charset="-122"/>
                <a:cs typeface="IBM Plex Mono" pitchFamily="34" charset="-120"/>
              </a:rPr>
              <a:t>OBJECTIVES</a:t>
            </a:r>
            <a:endParaRPr lang="en-US" sz="1800" dirty="0"/>
          </a:p>
        </p:txBody>
      </p:sp>
      <p:sp>
        <p:nvSpPr>
          <p:cNvPr id="4" name="Text 2"/>
          <p:cNvSpPr txBox="1"/>
          <p:nvPr/>
        </p:nvSpPr>
        <p:spPr>
          <a:xfrm>
            <a:off x="987552" y="1170432"/>
            <a:ext cx="16093440" cy="731520"/>
          </a:xfrm>
          <a:prstGeom prst="rect">
            <a:avLst/>
          </a:prstGeom>
          <a:noFill/>
          <a:ln/>
        </p:spPr>
        <p:txBody>
          <a:bodyPr wrap="square" lIns="0" tIns="0" rIns="0" bIns="0" rtlCol="0" anchor="t"/>
          <a:lstStyle/>
          <a:p>
            <a:pPr algn="l" indent="0" marL="0">
              <a:lnSpc>
                <a:spcPct val="108000"/>
              </a:lnSpc>
              <a:buNone/>
            </a:pPr>
            <a:r>
              <a:rPr lang="en-US" sz="4200" dirty="0">
                <a:solidFill>
                  <a:srgbClr val="EAF0FA"/>
                </a:solidFill>
                <a:latin typeface="Space Grotesk" pitchFamily="34" charset="0"/>
                <a:ea typeface="Space Grotesk" pitchFamily="34" charset="-122"/>
                <a:cs typeface="Space Grotesk" pitchFamily="34" charset="-120"/>
              </a:rPr>
              <a:t>What We Set Out to Do — and Where Each Stands</a:t>
            </a:r>
            <a:endParaRPr lang="en-US" sz="4200" dirty="0"/>
          </a:p>
        </p:txBody>
      </p:sp>
      <p:sp>
        <p:nvSpPr>
          <p:cNvPr id="5" name="Text 3"/>
          <p:cNvSpPr txBox="1"/>
          <p:nvPr/>
        </p:nvSpPr>
        <p:spPr>
          <a:xfrm>
            <a:off x="987552" y="9436608"/>
            <a:ext cx="4572000" cy="329184"/>
          </a:xfrm>
          <a:prstGeom prst="rect">
            <a:avLst/>
          </a:prstGeom>
          <a:noFill/>
          <a:ln/>
        </p:spPr>
        <p:txBody>
          <a:bodyPr wrap="square" lIns="0" tIns="0" rIns="0" bIns="0" rtlCol="0" anchor="t"/>
          <a:lstStyle/>
          <a:p>
            <a:pPr algn="l" indent="0" marL="0">
              <a:lnSpc>
                <a:spcPct val="108000"/>
              </a:lnSpc>
              <a:buNone/>
            </a:pPr>
            <a:r>
              <a:rPr lang="en-US" sz="1600" dirty="0">
                <a:solidFill>
                  <a:srgbClr val="38435C"/>
                </a:solidFill>
                <a:latin typeface="IBM Plex Mono" pitchFamily="34" charset="0"/>
                <a:ea typeface="IBM Plex Mono" pitchFamily="34" charset="-122"/>
                <a:cs typeface="IBM Plex Mono" pitchFamily="34" charset="-120"/>
              </a:rPr>
              <a:t>FORGETBENCH · HRU</a:t>
            </a:r>
            <a:endParaRPr lang="en-US" sz="1600" dirty="0"/>
          </a:p>
        </p:txBody>
      </p:sp>
      <p:sp>
        <p:nvSpPr>
          <p:cNvPr id="6" name="Text 4"/>
          <p:cNvSpPr txBox="1"/>
          <p:nvPr/>
        </p:nvSpPr>
        <p:spPr>
          <a:xfrm>
            <a:off x="12710160" y="9436608"/>
            <a:ext cx="4572000" cy="329184"/>
          </a:xfrm>
          <a:prstGeom prst="rect">
            <a:avLst/>
          </a:prstGeom>
          <a:noFill/>
          <a:ln/>
        </p:spPr>
        <p:txBody>
          <a:bodyPr wrap="square" lIns="0" tIns="0" rIns="0" bIns="0" rtlCol="0" anchor="t"/>
          <a:lstStyle/>
          <a:p>
            <a:pPr algn="r" indent="0" marL="0">
              <a:lnSpc>
                <a:spcPct val="108000"/>
              </a:lnSpc>
              <a:buNone/>
            </a:pPr>
            <a:r>
              <a:rPr lang="en-US" sz="1600" dirty="0">
                <a:solidFill>
                  <a:srgbClr val="38435C"/>
                </a:solidFill>
                <a:latin typeface="IBM Plex Mono" pitchFamily="34" charset="0"/>
                <a:ea typeface="IBM Plex Mono" pitchFamily="34" charset="-122"/>
                <a:cs typeface="IBM Plex Mono" pitchFamily="34" charset="-120"/>
              </a:rPr>
              <a:t>WOXSEN UNIVERSITY</a:t>
            </a:r>
            <a:endParaRPr lang="en-US" sz="1600" dirty="0"/>
          </a:p>
        </p:txBody>
      </p:sp>
      <p:sp>
        <p:nvSpPr>
          <p:cNvPr id="7" name="Shape 5"/>
          <p:cNvSpPr/>
          <p:nvPr/>
        </p:nvSpPr>
        <p:spPr>
          <a:xfrm>
            <a:off x="987552" y="2331720"/>
            <a:ext cx="16312896" cy="1188720"/>
          </a:xfrm>
          <a:prstGeom prst="roundRect">
            <a:avLst>
              <a:gd name="adj" fmla="val 6154"/>
            </a:avLst>
          </a:prstGeom>
          <a:solidFill>
            <a:srgbClr val="111B30"/>
          </a:solidFill>
          <a:ln w="12700">
            <a:solidFill>
              <a:srgbClr val="38435C"/>
            </a:solidFill>
            <a:prstDash val="solid"/>
          </a:ln>
        </p:spPr>
      </p:sp>
      <p:sp>
        <p:nvSpPr>
          <p:cNvPr id="8" name="Text 6"/>
          <p:cNvSpPr txBox="1"/>
          <p:nvPr/>
        </p:nvSpPr>
        <p:spPr>
          <a:xfrm>
            <a:off x="1280160" y="2679192"/>
            <a:ext cx="822960" cy="457200"/>
          </a:xfrm>
          <a:prstGeom prst="rect">
            <a:avLst/>
          </a:prstGeom>
          <a:noFill/>
          <a:ln/>
        </p:spPr>
        <p:txBody>
          <a:bodyPr wrap="square" lIns="0" tIns="0" rIns="0" bIns="0" rtlCol="0" anchor="t"/>
          <a:lstStyle/>
          <a:p>
            <a:pPr algn="l" indent="0" marL="0">
              <a:lnSpc>
                <a:spcPct val="108000"/>
              </a:lnSpc>
              <a:buNone/>
            </a:pPr>
            <a:r>
              <a:rPr lang="en-US" sz="2000" dirty="0">
                <a:solidFill>
                  <a:srgbClr val="2DD4BF"/>
                </a:solidFill>
                <a:latin typeface="IBM Plex Mono" pitchFamily="34" charset="0"/>
                <a:ea typeface="IBM Plex Mono" pitchFamily="34" charset="-122"/>
                <a:cs typeface="IBM Plex Mono" pitchFamily="34" charset="-120"/>
              </a:rPr>
              <a:t>O1</a:t>
            </a:r>
            <a:endParaRPr lang="en-US" sz="2000" dirty="0"/>
          </a:p>
        </p:txBody>
      </p:sp>
      <p:sp>
        <p:nvSpPr>
          <p:cNvPr id="9" name="Text 7"/>
          <p:cNvSpPr txBox="1"/>
          <p:nvPr/>
        </p:nvSpPr>
        <p:spPr>
          <a:xfrm>
            <a:off x="2194560" y="2514600"/>
            <a:ext cx="5120640" cy="457200"/>
          </a:xfrm>
          <a:prstGeom prst="rect">
            <a:avLst/>
          </a:prstGeom>
          <a:noFill/>
          <a:ln/>
        </p:spPr>
        <p:txBody>
          <a:bodyPr wrap="square" lIns="0" tIns="0" rIns="0" bIns="0" rtlCol="0" anchor="t"/>
          <a:lstStyle/>
          <a:p>
            <a:pPr algn="l" indent="0" marL="0">
              <a:lnSpc>
                <a:spcPct val="108000"/>
              </a:lnSpc>
              <a:buNone/>
            </a:pPr>
            <a:r>
              <a:rPr lang="en-US" sz="2300" dirty="0">
                <a:solidFill>
                  <a:srgbClr val="EAF0FA"/>
                </a:solidFill>
                <a:latin typeface="Space Grotesk" pitchFamily="34" charset="0"/>
                <a:ea typeface="Space Grotesk" pitchFamily="34" charset="-122"/>
                <a:cs typeface="Space Grotesk" pitchFamily="34" charset="-120"/>
              </a:rPr>
              <a:t>Build one harness</a:t>
            </a:r>
            <a:endParaRPr lang="en-US" sz="2300" dirty="0"/>
          </a:p>
        </p:txBody>
      </p:sp>
      <p:sp>
        <p:nvSpPr>
          <p:cNvPr id="10" name="Text 8"/>
          <p:cNvSpPr txBox="1"/>
          <p:nvPr/>
        </p:nvSpPr>
        <p:spPr>
          <a:xfrm>
            <a:off x="2194560" y="2990088"/>
            <a:ext cx="10241280" cy="457200"/>
          </a:xfrm>
          <a:prstGeom prst="rect">
            <a:avLst/>
          </a:prstGeom>
          <a:noFill/>
          <a:ln/>
        </p:spPr>
        <p:txBody>
          <a:bodyPr wrap="square" lIns="0" tIns="0" rIns="0" bIns="0" rtlCol="0" anchor="t"/>
          <a:lstStyle/>
          <a:p>
            <a:pPr algn="l" indent="0" marL="0">
              <a:lnSpc>
                <a:spcPct val="108000"/>
              </a:lnSpc>
              <a:buNone/>
            </a:pPr>
            <a:r>
              <a:rPr lang="en-US" sz="1650" dirty="0">
                <a:solidFill>
                  <a:srgbClr val="B8C2D6"/>
                </a:solidFill>
                <a:latin typeface="IBM Plex Sans" pitchFamily="34" charset="0"/>
                <a:ea typeface="IBM Plex Sans" pitchFamily="34" charset="-122"/>
                <a:cs typeface="IBM Plex Sans" pitchFamily="34" charset="-120"/>
              </a:rPr>
              <a:t>All arms on one base model with identical probes, seeds and cost accounting.</a:t>
            </a:r>
            <a:endParaRPr lang="en-US" sz="1650" dirty="0"/>
          </a:p>
        </p:txBody>
      </p:sp>
      <p:sp>
        <p:nvSpPr>
          <p:cNvPr id="11" name="Shape 9"/>
          <p:cNvSpPr/>
          <p:nvPr/>
        </p:nvSpPr>
        <p:spPr>
          <a:xfrm>
            <a:off x="13670280" y="2651760"/>
            <a:ext cx="3337560" cy="548640"/>
          </a:xfrm>
          <a:prstGeom prst="roundRect">
            <a:avLst>
              <a:gd name="adj" fmla="val 50000"/>
            </a:avLst>
          </a:prstGeom>
          <a:solidFill>
            <a:srgbClr val="2DD4BF">
              <a:alpha val="18000"/>
            </a:srgbClr>
          </a:solidFill>
          <a:ln w="12700">
            <a:solidFill>
              <a:srgbClr val="2DD4BF"/>
            </a:solidFill>
            <a:prstDash val="solid"/>
          </a:ln>
        </p:spPr>
      </p:sp>
      <p:sp>
        <p:nvSpPr>
          <p:cNvPr id="12" name="Text 10"/>
          <p:cNvSpPr txBox="1"/>
          <p:nvPr/>
        </p:nvSpPr>
        <p:spPr>
          <a:xfrm>
            <a:off x="13670280" y="2651760"/>
            <a:ext cx="3337560" cy="548640"/>
          </a:xfrm>
          <a:prstGeom prst="rect">
            <a:avLst/>
          </a:prstGeom>
          <a:noFill/>
          <a:ln/>
        </p:spPr>
        <p:txBody>
          <a:bodyPr wrap="square" lIns="0" tIns="0" rIns="0" bIns="0" rtlCol="0" anchor="ctr"/>
          <a:lstStyle/>
          <a:p>
            <a:pPr algn="ctr" indent="0" marL="0">
              <a:lnSpc>
                <a:spcPct val="108000"/>
              </a:lnSpc>
              <a:buNone/>
            </a:pPr>
            <a:r>
              <a:rPr lang="en-US" sz="1400" dirty="0">
                <a:solidFill>
                  <a:srgbClr val="2DD4BF"/>
                </a:solidFill>
                <a:latin typeface="IBM Plex Mono" pitchFamily="34" charset="0"/>
                <a:ea typeface="IBM Plex Mono" pitchFamily="34" charset="-122"/>
                <a:cs typeface="IBM Plex Mono" pitchFamily="34" charset="-120"/>
              </a:rPr>
              <a:t>DONE</a:t>
            </a:r>
            <a:endParaRPr lang="en-US" sz="1400" dirty="0"/>
          </a:p>
        </p:txBody>
      </p:sp>
      <p:sp>
        <p:nvSpPr>
          <p:cNvPr id="13" name="Shape 11"/>
          <p:cNvSpPr/>
          <p:nvPr/>
        </p:nvSpPr>
        <p:spPr>
          <a:xfrm>
            <a:off x="987552" y="3703320"/>
            <a:ext cx="16312896" cy="1188720"/>
          </a:xfrm>
          <a:prstGeom prst="roundRect">
            <a:avLst>
              <a:gd name="adj" fmla="val 6154"/>
            </a:avLst>
          </a:prstGeom>
          <a:solidFill>
            <a:srgbClr val="111B30"/>
          </a:solidFill>
          <a:ln w="12700">
            <a:solidFill>
              <a:srgbClr val="38435C"/>
            </a:solidFill>
            <a:prstDash val="solid"/>
          </a:ln>
        </p:spPr>
      </p:sp>
      <p:sp>
        <p:nvSpPr>
          <p:cNvPr id="14" name="Text 12"/>
          <p:cNvSpPr txBox="1"/>
          <p:nvPr/>
        </p:nvSpPr>
        <p:spPr>
          <a:xfrm>
            <a:off x="1280160" y="4050792"/>
            <a:ext cx="822960" cy="457200"/>
          </a:xfrm>
          <a:prstGeom prst="rect">
            <a:avLst/>
          </a:prstGeom>
          <a:noFill/>
          <a:ln/>
        </p:spPr>
        <p:txBody>
          <a:bodyPr wrap="square" lIns="0" tIns="0" rIns="0" bIns="0" rtlCol="0" anchor="t"/>
          <a:lstStyle/>
          <a:p>
            <a:pPr algn="l" indent="0" marL="0">
              <a:lnSpc>
                <a:spcPct val="108000"/>
              </a:lnSpc>
              <a:buNone/>
            </a:pPr>
            <a:r>
              <a:rPr lang="en-US" sz="2000" dirty="0">
                <a:solidFill>
                  <a:srgbClr val="2DD4BF"/>
                </a:solidFill>
                <a:latin typeface="IBM Plex Mono" pitchFamily="34" charset="0"/>
                <a:ea typeface="IBM Plex Mono" pitchFamily="34" charset="-122"/>
                <a:cs typeface="IBM Plex Mono" pitchFamily="34" charset="-120"/>
              </a:rPr>
              <a:t>O2</a:t>
            </a:r>
            <a:endParaRPr lang="en-US" sz="2000" dirty="0"/>
          </a:p>
        </p:txBody>
      </p:sp>
      <p:sp>
        <p:nvSpPr>
          <p:cNvPr id="15" name="Text 13"/>
          <p:cNvSpPr txBox="1"/>
          <p:nvPr/>
        </p:nvSpPr>
        <p:spPr>
          <a:xfrm>
            <a:off x="2194560" y="3886200"/>
            <a:ext cx="5120640" cy="457200"/>
          </a:xfrm>
          <a:prstGeom prst="rect">
            <a:avLst/>
          </a:prstGeom>
          <a:noFill/>
          <a:ln/>
        </p:spPr>
        <p:txBody>
          <a:bodyPr wrap="square" lIns="0" tIns="0" rIns="0" bIns="0" rtlCol="0" anchor="t"/>
          <a:lstStyle/>
          <a:p>
            <a:pPr algn="l" indent="0" marL="0">
              <a:lnSpc>
                <a:spcPct val="108000"/>
              </a:lnSpc>
              <a:buNone/>
            </a:pPr>
            <a:r>
              <a:rPr lang="en-US" sz="2300" dirty="0">
                <a:solidFill>
                  <a:srgbClr val="EAF0FA"/>
                </a:solidFill>
                <a:latin typeface="Space Grotesk" pitchFamily="34" charset="0"/>
                <a:ea typeface="Space Grotesk" pitchFamily="34" charset="-122"/>
                <a:cs typeface="Space Grotesk" pitchFamily="34" charset="-120"/>
              </a:rPr>
              <a:t>Reimplement the baselines</a:t>
            </a:r>
            <a:endParaRPr lang="en-US" sz="2300" dirty="0"/>
          </a:p>
        </p:txBody>
      </p:sp>
      <p:sp>
        <p:nvSpPr>
          <p:cNvPr id="16" name="Text 14"/>
          <p:cNvSpPr txBox="1"/>
          <p:nvPr/>
        </p:nvSpPr>
        <p:spPr>
          <a:xfrm>
            <a:off x="2194560" y="4361688"/>
            <a:ext cx="10241280" cy="457200"/>
          </a:xfrm>
          <a:prstGeom prst="rect">
            <a:avLst/>
          </a:prstGeom>
          <a:noFill/>
          <a:ln/>
        </p:spPr>
        <p:txBody>
          <a:bodyPr wrap="square" lIns="0" tIns="0" rIns="0" bIns="0" rtlCol="0" anchor="t"/>
          <a:lstStyle/>
          <a:p>
            <a:pPr algn="l" indent="0" marL="0">
              <a:lnSpc>
                <a:spcPct val="108000"/>
              </a:lnSpc>
              <a:buNone/>
            </a:pPr>
            <a:r>
              <a:rPr lang="en-US" sz="1650" dirty="0">
                <a:solidFill>
                  <a:srgbClr val="B8C2D6"/>
                </a:solidFill>
                <a:latin typeface="IBM Plex Sans" pitchFamily="34" charset="0"/>
                <a:ea typeface="IBM Plex Sans" pitchFamily="34" charset="-122"/>
                <a:cs typeface="IBM Plex Sans" pitchFamily="34" charset="-120"/>
              </a:rPr>
              <a:t>Full retrain, SISA, NPO, RMU and gradient ascent, all run in our harness.</a:t>
            </a:r>
            <a:endParaRPr lang="en-US" sz="1650" dirty="0"/>
          </a:p>
        </p:txBody>
      </p:sp>
      <p:sp>
        <p:nvSpPr>
          <p:cNvPr id="17" name="Shape 15"/>
          <p:cNvSpPr/>
          <p:nvPr/>
        </p:nvSpPr>
        <p:spPr>
          <a:xfrm>
            <a:off x="13670280" y="4023360"/>
            <a:ext cx="3337560" cy="548640"/>
          </a:xfrm>
          <a:prstGeom prst="roundRect">
            <a:avLst>
              <a:gd name="adj" fmla="val 50000"/>
            </a:avLst>
          </a:prstGeom>
          <a:solidFill>
            <a:srgbClr val="2DD4BF">
              <a:alpha val="18000"/>
            </a:srgbClr>
          </a:solidFill>
          <a:ln w="12700">
            <a:solidFill>
              <a:srgbClr val="2DD4BF"/>
            </a:solidFill>
            <a:prstDash val="solid"/>
          </a:ln>
        </p:spPr>
      </p:sp>
      <p:sp>
        <p:nvSpPr>
          <p:cNvPr id="18" name="Text 16"/>
          <p:cNvSpPr txBox="1"/>
          <p:nvPr/>
        </p:nvSpPr>
        <p:spPr>
          <a:xfrm>
            <a:off x="13670280" y="4023360"/>
            <a:ext cx="3337560" cy="548640"/>
          </a:xfrm>
          <a:prstGeom prst="rect">
            <a:avLst/>
          </a:prstGeom>
          <a:noFill/>
          <a:ln/>
        </p:spPr>
        <p:txBody>
          <a:bodyPr wrap="square" lIns="0" tIns="0" rIns="0" bIns="0" rtlCol="0" anchor="ctr"/>
          <a:lstStyle/>
          <a:p>
            <a:pPr algn="ctr" indent="0" marL="0">
              <a:lnSpc>
                <a:spcPct val="108000"/>
              </a:lnSpc>
              <a:buNone/>
            </a:pPr>
            <a:r>
              <a:rPr lang="en-US" sz="1400" dirty="0">
                <a:solidFill>
                  <a:srgbClr val="2DD4BF"/>
                </a:solidFill>
                <a:latin typeface="IBM Plex Mono" pitchFamily="34" charset="0"/>
                <a:ea typeface="IBM Plex Mono" pitchFamily="34" charset="-122"/>
                <a:cs typeface="IBM Plex Mono" pitchFamily="34" charset="-120"/>
              </a:rPr>
              <a:t>DONE</a:t>
            </a:r>
            <a:endParaRPr lang="en-US" sz="1400" dirty="0"/>
          </a:p>
        </p:txBody>
      </p:sp>
      <p:sp>
        <p:nvSpPr>
          <p:cNvPr id="19" name="Shape 17"/>
          <p:cNvSpPr/>
          <p:nvPr/>
        </p:nvSpPr>
        <p:spPr>
          <a:xfrm>
            <a:off x="987552" y="5074920"/>
            <a:ext cx="16312896" cy="1188720"/>
          </a:xfrm>
          <a:prstGeom prst="roundRect">
            <a:avLst>
              <a:gd name="adj" fmla="val 6154"/>
            </a:avLst>
          </a:prstGeom>
          <a:solidFill>
            <a:srgbClr val="111B30"/>
          </a:solidFill>
          <a:ln w="12700">
            <a:solidFill>
              <a:srgbClr val="38435C"/>
            </a:solidFill>
            <a:prstDash val="solid"/>
          </a:ln>
        </p:spPr>
      </p:sp>
      <p:sp>
        <p:nvSpPr>
          <p:cNvPr id="20" name="Text 18"/>
          <p:cNvSpPr txBox="1"/>
          <p:nvPr/>
        </p:nvSpPr>
        <p:spPr>
          <a:xfrm>
            <a:off x="1280160" y="5422392"/>
            <a:ext cx="822960" cy="457200"/>
          </a:xfrm>
          <a:prstGeom prst="rect">
            <a:avLst/>
          </a:prstGeom>
          <a:noFill/>
          <a:ln/>
        </p:spPr>
        <p:txBody>
          <a:bodyPr wrap="square" lIns="0" tIns="0" rIns="0" bIns="0" rtlCol="0" anchor="t"/>
          <a:lstStyle/>
          <a:p>
            <a:pPr algn="l" indent="0" marL="0">
              <a:lnSpc>
                <a:spcPct val="108000"/>
              </a:lnSpc>
              <a:buNone/>
            </a:pPr>
            <a:r>
              <a:rPr lang="en-US" sz="2000" dirty="0">
                <a:solidFill>
                  <a:srgbClr val="2DD4BF"/>
                </a:solidFill>
                <a:latin typeface="IBM Plex Mono" pitchFamily="34" charset="0"/>
                <a:ea typeface="IBM Plex Mono" pitchFamily="34" charset="-122"/>
                <a:cs typeface="IBM Plex Mono" pitchFamily="34" charset="-120"/>
              </a:rPr>
              <a:t>O3</a:t>
            </a:r>
            <a:endParaRPr lang="en-US" sz="2000" dirty="0"/>
          </a:p>
        </p:txBody>
      </p:sp>
      <p:sp>
        <p:nvSpPr>
          <p:cNvPr id="21" name="Text 19"/>
          <p:cNvSpPr txBox="1"/>
          <p:nvPr/>
        </p:nvSpPr>
        <p:spPr>
          <a:xfrm>
            <a:off x="2194560" y="5257800"/>
            <a:ext cx="5120640" cy="457200"/>
          </a:xfrm>
          <a:prstGeom prst="rect">
            <a:avLst/>
          </a:prstGeom>
          <a:noFill/>
          <a:ln/>
        </p:spPr>
        <p:txBody>
          <a:bodyPr wrap="square" lIns="0" tIns="0" rIns="0" bIns="0" rtlCol="0" anchor="t"/>
          <a:lstStyle/>
          <a:p>
            <a:pPr algn="l" indent="0" marL="0">
              <a:lnSpc>
                <a:spcPct val="108000"/>
              </a:lnSpc>
              <a:buNone/>
            </a:pPr>
            <a:r>
              <a:rPr lang="en-US" sz="2300" dirty="0">
                <a:solidFill>
                  <a:srgbClr val="EAF0FA"/>
                </a:solidFill>
                <a:latin typeface="Space Grotesk" pitchFamily="34" charset="0"/>
                <a:ea typeface="Space Grotesk" pitchFamily="34" charset="-122"/>
                <a:cs typeface="Space Grotesk" pitchFamily="34" charset="-120"/>
              </a:rPr>
              <a:t>Design and build HRU</a:t>
            </a:r>
            <a:endParaRPr lang="en-US" sz="2300" dirty="0"/>
          </a:p>
        </p:txBody>
      </p:sp>
      <p:sp>
        <p:nvSpPr>
          <p:cNvPr id="22" name="Text 20"/>
          <p:cNvSpPr txBox="1"/>
          <p:nvPr/>
        </p:nvSpPr>
        <p:spPr>
          <a:xfrm>
            <a:off x="2194560" y="5733288"/>
            <a:ext cx="10241280" cy="457200"/>
          </a:xfrm>
          <a:prstGeom prst="rect">
            <a:avLst/>
          </a:prstGeom>
          <a:noFill/>
          <a:ln/>
        </p:spPr>
        <p:txBody>
          <a:bodyPr wrap="square" lIns="0" tIns="0" rIns="0" bIns="0" rtlCol="0" anchor="t"/>
          <a:lstStyle/>
          <a:p>
            <a:pPr algn="l" indent="0" marL="0">
              <a:lnSpc>
                <a:spcPct val="108000"/>
              </a:lnSpc>
              <a:buNone/>
            </a:pPr>
            <a:r>
              <a:rPr lang="en-US" sz="1650" dirty="0">
                <a:solidFill>
                  <a:srgbClr val="B8C2D6"/>
                </a:solidFill>
                <a:latin typeface="IBM Plex Sans" pitchFamily="34" charset="0"/>
                <a:ea typeface="IBM Plex Sans" pitchFamily="34" charset="-122"/>
                <a:cs typeface="IBM Plex Sans" pitchFamily="34" charset="-120"/>
              </a:rPr>
              <a:t>Built and measured; the inline reweight step is not yet in the measured pipeline.</a:t>
            </a:r>
            <a:endParaRPr lang="en-US" sz="1650" dirty="0"/>
          </a:p>
        </p:txBody>
      </p:sp>
      <p:sp>
        <p:nvSpPr>
          <p:cNvPr id="23" name="Shape 21"/>
          <p:cNvSpPr/>
          <p:nvPr/>
        </p:nvSpPr>
        <p:spPr>
          <a:xfrm>
            <a:off x="13670280" y="5394960"/>
            <a:ext cx="3337560" cy="548640"/>
          </a:xfrm>
          <a:prstGeom prst="roundRect">
            <a:avLst>
              <a:gd name="adj" fmla="val 50000"/>
            </a:avLst>
          </a:prstGeom>
          <a:solidFill>
            <a:srgbClr val="111B30"/>
          </a:solidFill>
          <a:ln w="12700">
            <a:solidFill>
              <a:srgbClr val="7C89A3"/>
            </a:solidFill>
            <a:prstDash val="solid"/>
          </a:ln>
        </p:spPr>
      </p:sp>
      <p:sp>
        <p:nvSpPr>
          <p:cNvPr id="24" name="Text 22"/>
          <p:cNvSpPr txBox="1"/>
          <p:nvPr/>
        </p:nvSpPr>
        <p:spPr>
          <a:xfrm>
            <a:off x="13670280" y="5394960"/>
            <a:ext cx="3337560" cy="548640"/>
          </a:xfrm>
          <a:prstGeom prst="rect">
            <a:avLst/>
          </a:prstGeom>
          <a:noFill/>
          <a:ln/>
        </p:spPr>
        <p:txBody>
          <a:bodyPr wrap="square" lIns="0" tIns="0" rIns="0" bIns="0" rtlCol="0" anchor="ctr"/>
          <a:lstStyle/>
          <a:p>
            <a:pPr algn="ctr" indent="0" marL="0">
              <a:lnSpc>
                <a:spcPct val="108000"/>
              </a:lnSpc>
              <a:buNone/>
            </a:pPr>
            <a:r>
              <a:rPr lang="en-US" sz="1400" dirty="0">
                <a:solidFill>
                  <a:srgbClr val="B8C2D6"/>
                </a:solidFill>
                <a:latin typeface="IBM Plex Mono" pitchFamily="34" charset="0"/>
                <a:ea typeface="IBM Plex Mono" pitchFamily="34" charset="-122"/>
                <a:cs typeface="IBM Plex Mono" pitchFamily="34" charset="-120"/>
              </a:rPr>
              <a:t>IN PROGRESS</a:t>
            </a:r>
            <a:endParaRPr lang="en-US" sz="1400" dirty="0"/>
          </a:p>
        </p:txBody>
      </p:sp>
      <p:sp>
        <p:nvSpPr>
          <p:cNvPr id="25" name="Shape 23"/>
          <p:cNvSpPr/>
          <p:nvPr/>
        </p:nvSpPr>
        <p:spPr>
          <a:xfrm>
            <a:off x="987552" y="6446520"/>
            <a:ext cx="16312896" cy="1188720"/>
          </a:xfrm>
          <a:prstGeom prst="roundRect">
            <a:avLst>
              <a:gd name="adj" fmla="val 6154"/>
            </a:avLst>
          </a:prstGeom>
          <a:solidFill>
            <a:srgbClr val="111B30"/>
          </a:solidFill>
          <a:ln w="12700">
            <a:solidFill>
              <a:srgbClr val="38435C"/>
            </a:solidFill>
            <a:prstDash val="solid"/>
          </a:ln>
        </p:spPr>
      </p:sp>
      <p:sp>
        <p:nvSpPr>
          <p:cNvPr id="26" name="Text 24"/>
          <p:cNvSpPr txBox="1"/>
          <p:nvPr/>
        </p:nvSpPr>
        <p:spPr>
          <a:xfrm>
            <a:off x="1280160" y="6793992"/>
            <a:ext cx="822960" cy="457200"/>
          </a:xfrm>
          <a:prstGeom prst="rect">
            <a:avLst/>
          </a:prstGeom>
          <a:noFill/>
          <a:ln/>
        </p:spPr>
        <p:txBody>
          <a:bodyPr wrap="square" lIns="0" tIns="0" rIns="0" bIns="0" rtlCol="0" anchor="t"/>
          <a:lstStyle/>
          <a:p>
            <a:pPr algn="l" indent="0" marL="0">
              <a:lnSpc>
                <a:spcPct val="108000"/>
              </a:lnSpc>
              <a:buNone/>
            </a:pPr>
            <a:r>
              <a:rPr lang="en-US" sz="2000" dirty="0">
                <a:solidFill>
                  <a:srgbClr val="2DD4BF"/>
                </a:solidFill>
                <a:latin typeface="IBM Plex Mono" pitchFamily="34" charset="0"/>
                <a:ea typeface="IBM Plex Mono" pitchFamily="34" charset="-122"/>
                <a:cs typeface="IBM Plex Mono" pitchFamily="34" charset="-120"/>
              </a:rPr>
              <a:t>O4</a:t>
            </a:r>
            <a:endParaRPr lang="en-US" sz="2000" dirty="0"/>
          </a:p>
        </p:txBody>
      </p:sp>
      <p:sp>
        <p:nvSpPr>
          <p:cNvPr id="27" name="Text 25"/>
          <p:cNvSpPr txBox="1"/>
          <p:nvPr/>
        </p:nvSpPr>
        <p:spPr>
          <a:xfrm>
            <a:off x="2194560" y="6629400"/>
            <a:ext cx="5120640" cy="457200"/>
          </a:xfrm>
          <a:prstGeom prst="rect">
            <a:avLst/>
          </a:prstGeom>
          <a:noFill/>
          <a:ln/>
        </p:spPr>
        <p:txBody>
          <a:bodyPr wrap="square" lIns="0" tIns="0" rIns="0" bIns="0" rtlCol="0" anchor="t"/>
          <a:lstStyle/>
          <a:p>
            <a:pPr algn="l" indent="0" marL="0">
              <a:lnSpc>
                <a:spcPct val="108000"/>
              </a:lnSpc>
              <a:buNone/>
            </a:pPr>
            <a:r>
              <a:rPr lang="en-US" sz="2300" dirty="0">
                <a:solidFill>
                  <a:srgbClr val="EAF0FA"/>
                </a:solidFill>
                <a:latin typeface="Space Grotesk" pitchFamily="34" charset="0"/>
                <a:ea typeface="Space Grotesk" pitchFamily="34" charset="-122"/>
                <a:cs typeface="Space Grotesk" pitchFamily="34" charset="-120"/>
              </a:rPr>
              <a:t>Make durability measurable</a:t>
            </a:r>
            <a:endParaRPr lang="en-US" sz="2300" dirty="0"/>
          </a:p>
        </p:txBody>
      </p:sp>
      <p:sp>
        <p:nvSpPr>
          <p:cNvPr id="28" name="Text 26"/>
          <p:cNvSpPr txBox="1"/>
          <p:nvPr/>
        </p:nvSpPr>
        <p:spPr>
          <a:xfrm>
            <a:off x="2194560" y="7104888"/>
            <a:ext cx="10241280" cy="457200"/>
          </a:xfrm>
          <a:prstGeom prst="rect">
            <a:avLst/>
          </a:prstGeom>
          <a:noFill/>
          <a:ln/>
        </p:spPr>
        <p:txBody>
          <a:bodyPr wrap="square" lIns="0" tIns="0" rIns="0" bIns="0" rtlCol="0" anchor="t"/>
          <a:lstStyle/>
          <a:p>
            <a:pPr algn="l" indent="0" marL="0">
              <a:lnSpc>
                <a:spcPct val="108000"/>
              </a:lnSpc>
              <a:buNone/>
            </a:pPr>
            <a:r>
              <a:rPr lang="en-US" sz="1650" dirty="0">
                <a:solidFill>
                  <a:srgbClr val="B8C2D6"/>
                </a:solidFill>
                <a:latin typeface="IBM Plex Sans" pitchFamily="34" charset="0"/>
                <a:ea typeface="IBM Plex Sans" pitchFamily="34" charset="-122"/>
                <a:cs typeface="IBM Plex Sans" pitchFamily="34" charset="-120"/>
              </a:rPr>
              <a:t>Every arm re-scored after a relearning attack. Audit found the score tracks damage; repair under way.</a:t>
            </a:r>
            <a:endParaRPr lang="en-US" sz="1650" dirty="0"/>
          </a:p>
        </p:txBody>
      </p:sp>
      <p:sp>
        <p:nvSpPr>
          <p:cNvPr id="29" name="Shape 27"/>
          <p:cNvSpPr/>
          <p:nvPr/>
        </p:nvSpPr>
        <p:spPr>
          <a:xfrm>
            <a:off x="13670280" y="6766560"/>
            <a:ext cx="3337560" cy="548640"/>
          </a:xfrm>
          <a:prstGeom prst="roundRect">
            <a:avLst>
              <a:gd name="adj" fmla="val 50000"/>
            </a:avLst>
          </a:prstGeom>
          <a:solidFill>
            <a:srgbClr val="111B30"/>
          </a:solidFill>
          <a:ln w="12700">
            <a:solidFill>
              <a:srgbClr val="7C89A3"/>
            </a:solidFill>
            <a:prstDash val="solid"/>
          </a:ln>
        </p:spPr>
      </p:sp>
      <p:sp>
        <p:nvSpPr>
          <p:cNvPr id="30" name="Text 28"/>
          <p:cNvSpPr txBox="1"/>
          <p:nvPr/>
        </p:nvSpPr>
        <p:spPr>
          <a:xfrm>
            <a:off x="13670280" y="6766560"/>
            <a:ext cx="3337560" cy="548640"/>
          </a:xfrm>
          <a:prstGeom prst="rect">
            <a:avLst/>
          </a:prstGeom>
          <a:noFill/>
          <a:ln/>
        </p:spPr>
        <p:txBody>
          <a:bodyPr wrap="square" lIns="0" tIns="0" rIns="0" bIns="0" rtlCol="0" anchor="ctr"/>
          <a:lstStyle/>
          <a:p>
            <a:pPr algn="ctr" indent="0" marL="0">
              <a:lnSpc>
                <a:spcPct val="108000"/>
              </a:lnSpc>
              <a:buNone/>
            </a:pPr>
            <a:r>
              <a:rPr lang="en-US" sz="1400" dirty="0">
                <a:solidFill>
                  <a:srgbClr val="B8C2D6"/>
                </a:solidFill>
                <a:latin typeface="IBM Plex Mono" pitchFamily="34" charset="0"/>
                <a:ea typeface="IBM Plex Mono" pitchFamily="34" charset="-122"/>
                <a:cs typeface="IBM Plex Mono" pitchFamily="34" charset="-120"/>
              </a:rPr>
              <a:t>DONE · REPAIRING</a:t>
            </a:r>
            <a:endParaRPr lang="en-US" sz="1400" dirty="0"/>
          </a:p>
        </p:txBody>
      </p:sp>
      <p:sp>
        <p:nvSpPr>
          <p:cNvPr id="31" name="Shape 29"/>
          <p:cNvSpPr/>
          <p:nvPr/>
        </p:nvSpPr>
        <p:spPr>
          <a:xfrm>
            <a:off x="987552" y="7818120"/>
            <a:ext cx="16312896" cy="1188720"/>
          </a:xfrm>
          <a:prstGeom prst="roundRect">
            <a:avLst>
              <a:gd name="adj" fmla="val 6154"/>
            </a:avLst>
          </a:prstGeom>
          <a:solidFill>
            <a:srgbClr val="111B30"/>
          </a:solidFill>
          <a:ln w="12700">
            <a:solidFill>
              <a:srgbClr val="38435C"/>
            </a:solidFill>
            <a:prstDash val="solid"/>
          </a:ln>
        </p:spPr>
      </p:sp>
      <p:sp>
        <p:nvSpPr>
          <p:cNvPr id="32" name="Text 30"/>
          <p:cNvSpPr txBox="1"/>
          <p:nvPr/>
        </p:nvSpPr>
        <p:spPr>
          <a:xfrm>
            <a:off x="1280160" y="8165592"/>
            <a:ext cx="822960" cy="457200"/>
          </a:xfrm>
          <a:prstGeom prst="rect">
            <a:avLst/>
          </a:prstGeom>
          <a:noFill/>
          <a:ln/>
        </p:spPr>
        <p:txBody>
          <a:bodyPr wrap="square" lIns="0" tIns="0" rIns="0" bIns="0" rtlCol="0" anchor="t"/>
          <a:lstStyle/>
          <a:p>
            <a:pPr algn="l" indent="0" marL="0">
              <a:lnSpc>
                <a:spcPct val="108000"/>
              </a:lnSpc>
              <a:buNone/>
            </a:pPr>
            <a:r>
              <a:rPr lang="en-US" sz="2000" dirty="0">
                <a:solidFill>
                  <a:srgbClr val="2DD4BF"/>
                </a:solidFill>
                <a:latin typeface="IBM Plex Mono" pitchFamily="34" charset="0"/>
                <a:ea typeface="IBM Plex Mono" pitchFamily="34" charset="-122"/>
                <a:cs typeface="IBM Plex Mono" pitchFamily="34" charset="-120"/>
              </a:rPr>
              <a:t>O5</a:t>
            </a:r>
            <a:endParaRPr lang="en-US" sz="2000" dirty="0"/>
          </a:p>
        </p:txBody>
      </p:sp>
      <p:sp>
        <p:nvSpPr>
          <p:cNvPr id="33" name="Text 31"/>
          <p:cNvSpPr txBox="1"/>
          <p:nvPr/>
        </p:nvSpPr>
        <p:spPr>
          <a:xfrm>
            <a:off x="2194560" y="8001000"/>
            <a:ext cx="5120640" cy="457200"/>
          </a:xfrm>
          <a:prstGeom prst="rect">
            <a:avLst/>
          </a:prstGeom>
          <a:noFill/>
          <a:ln/>
        </p:spPr>
        <p:txBody>
          <a:bodyPr wrap="square" lIns="0" tIns="0" rIns="0" bIns="0" rtlCol="0" anchor="t"/>
          <a:lstStyle/>
          <a:p>
            <a:pPr algn="l" indent="0" marL="0">
              <a:lnSpc>
                <a:spcPct val="108000"/>
              </a:lnSpc>
              <a:buNone/>
            </a:pPr>
            <a:r>
              <a:rPr lang="en-US" sz="2300" dirty="0">
                <a:solidFill>
                  <a:srgbClr val="EAF0FA"/>
                </a:solidFill>
                <a:latin typeface="Space Grotesk" pitchFamily="34" charset="0"/>
                <a:ea typeface="Space Grotesk" pitchFamily="34" charset="-122"/>
                <a:cs typeface="Space Grotesk" pitchFamily="34" charset="-120"/>
              </a:rPr>
              <a:t>Report honest cost</a:t>
            </a:r>
            <a:endParaRPr lang="en-US" sz="2300" dirty="0"/>
          </a:p>
        </p:txBody>
      </p:sp>
      <p:sp>
        <p:nvSpPr>
          <p:cNvPr id="34" name="Text 32"/>
          <p:cNvSpPr txBox="1"/>
          <p:nvPr/>
        </p:nvSpPr>
        <p:spPr>
          <a:xfrm>
            <a:off x="2194560" y="8476488"/>
            <a:ext cx="10241280" cy="457200"/>
          </a:xfrm>
          <a:prstGeom prst="rect">
            <a:avLst/>
          </a:prstGeom>
          <a:noFill/>
          <a:ln/>
        </p:spPr>
        <p:txBody>
          <a:bodyPr wrap="square" lIns="0" tIns="0" rIns="0" bIns="0" rtlCol="0" anchor="t"/>
          <a:lstStyle/>
          <a:p>
            <a:pPr algn="l" indent="0" marL="0">
              <a:lnSpc>
                <a:spcPct val="108000"/>
              </a:lnSpc>
              <a:buNone/>
            </a:pPr>
            <a:r>
              <a:rPr lang="en-US" sz="1650" dirty="0">
                <a:solidFill>
                  <a:srgbClr val="B8C2D6"/>
                </a:solidFill>
                <a:latin typeface="IBM Plex Sans" pitchFamily="34" charset="0"/>
                <a:ea typeface="IBM Plex Sans" pitchFamily="34" charset="-122"/>
                <a:cs typeface="IBM Plex Sans" pitchFamily="34" charset="-120"/>
              </a:rPr>
              <a:t>Optimizer updates per request, normalised to one scrub pass.</a:t>
            </a:r>
            <a:endParaRPr lang="en-US" sz="1650" dirty="0"/>
          </a:p>
        </p:txBody>
      </p:sp>
      <p:sp>
        <p:nvSpPr>
          <p:cNvPr id="35" name="Shape 33"/>
          <p:cNvSpPr/>
          <p:nvPr/>
        </p:nvSpPr>
        <p:spPr>
          <a:xfrm>
            <a:off x="13670280" y="8138160"/>
            <a:ext cx="3337560" cy="548640"/>
          </a:xfrm>
          <a:prstGeom prst="roundRect">
            <a:avLst>
              <a:gd name="adj" fmla="val 50000"/>
            </a:avLst>
          </a:prstGeom>
          <a:solidFill>
            <a:srgbClr val="2DD4BF">
              <a:alpha val="18000"/>
            </a:srgbClr>
          </a:solidFill>
          <a:ln w="12700">
            <a:solidFill>
              <a:srgbClr val="2DD4BF"/>
            </a:solidFill>
            <a:prstDash val="solid"/>
          </a:ln>
        </p:spPr>
      </p:sp>
      <p:sp>
        <p:nvSpPr>
          <p:cNvPr id="36" name="Text 34"/>
          <p:cNvSpPr txBox="1"/>
          <p:nvPr/>
        </p:nvSpPr>
        <p:spPr>
          <a:xfrm>
            <a:off x="13670280" y="8138160"/>
            <a:ext cx="3337560" cy="548640"/>
          </a:xfrm>
          <a:prstGeom prst="rect">
            <a:avLst/>
          </a:prstGeom>
          <a:noFill/>
          <a:ln/>
        </p:spPr>
        <p:txBody>
          <a:bodyPr wrap="square" lIns="0" tIns="0" rIns="0" bIns="0" rtlCol="0" anchor="ctr"/>
          <a:lstStyle/>
          <a:p>
            <a:pPr algn="ctr" indent="0" marL="0">
              <a:lnSpc>
                <a:spcPct val="108000"/>
              </a:lnSpc>
              <a:buNone/>
            </a:pPr>
            <a:r>
              <a:rPr lang="en-US" sz="1400" dirty="0">
                <a:solidFill>
                  <a:srgbClr val="2DD4BF"/>
                </a:solidFill>
                <a:latin typeface="IBM Plex Mono" pitchFamily="34" charset="0"/>
                <a:ea typeface="IBM Plex Mono" pitchFamily="34" charset="-122"/>
                <a:cs typeface="IBM Plex Mono" pitchFamily="34" charset="-120"/>
              </a:rPr>
              <a:t>DONE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020"/>
        </a:solidFill>
      </p:bgPr>
    </p:bg>
    <p:spTree>
      <p:nvGrpSpPr>
        <p:cNvPr id="1" name=""/>
        <p:cNvGrpSpPr/>
        <p:nvPr/>
      </p:nvGrpSpPr>
      <p:grpSpPr>
        <a:xfrm>
          <a:off x="0" y="0"/>
          <a:ext cx="0" cy="0"/>
          <a:chOff x="0" y="0"/>
          <a:chExt cx="0" cy="0"/>
        </a:xfrm>
      </p:grpSpPr>
      <p:sp>
        <p:nvSpPr>
          <p:cNvPr id="2" name="Text 0"/>
          <p:cNvSpPr txBox="1"/>
          <p:nvPr/>
        </p:nvSpPr>
        <p:spPr>
          <a:xfrm>
            <a:off x="987552" y="722376"/>
            <a:ext cx="731520" cy="329184"/>
          </a:xfrm>
          <a:prstGeom prst="rect">
            <a:avLst/>
          </a:prstGeom>
          <a:noFill/>
          <a:ln/>
        </p:spPr>
        <p:txBody>
          <a:bodyPr wrap="square" lIns="0" tIns="0" rIns="0" bIns="0" rtlCol="0" anchor="t"/>
          <a:lstStyle/>
          <a:p>
            <a:pPr algn="l" indent="0" marL="0">
              <a:lnSpc>
                <a:spcPct val="108000"/>
              </a:lnSpc>
              <a:buNone/>
            </a:pPr>
            <a:r>
              <a:rPr lang="en-US" sz="1800" dirty="0">
                <a:solidFill>
                  <a:srgbClr val="2DD4BF"/>
                </a:solidFill>
                <a:latin typeface="IBM Plex Mono" pitchFamily="34" charset="0"/>
                <a:ea typeface="IBM Plex Mono" pitchFamily="34" charset="-122"/>
                <a:cs typeface="IBM Plex Mono" pitchFamily="34" charset="-120"/>
              </a:rPr>
              <a:t>08</a:t>
            </a:r>
            <a:endParaRPr lang="en-US" sz="1800" dirty="0"/>
          </a:p>
        </p:txBody>
      </p:sp>
      <p:sp>
        <p:nvSpPr>
          <p:cNvPr id="3" name="Text 1"/>
          <p:cNvSpPr txBox="1"/>
          <p:nvPr/>
        </p:nvSpPr>
        <p:spPr>
          <a:xfrm>
            <a:off x="1938528" y="722376"/>
            <a:ext cx="9144000" cy="329184"/>
          </a:xfrm>
          <a:prstGeom prst="rect">
            <a:avLst/>
          </a:prstGeom>
          <a:noFill/>
          <a:ln/>
        </p:spPr>
        <p:txBody>
          <a:bodyPr wrap="square" lIns="0" tIns="0" rIns="0" bIns="0" rtlCol="0" anchor="t"/>
          <a:lstStyle/>
          <a:p>
            <a:pPr algn="l" indent="0" marL="0">
              <a:lnSpc>
                <a:spcPct val="108000"/>
              </a:lnSpc>
              <a:buNone/>
            </a:pPr>
            <a:r>
              <a:rPr lang="en-US" sz="1800" dirty="0">
                <a:solidFill>
                  <a:srgbClr val="7C89A3"/>
                </a:solidFill>
                <a:latin typeface="IBM Plex Mono" pitchFamily="34" charset="0"/>
                <a:ea typeface="IBM Plex Mono" pitchFamily="34" charset="-122"/>
                <a:cs typeface="IBM Plex Mono" pitchFamily="34" charset="-120"/>
              </a:rPr>
              <a:t>NOVELTY &amp; SIGNIFICANCE</a:t>
            </a:r>
            <a:endParaRPr lang="en-US" sz="1800" dirty="0"/>
          </a:p>
        </p:txBody>
      </p:sp>
      <p:sp>
        <p:nvSpPr>
          <p:cNvPr id="4" name="Text 2"/>
          <p:cNvSpPr txBox="1"/>
          <p:nvPr/>
        </p:nvSpPr>
        <p:spPr>
          <a:xfrm>
            <a:off x="987552" y="1170432"/>
            <a:ext cx="16093440" cy="731520"/>
          </a:xfrm>
          <a:prstGeom prst="rect">
            <a:avLst/>
          </a:prstGeom>
          <a:noFill/>
          <a:ln/>
        </p:spPr>
        <p:txBody>
          <a:bodyPr wrap="square" lIns="0" tIns="0" rIns="0" bIns="0" rtlCol="0" anchor="t"/>
          <a:lstStyle/>
          <a:p>
            <a:pPr algn="l" indent="0" marL="0">
              <a:lnSpc>
                <a:spcPct val="108000"/>
              </a:lnSpc>
              <a:buNone/>
            </a:pPr>
            <a:r>
              <a:rPr lang="en-US" sz="4200" dirty="0">
                <a:solidFill>
                  <a:srgbClr val="EAF0FA"/>
                </a:solidFill>
                <a:latin typeface="Space Grotesk" pitchFamily="34" charset="0"/>
                <a:ea typeface="Space Grotesk" pitchFamily="34" charset="-122"/>
                <a:cs typeface="Space Grotesk" pitchFamily="34" charset="-120"/>
              </a:rPr>
              <a:t>Hardening Inside the Scrub, Not After It</a:t>
            </a:r>
            <a:endParaRPr lang="en-US" sz="4200" dirty="0"/>
          </a:p>
        </p:txBody>
      </p:sp>
      <p:sp>
        <p:nvSpPr>
          <p:cNvPr id="5" name="Text 3"/>
          <p:cNvSpPr txBox="1"/>
          <p:nvPr/>
        </p:nvSpPr>
        <p:spPr>
          <a:xfrm>
            <a:off x="987552" y="9436608"/>
            <a:ext cx="4572000" cy="329184"/>
          </a:xfrm>
          <a:prstGeom prst="rect">
            <a:avLst/>
          </a:prstGeom>
          <a:noFill/>
          <a:ln/>
        </p:spPr>
        <p:txBody>
          <a:bodyPr wrap="square" lIns="0" tIns="0" rIns="0" bIns="0" rtlCol="0" anchor="t"/>
          <a:lstStyle/>
          <a:p>
            <a:pPr algn="l" indent="0" marL="0">
              <a:lnSpc>
                <a:spcPct val="108000"/>
              </a:lnSpc>
              <a:buNone/>
            </a:pPr>
            <a:r>
              <a:rPr lang="en-US" sz="1600" dirty="0">
                <a:solidFill>
                  <a:srgbClr val="38435C"/>
                </a:solidFill>
                <a:latin typeface="IBM Plex Mono" pitchFamily="34" charset="0"/>
                <a:ea typeface="IBM Plex Mono" pitchFamily="34" charset="-122"/>
                <a:cs typeface="IBM Plex Mono" pitchFamily="34" charset="-120"/>
              </a:rPr>
              <a:t>FORGETBENCH · HRU</a:t>
            </a:r>
            <a:endParaRPr lang="en-US" sz="1600" dirty="0"/>
          </a:p>
        </p:txBody>
      </p:sp>
      <p:sp>
        <p:nvSpPr>
          <p:cNvPr id="6" name="Text 4"/>
          <p:cNvSpPr txBox="1"/>
          <p:nvPr/>
        </p:nvSpPr>
        <p:spPr>
          <a:xfrm>
            <a:off x="12710160" y="9436608"/>
            <a:ext cx="4572000" cy="329184"/>
          </a:xfrm>
          <a:prstGeom prst="rect">
            <a:avLst/>
          </a:prstGeom>
          <a:noFill/>
          <a:ln/>
        </p:spPr>
        <p:txBody>
          <a:bodyPr wrap="square" lIns="0" tIns="0" rIns="0" bIns="0" rtlCol="0" anchor="t"/>
          <a:lstStyle/>
          <a:p>
            <a:pPr algn="r" indent="0" marL="0">
              <a:lnSpc>
                <a:spcPct val="108000"/>
              </a:lnSpc>
              <a:buNone/>
            </a:pPr>
            <a:r>
              <a:rPr lang="en-US" sz="1600" dirty="0">
                <a:solidFill>
                  <a:srgbClr val="38435C"/>
                </a:solidFill>
                <a:latin typeface="IBM Plex Mono" pitchFamily="34" charset="0"/>
                <a:ea typeface="IBM Plex Mono" pitchFamily="34" charset="-122"/>
                <a:cs typeface="IBM Plex Mono" pitchFamily="34" charset="-120"/>
              </a:rPr>
              <a:t>WOXSEN UNIVERSITY</a:t>
            </a:r>
            <a:endParaRPr lang="en-US" sz="1600" dirty="0"/>
          </a:p>
        </p:txBody>
      </p:sp>
      <p:sp>
        <p:nvSpPr>
          <p:cNvPr id="7" name="Text 5"/>
          <p:cNvSpPr txBox="1"/>
          <p:nvPr/>
        </p:nvSpPr>
        <p:spPr>
          <a:xfrm>
            <a:off x="987552" y="2331720"/>
            <a:ext cx="9144000" cy="310896"/>
          </a:xfrm>
          <a:prstGeom prst="rect">
            <a:avLst/>
          </a:prstGeom>
          <a:noFill/>
          <a:ln/>
        </p:spPr>
        <p:txBody>
          <a:bodyPr wrap="square" lIns="0" tIns="0" rIns="0" bIns="0" rtlCol="0" anchor="t"/>
          <a:lstStyle/>
          <a:p>
            <a:pPr algn="l" indent="0" marL="0">
              <a:lnSpc>
                <a:spcPct val="108000"/>
              </a:lnSpc>
              <a:buNone/>
            </a:pPr>
            <a:r>
              <a:rPr lang="en-US" sz="1500" dirty="0">
                <a:solidFill>
                  <a:srgbClr val="2DD4BF"/>
                </a:solidFill>
                <a:latin typeface="IBM Plex Mono" pitchFamily="34" charset="0"/>
                <a:ea typeface="IBM Plex Mono" pitchFamily="34" charset="-122"/>
                <a:cs typeface="IBM Plex Mono" pitchFamily="34" charset="-120"/>
              </a:rPr>
              <a:t>THE INLINE LOOP · EVERY k STEPS</a:t>
            </a:r>
            <a:endParaRPr lang="en-US" sz="1500" dirty="0"/>
          </a:p>
        </p:txBody>
      </p:sp>
      <p:sp>
        <p:nvSpPr>
          <p:cNvPr id="8" name="Shape 6"/>
          <p:cNvSpPr/>
          <p:nvPr/>
        </p:nvSpPr>
        <p:spPr>
          <a:xfrm>
            <a:off x="987552" y="2788920"/>
            <a:ext cx="5029200" cy="1920240"/>
          </a:xfrm>
          <a:prstGeom prst="roundRect">
            <a:avLst>
              <a:gd name="adj" fmla="val 3810"/>
            </a:avLst>
          </a:prstGeom>
          <a:solidFill>
            <a:srgbClr val="111B30"/>
          </a:solidFill>
          <a:ln w="12700">
            <a:solidFill>
              <a:srgbClr val="38435C"/>
            </a:solidFill>
            <a:prstDash val="solid"/>
          </a:ln>
        </p:spPr>
      </p:sp>
      <p:sp>
        <p:nvSpPr>
          <p:cNvPr id="9" name="Text 7"/>
          <p:cNvSpPr txBox="1"/>
          <p:nvPr/>
        </p:nvSpPr>
        <p:spPr>
          <a:xfrm>
            <a:off x="1307592" y="3017520"/>
            <a:ext cx="731520" cy="731520"/>
          </a:xfrm>
          <a:prstGeom prst="rect">
            <a:avLst/>
          </a:prstGeom>
          <a:noFill/>
          <a:ln/>
        </p:spPr>
        <p:txBody>
          <a:bodyPr wrap="square" lIns="0" tIns="0" rIns="0" bIns="0" rtlCol="0" anchor="t"/>
          <a:lstStyle/>
          <a:p>
            <a:pPr algn="l" indent="0" marL="0">
              <a:lnSpc>
                <a:spcPct val="108000"/>
              </a:lnSpc>
              <a:buNone/>
            </a:pPr>
            <a:r>
              <a:rPr lang="en-US" sz="4000" dirty="0">
                <a:solidFill>
                  <a:srgbClr val="2DD4BF"/>
                </a:solidFill>
                <a:latin typeface="Space Grotesk" pitchFamily="34" charset="0"/>
                <a:ea typeface="Space Grotesk" pitchFamily="34" charset="-122"/>
                <a:cs typeface="Space Grotesk" pitchFamily="34" charset="-120"/>
              </a:rPr>
              <a:t>1</a:t>
            </a:r>
            <a:endParaRPr lang="en-US" sz="4000" dirty="0"/>
          </a:p>
        </p:txBody>
      </p:sp>
      <p:sp>
        <p:nvSpPr>
          <p:cNvPr id="10" name="Text 8"/>
          <p:cNvSpPr txBox="1"/>
          <p:nvPr/>
        </p:nvSpPr>
        <p:spPr>
          <a:xfrm>
            <a:off x="2130552" y="3108960"/>
            <a:ext cx="3611880" cy="1463040"/>
          </a:xfrm>
          <a:prstGeom prst="rect">
            <a:avLst/>
          </a:prstGeom>
          <a:noFill/>
          <a:ln/>
        </p:spPr>
        <p:txBody>
          <a:bodyPr wrap="square" lIns="0" tIns="0" rIns="0" bIns="0" rtlCol="0" anchor="t"/>
          <a:lstStyle/>
          <a:p>
            <a:pPr algn="l" indent="0" marL="0">
              <a:lnSpc>
                <a:spcPct val="112000"/>
              </a:lnSpc>
              <a:buNone/>
            </a:pPr>
            <a:r>
              <a:rPr lang="en-US" sz="1950" dirty="0">
                <a:solidFill>
                  <a:srgbClr val="EAF0FA"/>
                </a:solidFill>
                <a:latin typeface="IBM Plex Sans" pitchFamily="34" charset="0"/>
                <a:ea typeface="IBM Plex Sans" pitchFamily="34" charset="-122"/>
                <a:cs typeface="IBM Plex Sans" pitchFamily="34" charset="-120"/>
              </a:rPr>
              <a:t>Simulate a relearning attack on the in-progress model</a:t>
            </a:r>
            <a:endParaRPr lang="en-US" sz="1950" dirty="0"/>
          </a:p>
        </p:txBody>
      </p:sp>
      <p:sp>
        <p:nvSpPr>
          <p:cNvPr id="11" name="Text 9"/>
          <p:cNvSpPr txBox="1"/>
          <p:nvPr/>
        </p:nvSpPr>
        <p:spPr>
          <a:xfrm>
            <a:off x="6016752" y="3337560"/>
            <a:ext cx="457200" cy="640080"/>
          </a:xfrm>
          <a:prstGeom prst="rect">
            <a:avLst/>
          </a:prstGeom>
          <a:noFill/>
          <a:ln/>
        </p:spPr>
        <p:txBody>
          <a:bodyPr wrap="square" lIns="0" tIns="0" rIns="0" bIns="0" rtlCol="0" anchor="t"/>
          <a:lstStyle/>
          <a:p>
            <a:pPr algn="ctr" indent="0" marL="0">
              <a:lnSpc>
                <a:spcPct val="108000"/>
              </a:lnSpc>
              <a:buNone/>
            </a:pPr>
            <a:r>
              <a:rPr lang="en-US" sz="2800" dirty="0">
                <a:solidFill>
                  <a:srgbClr val="2DD4BF"/>
                </a:solidFill>
                <a:latin typeface="Space Grotesk" pitchFamily="34" charset="0"/>
                <a:ea typeface="Space Grotesk" pitchFamily="34" charset="-122"/>
                <a:cs typeface="Space Grotesk" pitchFamily="34" charset="-120"/>
              </a:rPr>
              <a:t>→</a:t>
            </a:r>
            <a:endParaRPr lang="en-US" sz="2800" dirty="0"/>
          </a:p>
        </p:txBody>
      </p:sp>
      <p:sp>
        <p:nvSpPr>
          <p:cNvPr id="12" name="Shape 10"/>
          <p:cNvSpPr/>
          <p:nvPr/>
        </p:nvSpPr>
        <p:spPr>
          <a:xfrm>
            <a:off x="6473952" y="2788920"/>
            <a:ext cx="5029200" cy="1920240"/>
          </a:xfrm>
          <a:prstGeom prst="roundRect">
            <a:avLst>
              <a:gd name="adj" fmla="val 3810"/>
            </a:avLst>
          </a:prstGeom>
          <a:solidFill>
            <a:srgbClr val="111B30"/>
          </a:solidFill>
          <a:ln w="12700">
            <a:solidFill>
              <a:srgbClr val="38435C"/>
            </a:solidFill>
            <a:prstDash val="solid"/>
          </a:ln>
        </p:spPr>
      </p:sp>
      <p:sp>
        <p:nvSpPr>
          <p:cNvPr id="13" name="Text 11"/>
          <p:cNvSpPr txBox="1"/>
          <p:nvPr/>
        </p:nvSpPr>
        <p:spPr>
          <a:xfrm>
            <a:off x="6793992" y="3017520"/>
            <a:ext cx="731520" cy="731520"/>
          </a:xfrm>
          <a:prstGeom prst="rect">
            <a:avLst/>
          </a:prstGeom>
          <a:noFill/>
          <a:ln/>
        </p:spPr>
        <p:txBody>
          <a:bodyPr wrap="square" lIns="0" tIns="0" rIns="0" bIns="0" rtlCol="0" anchor="t"/>
          <a:lstStyle/>
          <a:p>
            <a:pPr algn="l" indent="0" marL="0">
              <a:lnSpc>
                <a:spcPct val="108000"/>
              </a:lnSpc>
              <a:buNone/>
            </a:pPr>
            <a:r>
              <a:rPr lang="en-US" sz="4000" dirty="0">
                <a:solidFill>
                  <a:srgbClr val="2DD4BF"/>
                </a:solidFill>
                <a:latin typeface="Space Grotesk" pitchFamily="34" charset="0"/>
                <a:ea typeface="Space Grotesk" pitchFamily="34" charset="-122"/>
                <a:cs typeface="Space Grotesk" pitchFamily="34" charset="-120"/>
              </a:rPr>
              <a:t>2</a:t>
            </a:r>
            <a:endParaRPr lang="en-US" sz="4000" dirty="0"/>
          </a:p>
        </p:txBody>
      </p:sp>
      <p:sp>
        <p:nvSpPr>
          <p:cNvPr id="14" name="Text 12"/>
          <p:cNvSpPr txBox="1"/>
          <p:nvPr/>
        </p:nvSpPr>
        <p:spPr>
          <a:xfrm>
            <a:off x="7616952" y="3108960"/>
            <a:ext cx="3611880" cy="1463040"/>
          </a:xfrm>
          <a:prstGeom prst="rect">
            <a:avLst/>
          </a:prstGeom>
          <a:noFill/>
          <a:ln/>
        </p:spPr>
        <p:txBody>
          <a:bodyPr wrap="square" lIns="0" tIns="0" rIns="0" bIns="0" rtlCol="0" anchor="t"/>
          <a:lstStyle/>
          <a:p>
            <a:pPr algn="l" indent="0" marL="0">
              <a:lnSpc>
                <a:spcPct val="112000"/>
              </a:lnSpc>
              <a:buNone/>
            </a:pPr>
            <a:r>
              <a:rPr lang="en-US" sz="1950" dirty="0">
                <a:solidFill>
                  <a:srgbClr val="EAF0FA"/>
                </a:solidFill>
                <a:latin typeface="IBM Plex Sans" pitchFamily="34" charset="0"/>
                <a:ea typeface="IBM Plex Sans" pitchFamily="34" charset="-122"/>
                <a:cs typeface="IBM Plex Sans" pitchFamily="34" charset="-120"/>
              </a:rPr>
              <a:t>Measure which examples come back easiest</a:t>
            </a:r>
            <a:endParaRPr lang="en-US" sz="1950" dirty="0"/>
          </a:p>
        </p:txBody>
      </p:sp>
      <p:sp>
        <p:nvSpPr>
          <p:cNvPr id="15" name="Text 13"/>
          <p:cNvSpPr txBox="1"/>
          <p:nvPr/>
        </p:nvSpPr>
        <p:spPr>
          <a:xfrm>
            <a:off x="11503152" y="3337560"/>
            <a:ext cx="457200" cy="640080"/>
          </a:xfrm>
          <a:prstGeom prst="rect">
            <a:avLst/>
          </a:prstGeom>
          <a:noFill/>
          <a:ln/>
        </p:spPr>
        <p:txBody>
          <a:bodyPr wrap="square" lIns="0" tIns="0" rIns="0" bIns="0" rtlCol="0" anchor="t"/>
          <a:lstStyle/>
          <a:p>
            <a:pPr algn="ctr" indent="0" marL="0">
              <a:lnSpc>
                <a:spcPct val="108000"/>
              </a:lnSpc>
              <a:buNone/>
            </a:pPr>
            <a:r>
              <a:rPr lang="en-US" sz="2800" dirty="0">
                <a:solidFill>
                  <a:srgbClr val="2DD4BF"/>
                </a:solidFill>
                <a:latin typeface="Space Grotesk" pitchFamily="34" charset="0"/>
                <a:ea typeface="Space Grotesk" pitchFamily="34" charset="-122"/>
                <a:cs typeface="Space Grotesk" pitchFamily="34" charset="-120"/>
              </a:rPr>
              <a:t>→</a:t>
            </a:r>
            <a:endParaRPr lang="en-US" sz="2800" dirty="0"/>
          </a:p>
        </p:txBody>
      </p:sp>
      <p:sp>
        <p:nvSpPr>
          <p:cNvPr id="16" name="Shape 14"/>
          <p:cNvSpPr/>
          <p:nvPr/>
        </p:nvSpPr>
        <p:spPr>
          <a:xfrm>
            <a:off x="11960352" y="2788920"/>
            <a:ext cx="5029200" cy="1920240"/>
          </a:xfrm>
          <a:prstGeom prst="roundRect">
            <a:avLst>
              <a:gd name="adj" fmla="val 3810"/>
            </a:avLst>
          </a:prstGeom>
          <a:solidFill>
            <a:srgbClr val="111B30"/>
          </a:solidFill>
          <a:ln w="12700">
            <a:solidFill>
              <a:srgbClr val="38435C"/>
            </a:solidFill>
            <a:prstDash val="solid"/>
          </a:ln>
        </p:spPr>
      </p:sp>
      <p:sp>
        <p:nvSpPr>
          <p:cNvPr id="17" name="Text 15"/>
          <p:cNvSpPr txBox="1"/>
          <p:nvPr/>
        </p:nvSpPr>
        <p:spPr>
          <a:xfrm>
            <a:off x="12280392" y="3017520"/>
            <a:ext cx="731520" cy="731520"/>
          </a:xfrm>
          <a:prstGeom prst="rect">
            <a:avLst/>
          </a:prstGeom>
          <a:noFill/>
          <a:ln/>
        </p:spPr>
        <p:txBody>
          <a:bodyPr wrap="square" lIns="0" tIns="0" rIns="0" bIns="0" rtlCol="0" anchor="t"/>
          <a:lstStyle/>
          <a:p>
            <a:pPr algn="l" indent="0" marL="0">
              <a:lnSpc>
                <a:spcPct val="108000"/>
              </a:lnSpc>
              <a:buNone/>
            </a:pPr>
            <a:r>
              <a:rPr lang="en-US" sz="4000" dirty="0">
                <a:solidFill>
                  <a:srgbClr val="2DD4BF"/>
                </a:solidFill>
                <a:latin typeface="Space Grotesk" pitchFamily="34" charset="0"/>
                <a:ea typeface="Space Grotesk" pitchFamily="34" charset="-122"/>
                <a:cs typeface="Space Grotesk" pitchFamily="34" charset="-120"/>
              </a:rPr>
              <a:t>3</a:t>
            </a:r>
            <a:endParaRPr lang="en-US" sz="4000" dirty="0"/>
          </a:p>
        </p:txBody>
      </p:sp>
      <p:sp>
        <p:nvSpPr>
          <p:cNvPr id="18" name="Text 16"/>
          <p:cNvSpPr txBox="1"/>
          <p:nvPr/>
        </p:nvSpPr>
        <p:spPr>
          <a:xfrm>
            <a:off x="13103352" y="3108960"/>
            <a:ext cx="3611880" cy="1463040"/>
          </a:xfrm>
          <a:prstGeom prst="rect">
            <a:avLst/>
          </a:prstGeom>
          <a:noFill/>
          <a:ln/>
        </p:spPr>
        <p:txBody>
          <a:bodyPr wrap="square" lIns="0" tIns="0" rIns="0" bIns="0" rtlCol="0" anchor="t"/>
          <a:lstStyle/>
          <a:p>
            <a:pPr algn="l" indent="0" marL="0">
              <a:lnSpc>
                <a:spcPct val="112000"/>
              </a:lnSpc>
              <a:buNone/>
            </a:pPr>
            <a:r>
              <a:rPr lang="en-US" sz="1950" dirty="0">
                <a:solidFill>
                  <a:srgbClr val="EAF0FA"/>
                </a:solidFill>
                <a:latin typeface="IBM Plex Sans" pitchFamily="34" charset="0"/>
                <a:ea typeface="IBM Plex Sans" pitchFamily="34" charset="-122"/>
                <a:cs typeface="IBM Plex Sans" pitchFamily="34" charset="-120"/>
              </a:rPr>
              <a:t>Re-weight the forget loss toward exactly those examples</a:t>
            </a:r>
            <a:endParaRPr lang="en-US" sz="1950" dirty="0"/>
          </a:p>
        </p:txBody>
      </p:sp>
      <p:sp>
        <p:nvSpPr>
          <p:cNvPr id="19" name="Text 17"/>
          <p:cNvSpPr txBox="1"/>
          <p:nvPr/>
        </p:nvSpPr>
        <p:spPr>
          <a:xfrm>
            <a:off x="987552" y="4983480"/>
            <a:ext cx="16093440" cy="457200"/>
          </a:xfrm>
          <a:prstGeom prst="rect">
            <a:avLst/>
          </a:prstGeom>
          <a:noFill/>
          <a:ln/>
        </p:spPr>
        <p:txBody>
          <a:bodyPr wrap="square" lIns="0" tIns="0" rIns="0" bIns="0" rtlCol="0" anchor="t"/>
          <a:lstStyle/>
          <a:p>
            <a:pPr algn="l" indent="0" marL="0">
              <a:lnSpc>
                <a:spcPct val="108000"/>
              </a:lnSpc>
              <a:buNone/>
            </a:pPr>
            <a:r>
              <a:rPr lang="en-US" sz="1950" dirty="0">
                <a:solidFill>
                  <a:srgbClr val="2DD4BF"/>
                </a:solidFill>
                <a:latin typeface="IBM Plex Sans" pitchFamily="34" charset="0"/>
                <a:ea typeface="IBM Plex Sans" pitchFamily="34" charset="-122"/>
                <a:cs typeface="IBM Plex Sans" pitchFamily="34" charset="-120"/>
              </a:rPr>
              <a:t>Post-hoc hardening can only report a weakness. Inline hardening can still spend training budget fixing it.</a:t>
            </a:r>
            <a:endParaRPr lang="en-US" sz="1950" dirty="0"/>
          </a:p>
        </p:txBody>
      </p:sp>
      <p:sp>
        <p:nvSpPr>
          <p:cNvPr id="20" name="Shape 18"/>
          <p:cNvSpPr/>
          <p:nvPr/>
        </p:nvSpPr>
        <p:spPr>
          <a:xfrm>
            <a:off x="987552" y="5760720"/>
            <a:ext cx="5029200" cy="1691640"/>
          </a:xfrm>
          <a:prstGeom prst="roundRect">
            <a:avLst>
              <a:gd name="adj" fmla="val 4324"/>
            </a:avLst>
          </a:prstGeom>
          <a:solidFill>
            <a:srgbClr val="111B30"/>
          </a:solidFill>
          <a:ln w="12700">
            <a:solidFill>
              <a:srgbClr val="38435C"/>
            </a:solidFill>
            <a:prstDash val="solid"/>
          </a:ln>
        </p:spPr>
      </p:sp>
      <p:sp>
        <p:nvSpPr>
          <p:cNvPr id="21" name="Text 19"/>
          <p:cNvSpPr txBox="1"/>
          <p:nvPr/>
        </p:nvSpPr>
        <p:spPr>
          <a:xfrm>
            <a:off x="1307592" y="5989320"/>
            <a:ext cx="4114800" cy="310896"/>
          </a:xfrm>
          <a:prstGeom prst="rect">
            <a:avLst/>
          </a:prstGeom>
          <a:noFill/>
          <a:ln/>
        </p:spPr>
        <p:txBody>
          <a:bodyPr wrap="square" lIns="0" tIns="0" rIns="0" bIns="0" rtlCol="0" anchor="t"/>
          <a:lstStyle/>
          <a:p>
            <a:pPr algn="l" indent="0" marL="0">
              <a:lnSpc>
                <a:spcPct val="108000"/>
              </a:lnSpc>
              <a:buNone/>
            </a:pPr>
            <a:r>
              <a:rPr lang="en-US" sz="1500" dirty="0">
                <a:solidFill>
                  <a:srgbClr val="2DD4BF"/>
                </a:solidFill>
                <a:latin typeface="IBM Plex Mono" pitchFamily="34" charset="0"/>
                <a:ea typeface="IBM Plex Mono" pitchFamily="34" charset="-122"/>
                <a:cs typeface="IBM Plex Mono" pitchFamily="34" charset="-120"/>
              </a:rPr>
              <a:t>SCIENTIFIC</a:t>
            </a:r>
            <a:endParaRPr lang="en-US" sz="1500" dirty="0"/>
          </a:p>
        </p:txBody>
      </p:sp>
      <p:sp>
        <p:nvSpPr>
          <p:cNvPr id="22" name="Text 20"/>
          <p:cNvSpPr txBox="1"/>
          <p:nvPr/>
        </p:nvSpPr>
        <p:spPr>
          <a:xfrm>
            <a:off x="1307592" y="6400800"/>
            <a:ext cx="4434840" cy="914400"/>
          </a:xfrm>
          <a:prstGeom prst="rect">
            <a:avLst/>
          </a:prstGeom>
          <a:noFill/>
          <a:ln/>
        </p:spPr>
        <p:txBody>
          <a:bodyPr wrap="square" lIns="0" tIns="0" rIns="0" bIns="0" rtlCol="0" anchor="t"/>
          <a:lstStyle/>
          <a:p>
            <a:pPr algn="l" indent="0" marL="0">
              <a:lnSpc>
                <a:spcPct val="108000"/>
              </a:lnSpc>
              <a:buNone/>
            </a:pPr>
            <a:r>
              <a:rPr lang="en-US" sz="1700" dirty="0">
                <a:solidFill>
                  <a:srgbClr val="B8C2D6"/>
                </a:solidFill>
                <a:latin typeface="IBM Plex Sans" pitchFamily="34" charset="0"/>
                <a:ea typeface="IBM Plex Sans" pitchFamily="34" charset="-122"/>
                <a:cs typeface="IBM Plex Sans" pitchFamily="34" charset="-120"/>
              </a:rPr>
              <a:t>Turns durability from an observed weakness into a training objective.</a:t>
            </a:r>
            <a:endParaRPr lang="en-US" sz="1700" dirty="0"/>
          </a:p>
        </p:txBody>
      </p:sp>
      <p:sp>
        <p:nvSpPr>
          <p:cNvPr id="23" name="Shape 21"/>
          <p:cNvSpPr/>
          <p:nvPr/>
        </p:nvSpPr>
        <p:spPr>
          <a:xfrm>
            <a:off x="6473952" y="5760720"/>
            <a:ext cx="5029200" cy="1691640"/>
          </a:xfrm>
          <a:prstGeom prst="roundRect">
            <a:avLst>
              <a:gd name="adj" fmla="val 4324"/>
            </a:avLst>
          </a:prstGeom>
          <a:solidFill>
            <a:srgbClr val="111B30"/>
          </a:solidFill>
          <a:ln w="12700">
            <a:solidFill>
              <a:srgbClr val="38435C"/>
            </a:solidFill>
            <a:prstDash val="solid"/>
          </a:ln>
        </p:spPr>
      </p:sp>
      <p:sp>
        <p:nvSpPr>
          <p:cNvPr id="24" name="Text 22"/>
          <p:cNvSpPr txBox="1"/>
          <p:nvPr/>
        </p:nvSpPr>
        <p:spPr>
          <a:xfrm>
            <a:off x="6793992" y="5989320"/>
            <a:ext cx="4114800" cy="310896"/>
          </a:xfrm>
          <a:prstGeom prst="rect">
            <a:avLst/>
          </a:prstGeom>
          <a:noFill/>
          <a:ln/>
        </p:spPr>
        <p:txBody>
          <a:bodyPr wrap="square" lIns="0" tIns="0" rIns="0" bIns="0" rtlCol="0" anchor="t"/>
          <a:lstStyle/>
          <a:p>
            <a:pPr algn="l" indent="0" marL="0">
              <a:lnSpc>
                <a:spcPct val="108000"/>
              </a:lnSpc>
              <a:buNone/>
            </a:pPr>
            <a:r>
              <a:rPr lang="en-US" sz="1500" dirty="0">
                <a:solidFill>
                  <a:srgbClr val="2DD4BF"/>
                </a:solidFill>
                <a:latin typeface="IBM Plex Mono" pitchFamily="34" charset="0"/>
                <a:ea typeface="IBM Plex Mono" pitchFamily="34" charset="-122"/>
                <a:cs typeface="IBM Plex Mono" pitchFamily="34" charset="-120"/>
              </a:rPr>
              <a:t>PRACTICAL</a:t>
            </a:r>
            <a:endParaRPr lang="en-US" sz="1500" dirty="0"/>
          </a:p>
        </p:txBody>
      </p:sp>
      <p:sp>
        <p:nvSpPr>
          <p:cNvPr id="25" name="Text 23"/>
          <p:cNvSpPr txBox="1"/>
          <p:nvPr/>
        </p:nvSpPr>
        <p:spPr>
          <a:xfrm>
            <a:off x="6793992" y="6400800"/>
            <a:ext cx="4434840" cy="914400"/>
          </a:xfrm>
          <a:prstGeom prst="rect">
            <a:avLst/>
          </a:prstGeom>
          <a:noFill/>
          <a:ln/>
        </p:spPr>
        <p:txBody>
          <a:bodyPr wrap="square" lIns="0" tIns="0" rIns="0" bIns="0" rtlCol="0" anchor="t"/>
          <a:lstStyle/>
          <a:p>
            <a:pPr algn="l" indent="0" marL="0">
              <a:lnSpc>
                <a:spcPct val="108000"/>
              </a:lnSpc>
              <a:buNone/>
            </a:pPr>
            <a:r>
              <a:rPr lang="en-US" sz="1700" dirty="0">
                <a:solidFill>
                  <a:srgbClr val="B8C2D6"/>
                </a:solidFill>
                <a:latin typeface="IBM Plex Sans" pitchFamily="34" charset="0"/>
                <a:ea typeface="IBM Plex Sans" pitchFamily="34" charset="-122"/>
                <a:cs typeface="IBM Plex Sans" pitchFamily="34" charset="-120"/>
              </a:rPr>
              <a:t>Targets 2–5× a scrub pass — runnable per request, not a batch retrain.</a:t>
            </a:r>
            <a:endParaRPr lang="en-US" sz="1700" dirty="0"/>
          </a:p>
        </p:txBody>
      </p:sp>
      <p:sp>
        <p:nvSpPr>
          <p:cNvPr id="26" name="Shape 24"/>
          <p:cNvSpPr/>
          <p:nvPr/>
        </p:nvSpPr>
        <p:spPr>
          <a:xfrm>
            <a:off x="11960352" y="5760720"/>
            <a:ext cx="5029200" cy="1691640"/>
          </a:xfrm>
          <a:prstGeom prst="roundRect">
            <a:avLst>
              <a:gd name="adj" fmla="val 4324"/>
            </a:avLst>
          </a:prstGeom>
          <a:solidFill>
            <a:srgbClr val="111B30"/>
          </a:solidFill>
          <a:ln w="12700">
            <a:solidFill>
              <a:srgbClr val="38435C"/>
            </a:solidFill>
            <a:prstDash val="solid"/>
          </a:ln>
        </p:spPr>
      </p:sp>
      <p:sp>
        <p:nvSpPr>
          <p:cNvPr id="27" name="Text 25"/>
          <p:cNvSpPr txBox="1"/>
          <p:nvPr/>
        </p:nvSpPr>
        <p:spPr>
          <a:xfrm>
            <a:off x="12280392" y="5989320"/>
            <a:ext cx="4114800" cy="310896"/>
          </a:xfrm>
          <a:prstGeom prst="rect">
            <a:avLst/>
          </a:prstGeom>
          <a:noFill/>
          <a:ln/>
        </p:spPr>
        <p:txBody>
          <a:bodyPr wrap="square" lIns="0" tIns="0" rIns="0" bIns="0" rtlCol="0" anchor="t"/>
          <a:lstStyle/>
          <a:p>
            <a:pPr algn="l" indent="0" marL="0">
              <a:lnSpc>
                <a:spcPct val="108000"/>
              </a:lnSpc>
              <a:buNone/>
            </a:pPr>
            <a:r>
              <a:rPr lang="en-US" sz="1500" dirty="0">
                <a:solidFill>
                  <a:srgbClr val="2DD4BF"/>
                </a:solidFill>
                <a:latin typeface="IBM Plex Mono" pitchFamily="34" charset="0"/>
                <a:ea typeface="IBM Plex Mono" pitchFamily="34" charset="-122"/>
                <a:cs typeface="IBM Plex Mono" pitchFamily="34" charset="-120"/>
              </a:rPr>
              <a:t>REGULATORY</a:t>
            </a:r>
            <a:endParaRPr lang="en-US" sz="1500" dirty="0"/>
          </a:p>
        </p:txBody>
      </p:sp>
      <p:sp>
        <p:nvSpPr>
          <p:cNvPr id="28" name="Text 26"/>
          <p:cNvSpPr txBox="1"/>
          <p:nvPr/>
        </p:nvSpPr>
        <p:spPr>
          <a:xfrm>
            <a:off x="12280392" y="6400800"/>
            <a:ext cx="4434840" cy="914400"/>
          </a:xfrm>
          <a:prstGeom prst="rect">
            <a:avLst/>
          </a:prstGeom>
          <a:noFill/>
          <a:ln/>
        </p:spPr>
        <p:txBody>
          <a:bodyPr wrap="square" lIns="0" tIns="0" rIns="0" bIns="0" rtlCol="0" anchor="t"/>
          <a:lstStyle/>
          <a:p>
            <a:pPr algn="l" indent="0" marL="0">
              <a:lnSpc>
                <a:spcPct val="108000"/>
              </a:lnSpc>
              <a:buNone/>
            </a:pPr>
            <a:r>
              <a:rPr lang="en-US" sz="1700" dirty="0">
                <a:solidFill>
                  <a:srgbClr val="B8C2D6"/>
                </a:solidFill>
                <a:latin typeface="IBM Plex Sans" pitchFamily="34" charset="0"/>
                <a:ea typeface="IBM Plex Sans" pitchFamily="34" charset="-122"/>
                <a:cs typeface="IBM Plex Sans" pitchFamily="34" charset="-120"/>
              </a:rPr>
              <a:t>Produces a durability figure — evidence, not an assurance.</a:t>
            </a:r>
            <a:endParaRPr lang="en-US" sz="1700" dirty="0"/>
          </a:p>
        </p:txBody>
      </p:sp>
      <p:sp>
        <p:nvSpPr>
          <p:cNvPr id="29" name="Shape 27"/>
          <p:cNvSpPr/>
          <p:nvPr/>
        </p:nvSpPr>
        <p:spPr>
          <a:xfrm>
            <a:off x="987552" y="7726680"/>
            <a:ext cx="16312896" cy="1280160"/>
          </a:xfrm>
          <a:prstGeom prst="roundRect">
            <a:avLst>
              <a:gd name="adj" fmla="val 5714"/>
            </a:avLst>
          </a:prstGeom>
          <a:solidFill>
            <a:srgbClr val="111B30"/>
          </a:solidFill>
          <a:ln w="12700">
            <a:solidFill>
              <a:srgbClr val="2DD4BF"/>
            </a:solidFill>
            <a:prstDash val="solid"/>
          </a:ln>
        </p:spPr>
      </p:sp>
      <p:sp>
        <p:nvSpPr>
          <p:cNvPr id="30" name="Text 28"/>
          <p:cNvSpPr txBox="1"/>
          <p:nvPr/>
        </p:nvSpPr>
        <p:spPr>
          <a:xfrm>
            <a:off x="1307592" y="7909560"/>
            <a:ext cx="5486400" cy="310896"/>
          </a:xfrm>
          <a:prstGeom prst="rect">
            <a:avLst/>
          </a:prstGeom>
          <a:noFill/>
          <a:ln/>
        </p:spPr>
        <p:txBody>
          <a:bodyPr wrap="square" lIns="0" tIns="0" rIns="0" bIns="0" rtlCol="0" anchor="t"/>
          <a:lstStyle/>
          <a:p>
            <a:pPr algn="l" indent="0" marL="0">
              <a:lnSpc>
                <a:spcPct val="108000"/>
              </a:lnSpc>
              <a:buNone/>
            </a:pPr>
            <a:r>
              <a:rPr lang="en-US" sz="1500" dirty="0">
                <a:solidFill>
                  <a:srgbClr val="2DD4BF"/>
                </a:solidFill>
                <a:latin typeface="IBM Plex Mono" pitchFamily="34" charset="0"/>
                <a:ea typeface="IBM Plex Mono" pitchFamily="34" charset="-122"/>
                <a:cs typeface="IBM Plex Mono" pitchFamily="34" charset="-120"/>
              </a:rPr>
              <a:t>HONEST SCOPE</a:t>
            </a:r>
            <a:endParaRPr lang="en-US" sz="1500" dirty="0"/>
          </a:p>
        </p:txBody>
      </p:sp>
      <p:sp>
        <p:nvSpPr>
          <p:cNvPr id="31" name="Text 29"/>
          <p:cNvSpPr txBox="1"/>
          <p:nvPr/>
        </p:nvSpPr>
        <p:spPr>
          <a:xfrm>
            <a:off x="1307592" y="8275320"/>
            <a:ext cx="15727680" cy="548640"/>
          </a:xfrm>
          <a:prstGeom prst="rect">
            <a:avLst/>
          </a:prstGeom>
          <a:noFill/>
          <a:ln/>
        </p:spPr>
        <p:txBody>
          <a:bodyPr wrap="square" lIns="0" tIns="0" rIns="0" bIns="0" rtlCol="0" anchor="t"/>
          <a:lstStyle/>
          <a:p>
            <a:pPr algn="l" indent="0" marL="0">
              <a:lnSpc>
                <a:spcPct val="108000"/>
              </a:lnSpc>
              <a:buNone/>
            </a:pPr>
            <a:r>
              <a:rPr lang="en-US" sz="1850" dirty="0">
                <a:solidFill>
                  <a:srgbClr val="EAF0FA"/>
                </a:solidFill>
                <a:latin typeface="IBM Plex Sans" pitchFamily="34" charset="0"/>
                <a:ea typeface="IBM Plex Sans" pitchFamily="34" charset="-122"/>
                <a:cs typeface="IBM Plex Sans" pitchFamily="34" charset="-120"/>
              </a:rPr>
              <a:t>SISA, NPO and the relearning attack are published. The combination is ours — and the inline loop is the piece still to be measured.</a:t>
            </a:r>
            <a:endParaRPr lang="en-US" sz="1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020"/>
        </a:solidFill>
      </p:bgPr>
    </p:bg>
    <p:spTree>
      <p:nvGrpSpPr>
        <p:cNvPr id="1" name=""/>
        <p:cNvGrpSpPr/>
        <p:nvPr/>
      </p:nvGrpSpPr>
      <p:grpSpPr>
        <a:xfrm>
          <a:off x="0" y="0"/>
          <a:ext cx="0" cy="0"/>
          <a:chOff x="0" y="0"/>
          <a:chExt cx="0" cy="0"/>
        </a:xfrm>
      </p:grpSpPr>
      <p:sp>
        <p:nvSpPr>
          <p:cNvPr id="2" name="Text 0"/>
          <p:cNvSpPr txBox="1"/>
          <p:nvPr/>
        </p:nvSpPr>
        <p:spPr>
          <a:xfrm>
            <a:off x="987552" y="722376"/>
            <a:ext cx="731520" cy="329184"/>
          </a:xfrm>
          <a:prstGeom prst="rect">
            <a:avLst/>
          </a:prstGeom>
          <a:noFill/>
          <a:ln/>
        </p:spPr>
        <p:txBody>
          <a:bodyPr wrap="square" lIns="0" tIns="0" rIns="0" bIns="0" rtlCol="0" anchor="t"/>
          <a:lstStyle/>
          <a:p>
            <a:pPr algn="l" indent="0" marL="0">
              <a:lnSpc>
                <a:spcPct val="108000"/>
              </a:lnSpc>
              <a:buNone/>
            </a:pPr>
            <a:r>
              <a:rPr lang="en-US" sz="1800" dirty="0">
                <a:solidFill>
                  <a:srgbClr val="2DD4BF"/>
                </a:solidFill>
                <a:latin typeface="IBM Plex Mono" pitchFamily="34" charset="0"/>
                <a:ea typeface="IBM Plex Mono" pitchFamily="34" charset="-122"/>
                <a:cs typeface="IBM Plex Mono" pitchFamily="34" charset="-120"/>
              </a:rPr>
              <a:t>09</a:t>
            </a:r>
            <a:endParaRPr lang="en-US" sz="1800" dirty="0"/>
          </a:p>
        </p:txBody>
      </p:sp>
      <p:sp>
        <p:nvSpPr>
          <p:cNvPr id="3" name="Text 1"/>
          <p:cNvSpPr txBox="1"/>
          <p:nvPr/>
        </p:nvSpPr>
        <p:spPr>
          <a:xfrm>
            <a:off x="1938528" y="722376"/>
            <a:ext cx="9144000" cy="329184"/>
          </a:xfrm>
          <a:prstGeom prst="rect">
            <a:avLst/>
          </a:prstGeom>
          <a:noFill/>
          <a:ln/>
        </p:spPr>
        <p:txBody>
          <a:bodyPr wrap="square" lIns="0" tIns="0" rIns="0" bIns="0" rtlCol="0" anchor="t"/>
          <a:lstStyle/>
          <a:p>
            <a:pPr algn="l" indent="0" marL="0">
              <a:lnSpc>
                <a:spcPct val="108000"/>
              </a:lnSpc>
              <a:buNone/>
            </a:pPr>
            <a:r>
              <a:rPr lang="en-US" sz="1800" dirty="0">
                <a:solidFill>
                  <a:srgbClr val="7C89A3"/>
                </a:solidFill>
                <a:latin typeface="IBM Plex Mono" pitchFamily="34" charset="0"/>
                <a:ea typeface="IBM Plex Mono" pitchFamily="34" charset="-122"/>
                <a:cs typeface="IBM Plex Mono" pitchFamily="34" charset="-120"/>
              </a:rPr>
              <a:t>METHODOLOGY</a:t>
            </a:r>
            <a:endParaRPr lang="en-US" sz="1800" dirty="0"/>
          </a:p>
        </p:txBody>
      </p:sp>
      <p:sp>
        <p:nvSpPr>
          <p:cNvPr id="4" name="Text 2"/>
          <p:cNvSpPr txBox="1"/>
          <p:nvPr/>
        </p:nvSpPr>
        <p:spPr>
          <a:xfrm>
            <a:off x="987552" y="1170432"/>
            <a:ext cx="16093440" cy="731520"/>
          </a:xfrm>
          <a:prstGeom prst="rect">
            <a:avLst/>
          </a:prstGeom>
          <a:noFill/>
          <a:ln/>
        </p:spPr>
        <p:txBody>
          <a:bodyPr wrap="square" lIns="0" tIns="0" rIns="0" bIns="0" rtlCol="0" anchor="t"/>
          <a:lstStyle/>
          <a:p>
            <a:pPr algn="l" indent="0" marL="0">
              <a:lnSpc>
                <a:spcPct val="108000"/>
              </a:lnSpc>
              <a:buNone/>
            </a:pPr>
            <a:r>
              <a:rPr lang="en-US" sz="4200" dirty="0">
                <a:solidFill>
                  <a:srgbClr val="EAF0FA"/>
                </a:solidFill>
                <a:latin typeface="Space Grotesk" pitchFamily="34" charset="0"/>
                <a:ea typeface="Space Grotesk" pitchFamily="34" charset="-122"/>
                <a:cs typeface="Space Grotesk" pitchFamily="34" charset="-120"/>
              </a:rPr>
              <a:t>Three Arms, One Harness</a:t>
            </a:r>
            <a:endParaRPr lang="en-US" sz="4200" dirty="0"/>
          </a:p>
        </p:txBody>
      </p:sp>
      <p:sp>
        <p:nvSpPr>
          <p:cNvPr id="5" name="Text 3"/>
          <p:cNvSpPr txBox="1"/>
          <p:nvPr/>
        </p:nvSpPr>
        <p:spPr>
          <a:xfrm>
            <a:off x="987552" y="9436608"/>
            <a:ext cx="4572000" cy="329184"/>
          </a:xfrm>
          <a:prstGeom prst="rect">
            <a:avLst/>
          </a:prstGeom>
          <a:noFill/>
          <a:ln/>
        </p:spPr>
        <p:txBody>
          <a:bodyPr wrap="square" lIns="0" tIns="0" rIns="0" bIns="0" rtlCol="0" anchor="t"/>
          <a:lstStyle/>
          <a:p>
            <a:pPr algn="l" indent="0" marL="0">
              <a:lnSpc>
                <a:spcPct val="108000"/>
              </a:lnSpc>
              <a:buNone/>
            </a:pPr>
            <a:r>
              <a:rPr lang="en-US" sz="1600" dirty="0">
                <a:solidFill>
                  <a:srgbClr val="38435C"/>
                </a:solidFill>
                <a:latin typeface="IBM Plex Mono" pitchFamily="34" charset="0"/>
                <a:ea typeface="IBM Plex Mono" pitchFamily="34" charset="-122"/>
                <a:cs typeface="IBM Plex Mono" pitchFamily="34" charset="-120"/>
              </a:rPr>
              <a:t>FORGETBENCH · HRU</a:t>
            </a:r>
            <a:endParaRPr lang="en-US" sz="1600" dirty="0"/>
          </a:p>
        </p:txBody>
      </p:sp>
      <p:sp>
        <p:nvSpPr>
          <p:cNvPr id="6" name="Text 4"/>
          <p:cNvSpPr txBox="1"/>
          <p:nvPr/>
        </p:nvSpPr>
        <p:spPr>
          <a:xfrm>
            <a:off x="12710160" y="9436608"/>
            <a:ext cx="4572000" cy="329184"/>
          </a:xfrm>
          <a:prstGeom prst="rect">
            <a:avLst/>
          </a:prstGeom>
          <a:noFill/>
          <a:ln/>
        </p:spPr>
        <p:txBody>
          <a:bodyPr wrap="square" lIns="0" tIns="0" rIns="0" bIns="0" rtlCol="0" anchor="t"/>
          <a:lstStyle/>
          <a:p>
            <a:pPr algn="r" indent="0" marL="0">
              <a:lnSpc>
                <a:spcPct val="108000"/>
              </a:lnSpc>
              <a:buNone/>
            </a:pPr>
            <a:r>
              <a:rPr lang="en-US" sz="1600" dirty="0">
                <a:solidFill>
                  <a:srgbClr val="38435C"/>
                </a:solidFill>
                <a:latin typeface="IBM Plex Mono" pitchFamily="34" charset="0"/>
                <a:ea typeface="IBM Plex Mono" pitchFamily="34" charset="-122"/>
                <a:cs typeface="IBM Plex Mono" pitchFamily="34" charset="-120"/>
              </a:rPr>
              <a:t>WOXSEN UNIVERSITY</a:t>
            </a:r>
            <a:endParaRPr lang="en-US" sz="1600" dirty="0"/>
          </a:p>
        </p:txBody>
      </p:sp>
      <p:sp>
        <p:nvSpPr>
          <p:cNvPr id="7" name="Shape 5"/>
          <p:cNvSpPr/>
          <p:nvPr/>
        </p:nvSpPr>
        <p:spPr>
          <a:xfrm>
            <a:off x="987552" y="2331720"/>
            <a:ext cx="16312896" cy="1645920"/>
          </a:xfrm>
          <a:prstGeom prst="roundRect">
            <a:avLst>
              <a:gd name="adj" fmla="val 4444"/>
            </a:avLst>
          </a:prstGeom>
          <a:solidFill>
            <a:srgbClr val="111B30"/>
          </a:solidFill>
          <a:ln w="12700">
            <a:solidFill>
              <a:srgbClr val="38435C"/>
            </a:solidFill>
            <a:prstDash val="solid"/>
          </a:ln>
        </p:spPr>
      </p:sp>
      <p:sp>
        <p:nvSpPr>
          <p:cNvPr id="8" name="Text 6"/>
          <p:cNvSpPr txBox="1"/>
          <p:nvPr/>
        </p:nvSpPr>
        <p:spPr>
          <a:xfrm>
            <a:off x="1307592" y="2606040"/>
            <a:ext cx="2926080" cy="457200"/>
          </a:xfrm>
          <a:prstGeom prst="rect">
            <a:avLst/>
          </a:prstGeom>
          <a:noFill/>
          <a:ln/>
        </p:spPr>
        <p:txBody>
          <a:bodyPr wrap="square" lIns="0" tIns="0" rIns="0" bIns="0" rtlCol="0" anchor="t"/>
          <a:lstStyle/>
          <a:p>
            <a:pPr algn="l" indent="0" marL="0">
              <a:lnSpc>
                <a:spcPct val="108000"/>
              </a:lnSpc>
              <a:buNone/>
            </a:pPr>
            <a:r>
              <a:rPr lang="en-US" sz="2600" dirty="0">
                <a:solidFill>
                  <a:srgbClr val="EAF0FA"/>
                </a:solidFill>
                <a:latin typeface="Space Grotesk" pitchFamily="34" charset="0"/>
                <a:ea typeface="Space Grotesk" pitchFamily="34" charset="-122"/>
                <a:cs typeface="Space Grotesk" pitchFamily="34" charset="-120"/>
              </a:rPr>
              <a:t>Arm A</a:t>
            </a:r>
            <a:endParaRPr lang="en-US" sz="2600" dirty="0"/>
          </a:p>
        </p:txBody>
      </p:sp>
      <p:sp>
        <p:nvSpPr>
          <p:cNvPr id="9" name="Text 7"/>
          <p:cNvSpPr txBox="1"/>
          <p:nvPr/>
        </p:nvSpPr>
        <p:spPr>
          <a:xfrm>
            <a:off x="1307592" y="3108960"/>
            <a:ext cx="3108960" cy="411480"/>
          </a:xfrm>
          <a:prstGeom prst="rect">
            <a:avLst/>
          </a:prstGeom>
          <a:noFill/>
          <a:ln/>
        </p:spPr>
        <p:txBody>
          <a:bodyPr wrap="square" lIns="0" tIns="0" rIns="0" bIns="0" rtlCol="0" anchor="t"/>
          <a:lstStyle/>
          <a:p>
            <a:pPr algn="l" indent="0" marL="0">
              <a:lnSpc>
                <a:spcPct val="108000"/>
              </a:lnSpc>
              <a:buNone/>
            </a:pPr>
            <a:r>
              <a:rPr lang="en-US" sz="1650" dirty="0">
                <a:solidFill>
                  <a:srgbClr val="B8C2D6"/>
                </a:solidFill>
                <a:latin typeface="IBM Plex Sans" pitchFamily="34" charset="0"/>
                <a:ea typeface="IBM Plex Sans" pitchFamily="34" charset="-122"/>
                <a:cs typeface="IBM Plex Sans" pitchFamily="34" charset="-120"/>
              </a:rPr>
              <a:t>Exact unlearning</a:t>
            </a:r>
            <a:endParaRPr lang="en-US" sz="1650" dirty="0"/>
          </a:p>
        </p:txBody>
      </p:sp>
      <p:sp>
        <p:nvSpPr>
          <p:cNvPr id="10" name="Text 8"/>
          <p:cNvSpPr txBox="1"/>
          <p:nvPr/>
        </p:nvSpPr>
        <p:spPr>
          <a:xfrm>
            <a:off x="1307592" y="3520440"/>
            <a:ext cx="3108960" cy="365760"/>
          </a:xfrm>
          <a:prstGeom prst="rect">
            <a:avLst/>
          </a:prstGeom>
          <a:noFill/>
          <a:ln/>
        </p:spPr>
        <p:txBody>
          <a:bodyPr wrap="square" lIns="0" tIns="0" rIns="0" bIns="0" rtlCol="0" anchor="t"/>
          <a:lstStyle/>
          <a:p>
            <a:pPr algn="l" indent="0" marL="0">
              <a:lnSpc>
                <a:spcPct val="108000"/>
              </a:lnSpc>
              <a:buNone/>
            </a:pPr>
            <a:r>
              <a:rPr lang="en-US" sz="1400" dirty="0">
                <a:solidFill>
                  <a:srgbClr val="7C89A3"/>
                </a:solidFill>
                <a:latin typeface="IBM Plex Mono" pitchFamily="34" charset="0"/>
                <a:ea typeface="IBM Plex Mono" pitchFamily="34" charset="-122"/>
                <a:cs typeface="IBM Plex Mono" pitchFamily="34" charset="-120"/>
              </a:rPr>
              <a:t>~10–100×</a:t>
            </a:r>
            <a:endParaRPr lang="en-US" sz="1400" dirty="0"/>
          </a:p>
        </p:txBody>
      </p:sp>
      <p:sp>
        <p:nvSpPr>
          <p:cNvPr id="11" name="Shape 9"/>
          <p:cNvSpPr/>
          <p:nvPr/>
        </p:nvSpPr>
        <p:spPr>
          <a:xfrm>
            <a:off x="4572000" y="2743200"/>
            <a:ext cx="3657600" cy="822960"/>
          </a:xfrm>
          <a:prstGeom prst="roundRect">
            <a:avLst>
              <a:gd name="adj" fmla="val 8889"/>
            </a:avLst>
          </a:prstGeom>
          <a:solidFill>
            <a:srgbClr val="0A1020"/>
          </a:solidFill>
          <a:ln w="12700">
            <a:solidFill>
              <a:srgbClr val="38435C"/>
            </a:solidFill>
            <a:prstDash val="solid"/>
          </a:ln>
        </p:spPr>
      </p:sp>
      <p:sp>
        <p:nvSpPr>
          <p:cNvPr id="12" name="Text 10"/>
          <p:cNvSpPr txBox="1"/>
          <p:nvPr/>
        </p:nvSpPr>
        <p:spPr>
          <a:xfrm>
            <a:off x="4754880" y="2743200"/>
            <a:ext cx="3291840" cy="822960"/>
          </a:xfrm>
          <a:prstGeom prst="rect">
            <a:avLst/>
          </a:prstGeom>
          <a:noFill/>
          <a:ln/>
        </p:spPr>
        <p:txBody>
          <a:bodyPr wrap="square" lIns="0" tIns="0" rIns="0" bIns="0" rtlCol="0" anchor="ctr"/>
          <a:lstStyle/>
          <a:p>
            <a:pPr algn="l" indent="0" marL="0">
              <a:lnSpc>
                <a:spcPct val="108000"/>
              </a:lnSpc>
              <a:buNone/>
            </a:pPr>
            <a:r>
              <a:rPr lang="en-US" sz="1600" dirty="0">
                <a:solidFill>
                  <a:srgbClr val="EAF0FA"/>
                </a:solidFill>
                <a:latin typeface="IBM Plex Sans" pitchFamily="34" charset="0"/>
                <a:ea typeface="IBM Plex Sans" pitchFamily="34" charset="-122"/>
                <a:cs typeface="IBM Plex Sans" pitchFamily="34" charset="-120"/>
              </a:rPr>
              <a:t>Corpus minus forgotten data</a:t>
            </a:r>
            <a:endParaRPr lang="en-US" sz="1600" dirty="0"/>
          </a:p>
        </p:txBody>
      </p:sp>
      <p:sp>
        <p:nvSpPr>
          <p:cNvPr id="13" name="Text 11"/>
          <p:cNvSpPr txBox="1"/>
          <p:nvPr/>
        </p:nvSpPr>
        <p:spPr>
          <a:xfrm>
            <a:off x="8247888" y="2834640"/>
            <a:ext cx="548640" cy="640080"/>
          </a:xfrm>
          <a:prstGeom prst="rect">
            <a:avLst/>
          </a:prstGeom>
          <a:noFill/>
          <a:ln/>
        </p:spPr>
        <p:txBody>
          <a:bodyPr wrap="square" lIns="0" tIns="0" rIns="0" bIns="0" rtlCol="0" anchor="t"/>
          <a:lstStyle/>
          <a:p>
            <a:pPr algn="ctr" indent="0" marL="0">
              <a:lnSpc>
                <a:spcPct val="108000"/>
              </a:lnSpc>
              <a:buNone/>
            </a:pPr>
            <a:r>
              <a:rPr lang="en-US" sz="2400" dirty="0">
                <a:solidFill>
                  <a:srgbClr val="2DD4BF"/>
                </a:solidFill>
                <a:latin typeface="Space Grotesk" pitchFamily="34" charset="0"/>
                <a:ea typeface="Space Grotesk" pitchFamily="34" charset="-122"/>
                <a:cs typeface="Space Grotesk" pitchFamily="34" charset="-120"/>
              </a:rPr>
              <a:t>→</a:t>
            </a:r>
            <a:endParaRPr lang="en-US" sz="2400" dirty="0"/>
          </a:p>
        </p:txBody>
      </p:sp>
      <p:sp>
        <p:nvSpPr>
          <p:cNvPr id="14" name="Shape 12"/>
          <p:cNvSpPr/>
          <p:nvPr/>
        </p:nvSpPr>
        <p:spPr>
          <a:xfrm>
            <a:off x="8823960" y="2743200"/>
            <a:ext cx="3657600" cy="822960"/>
          </a:xfrm>
          <a:prstGeom prst="roundRect">
            <a:avLst>
              <a:gd name="adj" fmla="val 8889"/>
            </a:avLst>
          </a:prstGeom>
          <a:solidFill>
            <a:srgbClr val="0A1020"/>
          </a:solidFill>
          <a:ln w="12700">
            <a:solidFill>
              <a:srgbClr val="38435C"/>
            </a:solidFill>
            <a:prstDash val="solid"/>
          </a:ln>
        </p:spPr>
      </p:sp>
      <p:sp>
        <p:nvSpPr>
          <p:cNvPr id="15" name="Text 13"/>
          <p:cNvSpPr txBox="1"/>
          <p:nvPr/>
        </p:nvSpPr>
        <p:spPr>
          <a:xfrm>
            <a:off x="9006840" y="2743200"/>
            <a:ext cx="3291840" cy="822960"/>
          </a:xfrm>
          <a:prstGeom prst="rect">
            <a:avLst/>
          </a:prstGeom>
          <a:noFill/>
          <a:ln/>
        </p:spPr>
        <p:txBody>
          <a:bodyPr wrap="square" lIns="0" tIns="0" rIns="0" bIns="0" rtlCol="0" anchor="ctr"/>
          <a:lstStyle/>
          <a:p>
            <a:pPr algn="l" indent="0" marL="0">
              <a:lnSpc>
                <a:spcPct val="108000"/>
              </a:lnSpc>
              <a:buNone/>
            </a:pPr>
            <a:r>
              <a:rPr lang="en-US" sz="1600" dirty="0">
                <a:solidFill>
                  <a:srgbClr val="EAF0FA"/>
                </a:solidFill>
                <a:latin typeface="IBM Plex Sans" pitchFamily="34" charset="0"/>
                <a:ea typeface="IBM Plex Sans" pitchFamily="34" charset="-122"/>
                <a:cs typeface="IBM Plex Sans" pitchFamily="34" charset="-120"/>
              </a:rPr>
              <a:t>Retrain (full, or affected shard)</a:t>
            </a:r>
            <a:endParaRPr lang="en-US" sz="1600" dirty="0"/>
          </a:p>
        </p:txBody>
      </p:sp>
      <p:sp>
        <p:nvSpPr>
          <p:cNvPr id="16" name="Text 14"/>
          <p:cNvSpPr txBox="1"/>
          <p:nvPr/>
        </p:nvSpPr>
        <p:spPr>
          <a:xfrm>
            <a:off x="12499848" y="2834640"/>
            <a:ext cx="548640" cy="640080"/>
          </a:xfrm>
          <a:prstGeom prst="rect">
            <a:avLst/>
          </a:prstGeom>
          <a:noFill/>
          <a:ln/>
        </p:spPr>
        <p:txBody>
          <a:bodyPr wrap="square" lIns="0" tIns="0" rIns="0" bIns="0" rtlCol="0" anchor="t"/>
          <a:lstStyle/>
          <a:p>
            <a:pPr algn="ctr" indent="0" marL="0">
              <a:lnSpc>
                <a:spcPct val="108000"/>
              </a:lnSpc>
              <a:buNone/>
            </a:pPr>
            <a:r>
              <a:rPr lang="en-US" sz="2400" dirty="0">
                <a:solidFill>
                  <a:srgbClr val="2DD4BF"/>
                </a:solidFill>
                <a:latin typeface="Space Grotesk" pitchFamily="34" charset="0"/>
                <a:ea typeface="Space Grotesk" pitchFamily="34" charset="-122"/>
                <a:cs typeface="Space Grotesk" pitchFamily="34" charset="-120"/>
              </a:rPr>
              <a:t>→</a:t>
            </a:r>
            <a:endParaRPr lang="en-US" sz="2400" dirty="0"/>
          </a:p>
        </p:txBody>
      </p:sp>
      <p:sp>
        <p:nvSpPr>
          <p:cNvPr id="17" name="Shape 15"/>
          <p:cNvSpPr/>
          <p:nvPr/>
        </p:nvSpPr>
        <p:spPr>
          <a:xfrm>
            <a:off x="13075920" y="2743200"/>
            <a:ext cx="3657600" cy="822960"/>
          </a:xfrm>
          <a:prstGeom prst="roundRect">
            <a:avLst>
              <a:gd name="adj" fmla="val 8889"/>
            </a:avLst>
          </a:prstGeom>
          <a:solidFill>
            <a:srgbClr val="0A1020"/>
          </a:solidFill>
          <a:ln w="12700">
            <a:solidFill>
              <a:srgbClr val="38435C"/>
            </a:solidFill>
            <a:prstDash val="solid"/>
          </a:ln>
        </p:spPr>
      </p:sp>
      <p:sp>
        <p:nvSpPr>
          <p:cNvPr id="18" name="Text 16"/>
          <p:cNvSpPr txBox="1"/>
          <p:nvPr/>
        </p:nvSpPr>
        <p:spPr>
          <a:xfrm>
            <a:off x="13258800" y="2743200"/>
            <a:ext cx="3291840" cy="822960"/>
          </a:xfrm>
          <a:prstGeom prst="rect">
            <a:avLst/>
          </a:prstGeom>
          <a:noFill/>
          <a:ln/>
        </p:spPr>
        <p:txBody>
          <a:bodyPr wrap="square" lIns="0" tIns="0" rIns="0" bIns="0" rtlCol="0" anchor="ctr"/>
          <a:lstStyle/>
          <a:p>
            <a:pPr algn="l" indent="0" marL="0">
              <a:lnSpc>
                <a:spcPct val="108000"/>
              </a:lnSpc>
              <a:buNone/>
            </a:pPr>
            <a:r>
              <a:rPr lang="en-US" sz="1600" dirty="0">
                <a:solidFill>
                  <a:srgbClr val="EAF0FA"/>
                </a:solidFill>
                <a:latin typeface="IBM Plex Sans" pitchFamily="34" charset="0"/>
                <a:ea typeface="IBM Plex Sans" pitchFamily="34" charset="-122"/>
                <a:cs typeface="IBM Plex Sans" pitchFamily="34" charset="-120"/>
              </a:rPr>
              <a:t>Model that never saw it</a:t>
            </a:r>
            <a:endParaRPr lang="en-US" sz="1600" dirty="0"/>
          </a:p>
        </p:txBody>
      </p:sp>
      <p:sp>
        <p:nvSpPr>
          <p:cNvPr id="19" name="Shape 17"/>
          <p:cNvSpPr/>
          <p:nvPr/>
        </p:nvSpPr>
        <p:spPr>
          <a:xfrm>
            <a:off x="987552" y="4251960"/>
            <a:ext cx="16312896" cy="1645920"/>
          </a:xfrm>
          <a:prstGeom prst="roundRect">
            <a:avLst>
              <a:gd name="adj" fmla="val 4444"/>
            </a:avLst>
          </a:prstGeom>
          <a:solidFill>
            <a:srgbClr val="111B30"/>
          </a:solidFill>
          <a:ln w="12700">
            <a:solidFill>
              <a:srgbClr val="38435C"/>
            </a:solidFill>
            <a:prstDash val="solid"/>
          </a:ln>
        </p:spPr>
      </p:sp>
      <p:sp>
        <p:nvSpPr>
          <p:cNvPr id="20" name="Text 18"/>
          <p:cNvSpPr txBox="1"/>
          <p:nvPr/>
        </p:nvSpPr>
        <p:spPr>
          <a:xfrm>
            <a:off x="1307592" y="4526280"/>
            <a:ext cx="2926080" cy="457200"/>
          </a:xfrm>
          <a:prstGeom prst="rect">
            <a:avLst/>
          </a:prstGeom>
          <a:noFill/>
          <a:ln/>
        </p:spPr>
        <p:txBody>
          <a:bodyPr wrap="square" lIns="0" tIns="0" rIns="0" bIns="0" rtlCol="0" anchor="t"/>
          <a:lstStyle/>
          <a:p>
            <a:pPr algn="l" indent="0" marL="0">
              <a:lnSpc>
                <a:spcPct val="108000"/>
              </a:lnSpc>
              <a:buNone/>
            </a:pPr>
            <a:r>
              <a:rPr lang="en-US" sz="2600" dirty="0">
                <a:solidFill>
                  <a:srgbClr val="EAF0FA"/>
                </a:solidFill>
                <a:latin typeface="Space Grotesk" pitchFamily="34" charset="0"/>
                <a:ea typeface="Space Grotesk" pitchFamily="34" charset="-122"/>
                <a:cs typeface="Space Grotesk" pitchFamily="34" charset="-120"/>
              </a:rPr>
              <a:t>Arm B</a:t>
            </a:r>
            <a:endParaRPr lang="en-US" sz="2600" dirty="0"/>
          </a:p>
        </p:txBody>
      </p:sp>
      <p:sp>
        <p:nvSpPr>
          <p:cNvPr id="21" name="Text 19"/>
          <p:cNvSpPr txBox="1"/>
          <p:nvPr/>
        </p:nvSpPr>
        <p:spPr>
          <a:xfrm>
            <a:off x="1307592" y="5029200"/>
            <a:ext cx="3108960" cy="411480"/>
          </a:xfrm>
          <a:prstGeom prst="rect">
            <a:avLst/>
          </a:prstGeom>
          <a:noFill/>
          <a:ln/>
        </p:spPr>
        <p:txBody>
          <a:bodyPr wrap="square" lIns="0" tIns="0" rIns="0" bIns="0" rtlCol="0" anchor="t"/>
          <a:lstStyle/>
          <a:p>
            <a:pPr algn="l" indent="0" marL="0">
              <a:lnSpc>
                <a:spcPct val="108000"/>
              </a:lnSpc>
              <a:buNone/>
            </a:pPr>
            <a:r>
              <a:rPr lang="en-US" sz="1650" dirty="0">
                <a:solidFill>
                  <a:srgbClr val="B8C2D6"/>
                </a:solidFill>
                <a:latin typeface="IBM Plex Sans" pitchFamily="34" charset="0"/>
                <a:ea typeface="IBM Plex Sans" pitchFamily="34" charset="-122"/>
                <a:cs typeface="IBM Plex Sans" pitchFamily="34" charset="-120"/>
              </a:rPr>
              <a:t>Approximate unlearning</a:t>
            </a:r>
            <a:endParaRPr lang="en-US" sz="1650" dirty="0"/>
          </a:p>
        </p:txBody>
      </p:sp>
      <p:sp>
        <p:nvSpPr>
          <p:cNvPr id="22" name="Text 20"/>
          <p:cNvSpPr txBox="1"/>
          <p:nvPr/>
        </p:nvSpPr>
        <p:spPr>
          <a:xfrm>
            <a:off x="1307592" y="5440680"/>
            <a:ext cx="3108960" cy="365760"/>
          </a:xfrm>
          <a:prstGeom prst="rect">
            <a:avLst/>
          </a:prstGeom>
          <a:noFill/>
          <a:ln/>
        </p:spPr>
        <p:txBody>
          <a:bodyPr wrap="square" lIns="0" tIns="0" rIns="0" bIns="0" rtlCol="0" anchor="t"/>
          <a:lstStyle/>
          <a:p>
            <a:pPr algn="l" indent="0" marL="0">
              <a:lnSpc>
                <a:spcPct val="108000"/>
              </a:lnSpc>
              <a:buNone/>
            </a:pPr>
            <a:r>
              <a:rPr lang="en-US" sz="1400" dirty="0">
                <a:solidFill>
                  <a:srgbClr val="7C89A3"/>
                </a:solidFill>
                <a:latin typeface="IBM Plex Mono" pitchFamily="34" charset="0"/>
                <a:ea typeface="IBM Plex Mono" pitchFamily="34" charset="-122"/>
                <a:cs typeface="IBM Plex Mono" pitchFamily="34" charset="-120"/>
              </a:rPr>
              <a:t>~1×</a:t>
            </a:r>
            <a:endParaRPr lang="en-US" sz="1400" dirty="0"/>
          </a:p>
        </p:txBody>
      </p:sp>
      <p:sp>
        <p:nvSpPr>
          <p:cNvPr id="23" name="Shape 21"/>
          <p:cNvSpPr/>
          <p:nvPr/>
        </p:nvSpPr>
        <p:spPr>
          <a:xfrm>
            <a:off x="4572000" y="4663440"/>
            <a:ext cx="3657600" cy="822960"/>
          </a:xfrm>
          <a:prstGeom prst="roundRect">
            <a:avLst>
              <a:gd name="adj" fmla="val 8889"/>
            </a:avLst>
          </a:prstGeom>
          <a:solidFill>
            <a:srgbClr val="0A1020"/>
          </a:solidFill>
          <a:ln w="12700">
            <a:solidFill>
              <a:srgbClr val="38435C"/>
            </a:solidFill>
            <a:prstDash val="solid"/>
          </a:ln>
        </p:spPr>
      </p:sp>
      <p:sp>
        <p:nvSpPr>
          <p:cNvPr id="24" name="Text 22"/>
          <p:cNvSpPr txBox="1"/>
          <p:nvPr/>
        </p:nvSpPr>
        <p:spPr>
          <a:xfrm>
            <a:off x="4754880" y="4663440"/>
            <a:ext cx="3291840" cy="822960"/>
          </a:xfrm>
          <a:prstGeom prst="rect">
            <a:avLst/>
          </a:prstGeom>
          <a:noFill/>
          <a:ln/>
        </p:spPr>
        <p:txBody>
          <a:bodyPr wrap="square" lIns="0" tIns="0" rIns="0" bIns="0" rtlCol="0" anchor="ctr"/>
          <a:lstStyle/>
          <a:p>
            <a:pPr algn="l" indent="0" marL="0">
              <a:lnSpc>
                <a:spcPct val="108000"/>
              </a:lnSpc>
              <a:buNone/>
            </a:pPr>
            <a:r>
              <a:rPr lang="en-US" sz="1600" dirty="0">
                <a:solidFill>
                  <a:srgbClr val="EAF0FA"/>
                </a:solidFill>
                <a:latin typeface="IBM Plex Sans" pitchFamily="34" charset="0"/>
                <a:ea typeface="IBM Plex Sans" pitchFamily="34" charset="-122"/>
                <a:cs typeface="IBM Plex Sans" pitchFamily="34" charset="-120"/>
              </a:rPr>
              <a:t>Deployed weights</a:t>
            </a:r>
            <a:endParaRPr lang="en-US" sz="1600" dirty="0"/>
          </a:p>
        </p:txBody>
      </p:sp>
      <p:sp>
        <p:nvSpPr>
          <p:cNvPr id="25" name="Text 23"/>
          <p:cNvSpPr txBox="1"/>
          <p:nvPr/>
        </p:nvSpPr>
        <p:spPr>
          <a:xfrm>
            <a:off x="8247888" y="4754880"/>
            <a:ext cx="548640" cy="640080"/>
          </a:xfrm>
          <a:prstGeom prst="rect">
            <a:avLst/>
          </a:prstGeom>
          <a:noFill/>
          <a:ln/>
        </p:spPr>
        <p:txBody>
          <a:bodyPr wrap="square" lIns="0" tIns="0" rIns="0" bIns="0" rtlCol="0" anchor="t"/>
          <a:lstStyle/>
          <a:p>
            <a:pPr algn="ctr" indent="0" marL="0">
              <a:lnSpc>
                <a:spcPct val="108000"/>
              </a:lnSpc>
              <a:buNone/>
            </a:pPr>
            <a:r>
              <a:rPr lang="en-US" sz="2400" dirty="0">
                <a:solidFill>
                  <a:srgbClr val="2DD4BF"/>
                </a:solidFill>
                <a:latin typeface="Space Grotesk" pitchFamily="34" charset="0"/>
                <a:ea typeface="Space Grotesk" pitchFamily="34" charset="-122"/>
                <a:cs typeface="Space Grotesk" pitchFamily="34" charset="-120"/>
              </a:rPr>
              <a:t>→</a:t>
            </a:r>
            <a:endParaRPr lang="en-US" sz="2400" dirty="0"/>
          </a:p>
        </p:txBody>
      </p:sp>
      <p:sp>
        <p:nvSpPr>
          <p:cNvPr id="26" name="Shape 24"/>
          <p:cNvSpPr/>
          <p:nvPr/>
        </p:nvSpPr>
        <p:spPr>
          <a:xfrm>
            <a:off x="8823960" y="4663440"/>
            <a:ext cx="3657600" cy="822960"/>
          </a:xfrm>
          <a:prstGeom prst="roundRect">
            <a:avLst>
              <a:gd name="adj" fmla="val 8889"/>
            </a:avLst>
          </a:prstGeom>
          <a:solidFill>
            <a:srgbClr val="0A1020"/>
          </a:solidFill>
          <a:ln w="12700">
            <a:solidFill>
              <a:srgbClr val="38435C"/>
            </a:solidFill>
            <a:prstDash val="solid"/>
          </a:ln>
        </p:spPr>
      </p:sp>
      <p:sp>
        <p:nvSpPr>
          <p:cNvPr id="27" name="Text 25"/>
          <p:cNvSpPr txBox="1"/>
          <p:nvPr/>
        </p:nvSpPr>
        <p:spPr>
          <a:xfrm>
            <a:off x="9006840" y="4663440"/>
            <a:ext cx="3291840" cy="822960"/>
          </a:xfrm>
          <a:prstGeom prst="rect">
            <a:avLst/>
          </a:prstGeom>
          <a:noFill/>
          <a:ln/>
        </p:spPr>
        <p:txBody>
          <a:bodyPr wrap="square" lIns="0" tIns="0" rIns="0" bIns="0" rtlCol="0" anchor="ctr"/>
          <a:lstStyle/>
          <a:p>
            <a:pPr algn="l" indent="0" marL="0">
              <a:lnSpc>
                <a:spcPct val="108000"/>
              </a:lnSpc>
              <a:buNone/>
            </a:pPr>
            <a:r>
              <a:rPr lang="en-US" sz="1600" dirty="0">
                <a:solidFill>
                  <a:srgbClr val="EAF0FA"/>
                </a:solidFill>
                <a:latin typeface="IBM Plex Sans" pitchFamily="34" charset="0"/>
                <a:ea typeface="IBM Plex Sans" pitchFamily="34" charset="-122"/>
                <a:cs typeface="IBM Plex Sans" pitchFamily="34" charset="-120"/>
              </a:rPr>
              <a:t>NPO / RMU / gradient-ascent scrub</a:t>
            </a:r>
            <a:endParaRPr lang="en-US" sz="1600" dirty="0"/>
          </a:p>
        </p:txBody>
      </p:sp>
      <p:sp>
        <p:nvSpPr>
          <p:cNvPr id="28" name="Text 26"/>
          <p:cNvSpPr txBox="1"/>
          <p:nvPr/>
        </p:nvSpPr>
        <p:spPr>
          <a:xfrm>
            <a:off x="12499848" y="4754880"/>
            <a:ext cx="548640" cy="640080"/>
          </a:xfrm>
          <a:prstGeom prst="rect">
            <a:avLst/>
          </a:prstGeom>
          <a:noFill/>
          <a:ln/>
        </p:spPr>
        <p:txBody>
          <a:bodyPr wrap="square" lIns="0" tIns="0" rIns="0" bIns="0" rtlCol="0" anchor="t"/>
          <a:lstStyle/>
          <a:p>
            <a:pPr algn="ctr" indent="0" marL="0">
              <a:lnSpc>
                <a:spcPct val="108000"/>
              </a:lnSpc>
              <a:buNone/>
            </a:pPr>
            <a:r>
              <a:rPr lang="en-US" sz="2400" dirty="0">
                <a:solidFill>
                  <a:srgbClr val="2DD4BF"/>
                </a:solidFill>
                <a:latin typeface="Space Grotesk" pitchFamily="34" charset="0"/>
                <a:ea typeface="Space Grotesk" pitchFamily="34" charset="-122"/>
                <a:cs typeface="Space Grotesk" pitchFamily="34" charset="-120"/>
              </a:rPr>
              <a:t>→</a:t>
            </a:r>
            <a:endParaRPr lang="en-US" sz="2400" dirty="0"/>
          </a:p>
        </p:txBody>
      </p:sp>
      <p:sp>
        <p:nvSpPr>
          <p:cNvPr id="29" name="Shape 27"/>
          <p:cNvSpPr/>
          <p:nvPr/>
        </p:nvSpPr>
        <p:spPr>
          <a:xfrm>
            <a:off x="13075920" y="4663440"/>
            <a:ext cx="3657600" cy="822960"/>
          </a:xfrm>
          <a:prstGeom prst="roundRect">
            <a:avLst>
              <a:gd name="adj" fmla="val 8889"/>
            </a:avLst>
          </a:prstGeom>
          <a:solidFill>
            <a:srgbClr val="0A1020"/>
          </a:solidFill>
          <a:ln w="12700">
            <a:solidFill>
              <a:srgbClr val="38435C"/>
            </a:solidFill>
            <a:prstDash val="solid"/>
          </a:ln>
        </p:spPr>
      </p:sp>
      <p:sp>
        <p:nvSpPr>
          <p:cNvPr id="30" name="Text 28"/>
          <p:cNvSpPr txBox="1"/>
          <p:nvPr/>
        </p:nvSpPr>
        <p:spPr>
          <a:xfrm>
            <a:off x="13258800" y="4663440"/>
            <a:ext cx="3291840" cy="822960"/>
          </a:xfrm>
          <a:prstGeom prst="rect">
            <a:avLst/>
          </a:prstGeom>
          <a:noFill/>
          <a:ln/>
        </p:spPr>
        <p:txBody>
          <a:bodyPr wrap="square" lIns="0" tIns="0" rIns="0" bIns="0" rtlCol="0" anchor="ctr"/>
          <a:lstStyle/>
          <a:p>
            <a:pPr algn="l" indent="0" marL="0">
              <a:lnSpc>
                <a:spcPct val="108000"/>
              </a:lnSpc>
              <a:buNone/>
            </a:pPr>
            <a:r>
              <a:rPr lang="en-US" sz="1600" dirty="0">
                <a:solidFill>
                  <a:srgbClr val="EAF0FA"/>
                </a:solidFill>
                <a:latin typeface="IBM Plex Sans" pitchFamily="34" charset="0"/>
                <a:ea typeface="IBM Plex Sans" pitchFamily="34" charset="-122"/>
                <a:cs typeface="IBM Plex Sans" pitchFamily="34" charset="-120"/>
              </a:rPr>
              <a:t>Scrubbed — no relearning pressure</a:t>
            </a:r>
            <a:endParaRPr lang="en-US" sz="1600" dirty="0"/>
          </a:p>
        </p:txBody>
      </p:sp>
      <p:sp>
        <p:nvSpPr>
          <p:cNvPr id="31" name="Shape 29"/>
          <p:cNvSpPr/>
          <p:nvPr/>
        </p:nvSpPr>
        <p:spPr>
          <a:xfrm>
            <a:off x="987552" y="6172200"/>
            <a:ext cx="16312896" cy="1645920"/>
          </a:xfrm>
          <a:prstGeom prst="roundRect">
            <a:avLst>
              <a:gd name="adj" fmla="val 4444"/>
            </a:avLst>
          </a:prstGeom>
          <a:solidFill>
            <a:srgbClr val="111B30"/>
          </a:solidFill>
          <a:ln w="12700">
            <a:solidFill>
              <a:srgbClr val="2DD4BF"/>
            </a:solidFill>
            <a:prstDash val="solid"/>
          </a:ln>
        </p:spPr>
      </p:sp>
      <p:sp>
        <p:nvSpPr>
          <p:cNvPr id="32" name="Text 30"/>
          <p:cNvSpPr txBox="1"/>
          <p:nvPr/>
        </p:nvSpPr>
        <p:spPr>
          <a:xfrm>
            <a:off x="1307592" y="6446520"/>
            <a:ext cx="2926080" cy="457200"/>
          </a:xfrm>
          <a:prstGeom prst="rect">
            <a:avLst/>
          </a:prstGeom>
          <a:noFill/>
          <a:ln/>
        </p:spPr>
        <p:txBody>
          <a:bodyPr wrap="square" lIns="0" tIns="0" rIns="0" bIns="0" rtlCol="0" anchor="t"/>
          <a:lstStyle/>
          <a:p>
            <a:pPr algn="l" indent="0" marL="0">
              <a:lnSpc>
                <a:spcPct val="108000"/>
              </a:lnSpc>
              <a:buNone/>
            </a:pPr>
            <a:r>
              <a:rPr lang="en-US" sz="2600" dirty="0">
                <a:solidFill>
                  <a:srgbClr val="2DD4BF"/>
                </a:solidFill>
                <a:latin typeface="Space Grotesk" pitchFamily="34" charset="0"/>
                <a:ea typeface="Space Grotesk" pitchFamily="34" charset="-122"/>
                <a:cs typeface="Space Grotesk" pitchFamily="34" charset="-120"/>
              </a:rPr>
              <a:t>Arm C</a:t>
            </a:r>
            <a:endParaRPr lang="en-US" sz="2600" dirty="0"/>
          </a:p>
        </p:txBody>
      </p:sp>
      <p:sp>
        <p:nvSpPr>
          <p:cNvPr id="33" name="Text 31"/>
          <p:cNvSpPr txBox="1"/>
          <p:nvPr/>
        </p:nvSpPr>
        <p:spPr>
          <a:xfrm>
            <a:off x="1307592" y="6949440"/>
            <a:ext cx="3108960" cy="411480"/>
          </a:xfrm>
          <a:prstGeom prst="rect">
            <a:avLst/>
          </a:prstGeom>
          <a:noFill/>
          <a:ln/>
        </p:spPr>
        <p:txBody>
          <a:bodyPr wrap="square" lIns="0" tIns="0" rIns="0" bIns="0" rtlCol="0" anchor="t"/>
          <a:lstStyle/>
          <a:p>
            <a:pPr algn="l" indent="0" marL="0">
              <a:lnSpc>
                <a:spcPct val="108000"/>
              </a:lnSpc>
              <a:buNone/>
            </a:pPr>
            <a:r>
              <a:rPr lang="en-US" sz="1650" dirty="0">
                <a:solidFill>
                  <a:srgbClr val="B8C2D6"/>
                </a:solidFill>
                <a:latin typeface="IBM Plex Sans" pitchFamily="34" charset="0"/>
                <a:ea typeface="IBM Plex Sans" pitchFamily="34" charset="-122"/>
                <a:cs typeface="IBM Plex Sans" pitchFamily="34" charset="-120"/>
              </a:rPr>
              <a:t>HRU — ours</a:t>
            </a:r>
            <a:endParaRPr lang="en-US" sz="1650" dirty="0"/>
          </a:p>
        </p:txBody>
      </p:sp>
      <p:sp>
        <p:nvSpPr>
          <p:cNvPr id="34" name="Text 32"/>
          <p:cNvSpPr txBox="1"/>
          <p:nvPr/>
        </p:nvSpPr>
        <p:spPr>
          <a:xfrm>
            <a:off x="1307592" y="7360920"/>
            <a:ext cx="3108960" cy="365760"/>
          </a:xfrm>
          <a:prstGeom prst="rect">
            <a:avLst/>
          </a:prstGeom>
          <a:noFill/>
          <a:ln/>
        </p:spPr>
        <p:txBody>
          <a:bodyPr wrap="square" lIns="0" tIns="0" rIns="0" bIns="0" rtlCol="0" anchor="t"/>
          <a:lstStyle/>
          <a:p>
            <a:pPr algn="l" indent="0" marL="0">
              <a:lnSpc>
                <a:spcPct val="108000"/>
              </a:lnSpc>
              <a:buNone/>
            </a:pPr>
            <a:r>
              <a:rPr lang="en-US" sz="1400" dirty="0">
                <a:solidFill>
                  <a:srgbClr val="7C89A3"/>
                </a:solidFill>
                <a:latin typeface="IBM Plex Mono" pitchFamily="34" charset="0"/>
                <a:ea typeface="IBM Plex Mono" pitchFamily="34" charset="-122"/>
                <a:cs typeface="IBM Plex Mono" pitchFamily="34" charset="-120"/>
              </a:rPr>
              <a:t>2–5× target</a:t>
            </a:r>
            <a:endParaRPr lang="en-US" sz="1400" dirty="0"/>
          </a:p>
        </p:txBody>
      </p:sp>
      <p:sp>
        <p:nvSpPr>
          <p:cNvPr id="35" name="Shape 33"/>
          <p:cNvSpPr/>
          <p:nvPr/>
        </p:nvSpPr>
        <p:spPr>
          <a:xfrm>
            <a:off x="4572000" y="6583680"/>
            <a:ext cx="3657600" cy="822960"/>
          </a:xfrm>
          <a:prstGeom prst="roundRect">
            <a:avLst>
              <a:gd name="adj" fmla="val 8889"/>
            </a:avLst>
          </a:prstGeom>
          <a:solidFill>
            <a:srgbClr val="0A1020"/>
          </a:solidFill>
          <a:ln w="12700">
            <a:solidFill>
              <a:srgbClr val="38435C"/>
            </a:solidFill>
            <a:prstDash val="solid"/>
          </a:ln>
        </p:spPr>
      </p:sp>
      <p:sp>
        <p:nvSpPr>
          <p:cNvPr id="36" name="Text 34"/>
          <p:cNvSpPr txBox="1"/>
          <p:nvPr/>
        </p:nvSpPr>
        <p:spPr>
          <a:xfrm>
            <a:off x="4754880" y="6583680"/>
            <a:ext cx="3291840" cy="822960"/>
          </a:xfrm>
          <a:prstGeom prst="rect">
            <a:avLst/>
          </a:prstGeom>
          <a:noFill/>
          <a:ln/>
        </p:spPr>
        <p:txBody>
          <a:bodyPr wrap="square" lIns="0" tIns="0" rIns="0" bIns="0" rtlCol="0" anchor="ctr"/>
          <a:lstStyle/>
          <a:p>
            <a:pPr algn="l" indent="0" marL="0">
              <a:lnSpc>
                <a:spcPct val="108000"/>
              </a:lnSpc>
              <a:buNone/>
            </a:pPr>
            <a:r>
              <a:rPr lang="en-US" sz="1600" dirty="0">
                <a:solidFill>
                  <a:srgbClr val="EAF0FA"/>
                </a:solidFill>
                <a:latin typeface="IBM Plex Sans" pitchFamily="34" charset="0"/>
                <a:ea typeface="IBM Plex Sans" pitchFamily="34" charset="-122"/>
                <a:cs typeface="IBM Plex Sans" pitchFamily="34" charset="-120"/>
              </a:rPr>
              <a:t>Scrub, NPO-style loss with SAM</a:t>
            </a:r>
            <a:endParaRPr lang="en-US" sz="1600" dirty="0"/>
          </a:p>
        </p:txBody>
      </p:sp>
      <p:sp>
        <p:nvSpPr>
          <p:cNvPr id="37" name="Text 35"/>
          <p:cNvSpPr txBox="1"/>
          <p:nvPr/>
        </p:nvSpPr>
        <p:spPr>
          <a:xfrm>
            <a:off x="8247888" y="6675120"/>
            <a:ext cx="548640" cy="640080"/>
          </a:xfrm>
          <a:prstGeom prst="rect">
            <a:avLst/>
          </a:prstGeom>
          <a:noFill/>
          <a:ln/>
        </p:spPr>
        <p:txBody>
          <a:bodyPr wrap="square" lIns="0" tIns="0" rIns="0" bIns="0" rtlCol="0" anchor="t"/>
          <a:lstStyle/>
          <a:p>
            <a:pPr algn="ctr" indent="0" marL="0">
              <a:lnSpc>
                <a:spcPct val="108000"/>
              </a:lnSpc>
              <a:buNone/>
            </a:pPr>
            <a:r>
              <a:rPr lang="en-US" sz="2400" dirty="0">
                <a:solidFill>
                  <a:srgbClr val="2DD4BF"/>
                </a:solidFill>
                <a:latin typeface="Space Grotesk" pitchFamily="34" charset="0"/>
                <a:ea typeface="Space Grotesk" pitchFamily="34" charset="-122"/>
                <a:cs typeface="Space Grotesk" pitchFamily="34" charset="-120"/>
              </a:rPr>
              <a:t>→</a:t>
            </a:r>
            <a:endParaRPr lang="en-US" sz="2400" dirty="0"/>
          </a:p>
        </p:txBody>
      </p:sp>
      <p:sp>
        <p:nvSpPr>
          <p:cNvPr id="38" name="Shape 36"/>
          <p:cNvSpPr/>
          <p:nvPr/>
        </p:nvSpPr>
        <p:spPr>
          <a:xfrm>
            <a:off x="8823960" y="6583680"/>
            <a:ext cx="3657600" cy="822960"/>
          </a:xfrm>
          <a:prstGeom prst="roundRect">
            <a:avLst>
              <a:gd name="adj" fmla="val 8889"/>
            </a:avLst>
          </a:prstGeom>
          <a:solidFill>
            <a:srgbClr val="0A1020"/>
          </a:solidFill>
          <a:ln w="12700">
            <a:solidFill>
              <a:srgbClr val="2DD4BF"/>
            </a:solidFill>
            <a:prstDash val="solid"/>
          </a:ln>
        </p:spPr>
      </p:sp>
      <p:sp>
        <p:nvSpPr>
          <p:cNvPr id="39" name="Text 37"/>
          <p:cNvSpPr txBox="1"/>
          <p:nvPr/>
        </p:nvSpPr>
        <p:spPr>
          <a:xfrm>
            <a:off x="9006840" y="6583680"/>
            <a:ext cx="3291840" cy="822960"/>
          </a:xfrm>
          <a:prstGeom prst="rect">
            <a:avLst/>
          </a:prstGeom>
          <a:noFill/>
          <a:ln/>
        </p:spPr>
        <p:txBody>
          <a:bodyPr wrap="square" lIns="0" tIns="0" rIns="0" bIns="0" rtlCol="0" anchor="ctr"/>
          <a:lstStyle/>
          <a:p>
            <a:pPr algn="l" indent="0" marL="0">
              <a:lnSpc>
                <a:spcPct val="108000"/>
              </a:lnSpc>
              <a:buNone/>
            </a:pPr>
            <a:r>
              <a:rPr lang="en-US" sz="1600" dirty="0">
                <a:solidFill>
                  <a:srgbClr val="EAF0FA"/>
                </a:solidFill>
                <a:latin typeface="IBM Plex Sans" pitchFamily="34" charset="0"/>
                <a:ea typeface="IBM Plex Sans" pitchFamily="34" charset="-122"/>
                <a:cs typeface="IBM Plex Sans" pitchFamily="34" charset="-120"/>
              </a:rPr>
              <a:t>Inline attack-and-reweight loop</a:t>
            </a:r>
            <a:endParaRPr lang="en-US" sz="1600" dirty="0"/>
          </a:p>
        </p:txBody>
      </p:sp>
      <p:sp>
        <p:nvSpPr>
          <p:cNvPr id="40" name="Text 38"/>
          <p:cNvSpPr txBox="1"/>
          <p:nvPr/>
        </p:nvSpPr>
        <p:spPr>
          <a:xfrm>
            <a:off x="12499848" y="6675120"/>
            <a:ext cx="548640" cy="640080"/>
          </a:xfrm>
          <a:prstGeom prst="rect">
            <a:avLst/>
          </a:prstGeom>
          <a:noFill/>
          <a:ln/>
        </p:spPr>
        <p:txBody>
          <a:bodyPr wrap="square" lIns="0" tIns="0" rIns="0" bIns="0" rtlCol="0" anchor="t"/>
          <a:lstStyle/>
          <a:p>
            <a:pPr algn="ctr" indent="0" marL="0">
              <a:lnSpc>
                <a:spcPct val="108000"/>
              </a:lnSpc>
              <a:buNone/>
            </a:pPr>
            <a:r>
              <a:rPr lang="en-US" sz="2400" dirty="0">
                <a:solidFill>
                  <a:srgbClr val="2DD4BF"/>
                </a:solidFill>
                <a:latin typeface="Space Grotesk" pitchFamily="34" charset="0"/>
                <a:ea typeface="Space Grotesk" pitchFamily="34" charset="-122"/>
                <a:cs typeface="Space Grotesk" pitchFamily="34" charset="-120"/>
              </a:rPr>
              <a:t>→</a:t>
            </a:r>
            <a:endParaRPr lang="en-US" sz="2400" dirty="0"/>
          </a:p>
        </p:txBody>
      </p:sp>
      <p:sp>
        <p:nvSpPr>
          <p:cNvPr id="41" name="Shape 39"/>
          <p:cNvSpPr/>
          <p:nvPr/>
        </p:nvSpPr>
        <p:spPr>
          <a:xfrm>
            <a:off x="13075920" y="6583680"/>
            <a:ext cx="3657600" cy="822960"/>
          </a:xfrm>
          <a:prstGeom prst="roundRect">
            <a:avLst>
              <a:gd name="adj" fmla="val 8889"/>
            </a:avLst>
          </a:prstGeom>
          <a:solidFill>
            <a:srgbClr val="0A1020"/>
          </a:solidFill>
          <a:ln w="12700">
            <a:solidFill>
              <a:srgbClr val="38435C"/>
            </a:solidFill>
            <a:prstDash val="solid"/>
          </a:ln>
        </p:spPr>
      </p:sp>
      <p:sp>
        <p:nvSpPr>
          <p:cNvPr id="42" name="Text 40"/>
          <p:cNvSpPr txBox="1"/>
          <p:nvPr/>
        </p:nvSpPr>
        <p:spPr>
          <a:xfrm>
            <a:off x="13258800" y="6583680"/>
            <a:ext cx="3291840" cy="822960"/>
          </a:xfrm>
          <a:prstGeom prst="rect">
            <a:avLst/>
          </a:prstGeom>
          <a:noFill/>
          <a:ln/>
        </p:spPr>
        <p:txBody>
          <a:bodyPr wrap="square" lIns="0" tIns="0" rIns="0" bIns="0" rtlCol="0" anchor="ctr"/>
          <a:lstStyle/>
          <a:p>
            <a:pPr algn="l" indent="0" marL="0">
              <a:lnSpc>
                <a:spcPct val="108000"/>
              </a:lnSpc>
              <a:buNone/>
            </a:pPr>
            <a:r>
              <a:rPr lang="en-US" sz="1600" dirty="0">
                <a:solidFill>
                  <a:srgbClr val="EAF0FA"/>
                </a:solidFill>
                <a:latin typeface="IBM Plex Sans" pitchFamily="34" charset="0"/>
                <a:ea typeface="IBM Plex Sans" pitchFamily="34" charset="-122"/>
                <a:cs typeface="IBM Plex Sans" pitchFamily="34" charset="-120"/>
              </a:rPr>
              <a:t>Hardened model</a:t>
            </a:r>
            <a:endParaRPr lang="en-US" sz="1600" dirty="0"/>
          </a:p>
        </p:txBody>
      </p:sp>
      <p:sp>
        <p:nvSpPr>
          <p:cNvPr id="43" name="Text 41"/>
          <p:cNvSpPr txBox="1"/>
          <p:nvPr/>
        </p:nvSpPr>
        <p:spPr>
          <a:xfrm>
            <a:off x="987552" y="8229600"/>
            <a:ext cx="16093440" cy="822960"/>
          </a:xfrm>
          <a:prstGeom prst="rect">
            <a:avLst/>
          </a:prstGeom>
          <a:noFill/>
          <a:ln/>
        </p:spPr>
        <p:txBody>
          <a:bodyPr wrap="square" lIns="0" tIns="0" rIns="0" bIns="0" rtlCol="0" anchor="t"/>
          <a:lstStyle/>
          <a:p>
            <a:pPr algn="l" indent="0" marL="0">
              <a:lnSpc>
                <a:spcPct val="112000"/>
              </a:lnSpc>
              <a:buNone/>
            </a:pPr>
            <a:r>
              <a:rPr lang="en-US" sz="1850" dirty="0">
                <a:solidFill>
                  <a:srgbClr val="2DD4BF"/>
                </a:solidFill>
                <a:latin typeface="IBM Plex Sans" pitchFamily="34" charset="0"/>
                <a:ea typeface="IBM Plex Sans" pitchFamily="34" charset="-122"/>
                <a:cs typeface="IBM Plex Sans" pitchFamily="34" charset="-120"/>
              </a:rPr>
              <a:t>All arms share the same base model, forget set, probes, seeds and cost accounting — so a difference in results is a difference in method, not setup.</a:t>
            </a:r>
            <a:endParaRPr lang="en-US" sz="1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020"/>
        </a:solidFill>
      </p:bgPr>
    </p:bg>
    <p:spTree>
      <p:nvGrpSpPr>
        <p:cNvPr id="1" name=""/>
        <p:cNvGrpSpPr/>
        <p:nvPr/>
      </p:nvGrpSpPr>
      <p:grpSpPr>
        <a:xfrm>
          <a:off x="0" y="0"/>
          <a:ext cx="0" cy="0"/>
          <a:chOff x="0" y="0"/>
          <a:chExt cx="0" cy="0"/>
        </a:xfrm>
      </p:grpSpPr>
      <p:sp>
        <p:nvSpPr>
          <p:cNvPr id="2" name="Text 0"/>
          <p:cNvSpPr txBox="1"/>
          <p:nvPr/>
        </p:nvSpPr>
        <p:spPr>
          <a:xfrm>
            <a:off x="987552" y="722376"/>
            <a:ext cx="731520" cy="329184"/>
          </a:xfrm>
          <a:prstGeom prst="rect">
            <a:avLst/>
          </a:prstGeom>
          <a:noFill/>
          <a:ln/>
        </p:spPr>
        <p:txBody>
          <a:bodyPr wrap="square" lIns="0" tIns="0" rIns="0" bIns="0" rtlCol="0" anchor="t"/>
          <a:lstStyle/>
          <a:p>
            <a:pPr algn="l" indent="0" marL="0">
              <a:lnSpc>
                <a:spcPct val="108000"/>
              </a:lnSpc>
              <a:buNone/>
            </a:pPr>
            <a:r>
              <a:rPr lang="en-US" sz="1800" dirty="0">
                <a:solidFill>
                  <a:srgbClr val="2DD4BF"/>
                </a:solidFill>
                <a:latin typeface="IBM Plex Mono" pitchFamily="34" charset="0"/>
                <a:ea typeface="IBM Plex Mono" pitchFamily="34" charset="-122"/>
                <a:cs typeface="IBM Plex Mono" pitchFamily="34" charset="-120"/>
              </a:rPr>
              <a:t>10</a:t>
            </a:r>
            <a:endParaRPr lang="en-US" sz="1800" dirty="0"/>
          </a:p>
        </p:txBody>
      </p:sp>
      <p:sp>
        <p:nvSpPr>
          <p:cNvPr id="3" name="Text 1"/>
          <p:cNvSpPr txBox="1"/>
          <p:nvPr/>
        </p:nvSpPr>
        <p:spPr>
          <a:xfrm>
            <a:off x="1938528" y="722376"/>
            <a:ext cx="9144000" cy="329184"/>
          </a:xfrm>
          <a:prstGeom prst="rect">
            <a:avLst/>
          </a:prstGeom>
          <a:noFill/>
          <a:ln/>
        </p:spPr>
        <p:txBody>
          <a:bodyPr wrap="square" lIns="0" tIns="0" rIns="0" bIns="0" rtlCol="0" anchor="t"/>
          <a:lstStyle/>
          <a:p>
            <a:pPr algn="l" indent="0" marL="0">
              <a:lnSpc>
                <a:spcPct val="108000"/>
              </a:lnSpc>
              <a:buNone/>
            </a:pPr>
            <a:r>
              <a:rPr lang="en-US" sz="1800" dirty="0">
                <a:solidFill>
                  <a:srgbClr val="7C89A3"/>
                </a:solidFill>
                <a:latin typeface="IBM Plex Mono" pitchFamily="34" charset="0"/>
                <a:ea typeface="IBM Plex Mono" pitchFamily="34" charset="-122"/>
                <a:cs typeface="IBM Plex Mono" pitchFamily="34" charset="-120"/>
              </a:rPr>
              <a:t>TOOLS &amp; TECH</a:t>
            </a:r>
            <a:endParaRPr lang="en-US" sz="1800" dirty="0"/>
          </a:p>
        </p:txBody>
      </p:sp>
      <p:sp>
        <p:nvSpPr>
          <p:cNvPr id="4" name="Text 2"/>
          <p:cNvSpPr txBox="1"/>
          <p:nvPr/>
        </p:nvSpPr>
        <p:spPr>
          <a:xfrm>
            <a:off x="987552" y="1170432"/>
            <a:ext cx="16093440" cy="731520"/>
          </a:xfrm>
          <a:prstGeom prst="rect">
            <a:avLst/>
          </a:prstGeom>
          <a:noFill/>
          <a:ln/>
        </p:spPr>
        <p:txBody>
          <a:bodyPr wrap="square" lIns="0" tIns="0" rIns="0" bIns="0" rtlCol="0" anchor="t"/>
          <a:lstStyle/>
          <a:p>
            <a:pPr algn="l" indent="0" marL="0">
              <a:lnSpc>
                <a:spcPct val="108000"/>
              </a:lnSpc>
              <a:buNone/>
            </a:pPr>
            <a:r>
              <a:rPr lang="en-US" sz="4200" dirty="0">
                <a:solidFill>
                  <a:srgbClr val="EAF0FA"/>
                </a:solidFill>
                <a:latin typeface="Space Grotesk" pitchFamily="34" charset="0"/>
                <a:ea typeface="Space Grotesk" pitchFamily="34" charset="-122"/>
                <a:cs typeface="Space Grotesk" pitchFamily="34" charset="-120"/>
              </a:rPr>
              <a:t>The Stack — Single-GPU by Design</a:t>
            </a:r>
            <a:endParaRPr lang="en-US" sz="4200" dirty="0"/>
          </a:p>
        </p:txBody>
      </p:sp>
      <p:sp>
        <p:nvSpPr>
          <p:cNvPr id="5" name="Text 3"/>
          <p:cNvSpPr txBox="1"/>
          <p:nvPr/>
        </p:nvSpPr>
        <p:spPr>
          <a:xfrm>
            <a:off x="987552" y="9436608"/>
            <a:ext cx="4572000" cy="329184"/>
          </a:xfrm>
          <a:prstGeom prst="rect">
            <a:avLst/>
          </a:prstGeom>
          <a:noFill/>
          <a:ln/>
        </p:spPr>
        <p:txBody>
          <a:bodyPr wrap="square" lIns="0" tIns="0" rIns="0" bIns="0" rtlCol="0" anchor="t"/>
          <a:lstStyle/>
          <a:p>
            <a:pPr algn="l" indent="0" marL="0">
              <a:lnSpc>
                <a:spcPct val="108000"/>
              </a:lnSpc>
              <a:buNone/>
            </a:pPr>
            <a:r>
              <a:rPr lang="en-US" sz="1600" dirty="0">
                <a:solidFill>
                  <a:srgbClr val="38435C"/>
                </a:solidFill>
                <a:latin typeface="IBM Plex Mono" pitchFamily="34" charset="0"/>
                <a:ea typeface="IBM Plex Mono" pitchFamily="34" charset="-122"/>
                <a:cs typeface="IBM Plex Mono" pitchFamily="34" charset="-120"/>
              </a:rPr>
              <a:t>FORGETBENCH · HRU</a:t>
            </a:r>
            <a:endParaRPr lang="en-US" sz="1600" dirty="0"/>
          </a:p>
        </p:txBody>
      </p:sp>
      <p:sp>
        <p:nvSpPr>
          <p:cNvPr id="6" name="Text 4"/>
          <p:cNvSpPr txBox="1"/>
          <p:nvPr/>
        </p:nvSpPr>
        <p:spPr>
          <a:xfrm>
            <a:off x="12710160" y="9436608"/>
            <a:ext cx="4572000" cy="329184"/>
          </a:xfrm>
          <a:prstGeom prst="rect">
            <a:avLst/>
          </a:prstGeom>
          <a:noFill/>
          <a:ln/>
        </p:spPr>
        <p:txBody>
          <a:bodyPr wrap="square" lIns="0" tIns="0" rIns="0" bIns="0" rtlCol="0" anchor="t"/>
          <a:lstStyle/>
          <a:p>
            <a:pPr algn="r" indent="0" marL="0">
              <a:lnSpc>
                <a:spcPct val="108000"/>
              </a:lnSpc>
              <a:buNone/>
            </a:pPr>
            <a:r>
              <a:rPr lang="en-US" sz="1600" dirty="0">
                <a:solidFill>
                  <a:srgbClr val="38435C"/>
                </a:solidFill>
                <a:latin typeface="IBM Plex Mono" pitchFamily="34" charset="0"/>
                <a:ea typeface="IBM Plex Mono" pitchFamily="34" charset="-122"/>
                <a:cs typeface="IBM Plex Mono" pitchFamily="34" charset="-120"/>
              </a:rPr>
              <a:t>WOXSEN UNIVERSITY</a:t>
            </a:r>
            <a:endParaRPr lang="en-US" sz="1600" dirty="0"/>
          </a:p>
        </p:txBody>
      </p:sp>
      <p:sp>
        <p:nvSpPr>
          <p:cNvPr id="7" name="Shape 5"/>
          <p:cNvSpPr/>
          <p:nvPr/>
        </p:nvSpPr>
        <p:spPr>
          <a:xfrm>
            <a:off x="987552" y="2331720"/>
            <a:ext cx="5120640" cy="4297680"/>
          </a:xfrm>
          <a:prstGeom prst="roundRect">
            <a:avLst>
              <a:gd name="adj" fmla="val 1702"/>
            </a:avLst>
          </a:prstGeom>
          <a:solidFill>
            <a:srgbClr val="111B30"/>
          </a:solidFill>
          <a:ln w="12700">
            <a:solidFill>
              <a:srgbClr val="38435C"/>
            </a:solidFill>
            <a:prstDash val="solid"/>
          </a:ln>
        </p:spPr>
      </p:sp>
      <p:sp>
        <p:nvSpPr>
          <p:cNvPr id="8" name="Text 6"/>
          <p:cNvSpPr txBox="1"/>
          <p:nvPr/>
        </p:nvSpPr>
        <p:spPr>
          <a:xfrm>
            <a:off x="1307592" y="2606040"/>
            <a:ext cx="4572000" cy="310896"/>
          </a:xfrm>
          <a:prstGeom prst="rect">
            <a:avLst/>
          </a:prstGeom>
          <a:noFill/>
          <a:ln/>
        </p:spPr>
        <p:txBody>
          <a:bodyPr wrap="square" lIns="0" tIns="0" rIns="0" bIns="0" rtlCol="0" anchor="t"/>
          <a:lstStyle/>
          <a:p>
            <a:pPr algn="l" indent="0" marL="0">
              <a:lnSpc>
                <a:spcPct val="108000"/>
              </a:lnSpc>
              <a:buNone/>
            </a:pPr>
            <a:r>
              <a:rPr lang="en-US" sz="1500" dirty="0">
                <a:solidFill>
                  <a:srgbClr val="2DD4BF"/>
                </a:solidFill>
                <a:latin typeface="IBM Plex Mono" pitchFamily="34" charset="0"/>
                <a:ea typeface="IBM Plex Mono" pitchFamily="34" charset="-122"/>
                <a:cs typeface="IBM Plex Mono" pitchFamily="34" charset="-120"/>
              </a:rPr>
              <a:t>MODEL &amp; TRAINING</a:t>
            </a:r>
            <a:endParaRPr lang="en-US" sz="1500" dirty="0"/>
          </a:p>
        </p:txBody>
      </p:sp>
      <p:sp>
        <p:nvSpPr>
          <p:cNvPr id="9" name="Text 7"/>
          <p:cNvSpPr txBox="1"/>
          <p:nvPr/>
        </p:nvSpPr>
        <p:spPr>
          <a:xfrm>
            <a:off x="1307592" y="3154680"/>
            <a:ext cx="4572000" cy="685800"/>
          </a:xfrm>
          <a:prstGeom prst="rect">
            <a:avLst/>
          </a:prstGeom>
          <a:noFill/>
          <a:ln/>
        </p:spPr>
        <p:txBody>
          <a:bodyPr wrap="square" lIns="0" tIns="0" rIns="0" bIns="0" rtlCol="0" anchor="t"/>
          <a:lstStyle/>
          <a:p>
            <a:pPr algn="l" indent="0" marL="0">
              <a:lnSpc>
                <a:spcPct val="108000"/>
              </a:lnSpc>
              <a:buNone/>
            </a:pPr>
            <a:r>
              <a:rPr lang="en-US" sz="1800" dirty="0">
                <a:solidFill>
                  <a:srgbClr val="EAF0FA"/>
                </a:solidFill>
                <a:latin typeface="IBM Plex Sans" pitchFamily="34" charset="0"/>
                <a:ea typeface="IBM Plex Sans" pitchFamily="34" charset="-122"/>
                <a:cs typeface="IBM Plex Sans" pitchFamily="34" charset="-120"/>
              </a:rPr>
              <a:t>GPT-2 (124M) for this phase</a:t>
            </a:r>
            <a:endParaRPr lang="en-US" sz="1800" dirty="0"/>
          </a:p>
        </p:txBody>
      </p:sp>
      <p:sp>
        <p:nvSpPr>
          <p:cNvPr id="10" name="Text 8"/>
          <p:cNvSpPr txBox="1"/>
          <p:nvPr/>
        </p:nvSpPr>
        <p:spPr>
          <a:xfrm>
            <a:off x="1307592" y="3959352"/>
            <a:ext cx="4572000" cy="685800"/>
          </a:xfrm>
          <a:prstGeom prst="rect">
            <a:avLst/>
          </a:prstGeom>
          <a:noFill/>
          <a:ln/>
        </p:spPr>
        <p:txBody>
          <a:bodyPr wrap="square" lIns="0" tIns="0" rIns="0" bIns="0" rtlCol="0" anchor="t"/>
          <a:lstStyle/>
          <a:p>
            <a:pPr algn="l" indent="0" marL="0">
              <a:lnSpc>
                <a:spcPct val="108000"/>
              </a:lnSpc>
              <a:buNone/>
            </a:pPr>
            <a:r>
              <a:rPr lang="en-US" sz="1800" dirty="0">
                <a:solidFill>
                  <a:srgbClr val="B8C2D6"/>
                </a:solidFill>
                <a:latin typeface="IBM Plex Sans" pitchFamily="34" charset="0"/>
                <a:ea typeface="IBM Plex Sans" pitchFamily="34" charset="-122"/>
                <a:cs typeface="IBM Plex Sans" pitchFamily="34" charset="-120"/>
              </a:rPr>
              <a:t>HuggingFace transformers</a:t>
            </a:r>
            <a:endParaRPr lang="en-US" sz="1800" dirty="0"/>
          </a:p>
        </p:txBody>
      </p:sp>
      <p:sp>
        <p:nvSpPr>
          <p:cNvPr id="11" name="Text 9"/>
          <p:cNvSpPr txBox="1"/>
          <p:nvPr/>
        </p:nvSpPr>
        <p:spPr>
          <a:xfrm>
            <a:off x="1307592" y="4764024"/>
            <a:ext cx="4572000" cy="685800"/>
          </a:xfrm>
          <a:prstGeom prst="rect">
            <a:avLst/>
          </a:prstGeom>
          <a:noFill/>
          <a:ln/>
        </p:spPr>
        <p:txBody>
          <a:bodyPr wrap="square" lIns="0" tIns="0" rIns="0" bIns="0" rtlCol="0" anchor="t"/>
          <a:lstStyle/>
          <a:p>
            <a:pPr algn="l" indent="0" marL="0">
              <a:lnSpc>
                <a:spcPct val="108000"/>
              </a:lnSpc>
              <a:buNone/>
            </a:pPr>
            <a:r>
              <a:rPr lang="en-US" sz="1800" dirty="0">
                <a:solidFill>
                  <a:srgbClr val="B8C2D6"/>
                </a:solidFill>
                <a:latin typeface="IBM Plex Sans" pitchFamily="34" charset="0"/>
                <a:ea typeface="IBM Plex Sans" pitchFamily="34" charset="-122"/>
                <a:cs typeface="IBM Plex Sans" pitchFamily="34" charset="-120"/>
              </a:rPr>
              <a:t>PyTorch · SAM optimiser</a:t>
            </a:r>
            <a:endParaRPr lang="en-US" sz="1800" dirty="0"/>
          </a:p>
        </p:txBody>
      </p:sp>
      <p:sp>
        <p:nvSpPr>
          <p:cNvPr id="12" name="Text 10"/>
          <p:cNvSpPr txBox="1"/>
          <p:nvPr/>
        </p:nvSpPr>
        <p:spPr>
          <a:xfrm>
            <a:off x="1307592" y="5568696"/>
            <a:ext cx="4572000" cy="685800"/>
          </a:xfrm>
          <a:prstGeom prst="rect">
            <a:avLst/>
          </a:prstGeom>
          <a:noFill/>
          <a:ln/>
        </p:spPr>
        <p:txBody>
          <a:bodyPr wrap="square" lIns="0" tIns="0" rIns="0" bIns="0" rtlCol="0" anchor="t"/>
          <a:lstStyle/>
          <a:p>
            <a:pPr algn="l" indent="0" marL="0">
              <a:lnSpc>
                <a:spcPct val="108000"/>
              </a:lnSpc>
              <a:buNone/>
            </a:pPr>
            <a:r>
              <a:rPr lang="en-US" sz="1800" dirty="0">
                <a:solidFill>
                  <a:srgbClr val="B8C2D6"/>
                </a:solidFill>
                <a:latin typeface="IBM Plex Sans" pitchFamily="34" charset="0"/>
                <a:ea typeface="IBM Plex Sans" pitchFamily="34" charset="-122"/>
                <a:cs typeface="IBM Plex Sans" pitchFamily="34" charset="-120"/>
              </a:rPr>
              <a:t>Google Colab · one T4 GPU</a:t>
            </a:r>
            <a:endParaRPr lang="en-US" sz="1800" dirty="0"/>
          </a:p>
        </p:txBody>
      </p:sp>
      <p:sp>
        <p:nvSpPr>
          <p:cNvPr id="13" name="Shape 11"/>
          <p:cNvSpPr/>
          <p:nvPr/>
        </p:nvSpPr>
        <p:spPr>
          <a:xfrm>
            <a:off x="6473952" y="2331720"/>
            <a:ext cx="5120640" cy="4297680"/>
          </a:xfrm>
          <a:prstGeom prst="roundRect">
            <a:avLst>
              <a:gd name="adj" fmla="val 1702"/>
            </a:avLst>
          </a:prstGeom>
          <a:solidFill>
            <a:srgbClr val="111B30"/>
          </a:solidFill>
          <a:ln w="12700">
            <a:solidFill>
              <a:srgbClr val="38435C"/>
            </a:solidFill>
            <a:prstDash val="solid"/>
          </a:ln>
        </p:spPr>
      </p:sp>
      <p:sp>
        <p:nvSpPr>
          <p:cNvPr id="14" name="Text 12"/>
          <p:cNvSpPr txBox="1"/>
          <p:nvPr/>
        </p:nvSpPr>
        <p:spPr>
          <a:xfrm>
            <a:off x="6793992" y="2606040"/>
            <a:ext cx="4572000" cy="310896"/>
          </a:xfrm>
          <a:prstGeom prst="rect">
            <a:avLst/>
          </a:prstGeom>
          <a:noFill/>
          <a:ln/>
        </p:spPr>
        <p:txBody>
          <a:bodyPr wrap="square" lIns="0" tIns="0" rIns="0" bIns="0" rtlCol="0" anchor="t"/>
          <a:lstStyle/>
          <a:p>
            <a:pPr algn="l" indent="0" marL="0">
              <a:lnSpc>
                <a:spcPct val="108000"/>
              </a:lnSpc>
              <a:buNone/>
            </a:pPr>
            <a:r>
              <a:rPr lang="en-US" sz="1500" dirty="0">
                <a:solidFill>
                  <a:srgbClr val="2DD4BF"/>
                </a:solidFill>
                <a:latin typeface="IBM Plex Mono" pitchFamily="34" charset="0"/>
                <a:ea typeface="IBM Plex Mono" pitchFamily="34" charset="-122"/>
                <a:cs typeface="IBM Plex Mono" pitchFamily="34" charset="-120"/>
              </a:rPr>
              <a:t>DATA &amp; FORGET SET</a:t>
            </a:r>
            <a:endParaRPr lang="en-US" sz="1500" dirty="0"/>
          </a:p>
        </p:txBody>
      </p:sp>
      <p:sp>
        <p:nvSpPr>
          <p:cNvPr id="15" name="Text 13"/>
          <p:cNvSpPr txBox="1"/>
          <p:nvPr/>
        </p:nvSpPr>
        <p:spPr>
          <a:xfrm>
            <a:off x="6793992" y="3154680"/>
            <a:ext cx="4572000" cy="685800"/>
          </a:xfrm>
          <a:prstGeom prst="rect">
            <a:avLst/>
          </a:prstGeom>
          <a:noFill/>
          <a:ln/>
        </p:spPr>
        <p:txBody>
          <a:bodyPr wrap="square" lIns="0" tIns="0" rIns="0" bIns="0" rtlCol="0" anchor="t"/>
          <a:lstStyle/>
          <a:p>
            <a:pPr algn="l" indent="0" marL="0">
              <a:lnSpc>
                <a:spcPct val="108000"/>
              </a:lnSpc>
              <a:buNone/>
            </a:pPr>
            <a:r>
              <a:rPr lang="en-US" sz="1800" dirty="0">
                <a:solidFill>
                  <a:srgbClr val="EAF0FA"/>
                </a:solidFill>
                <a:latin typeface="IBM Plex Sans" pitchFamily="34" charset="0"/>
                <a:ea typeface="IBM Plex Sans" pitchFamily="34" charset="-122"/>
                <a:cs typeface="IBM Plex Sans" pitchFamily="34" charset="-120"/>
              </a:rPr>
              <a:t>130 synthetic TOFU-style profiles</a:t>
            </a:r>
            <a:endParaRPr lang="en-US" sz="1800" dirty="0"/>
          </a:p>
        </p:txBody>
      </p:sp>
      <p:sp>
        <p:nvSpPr>
          <p:cNvPr id="16" name="Text 14"/>
          <p:cNvSpPr txBox="1"/>
          <p:nvPr/>
        </p:nvSpPr>
        <p:spPr>
          <a:xfrm>
            <a:off x="6793992" y="3959352"/>
            <a:ext cx="4572000" cy="685800"/>
          </a:xfrm>
          <a:prstGeom prst="rect">
            <a:avLst/>
          </a:prstGeom>
          <a:noFill/>
          <a:ln/>
        </p:spPr>
        <p:txBody>
          <a:bodyPr wrap="square" lIns="0" tIns="0" rIns="0" bIns="0" rtlCol="0" anchor="t"/>
          <a:lstStyle/>
          <a:p>
            <a:pPr algn="l" indent="0" marL="0">
              <a:lnSpc>
                <a:spcPct val="108000"/>
              </a:lnSpc>
              <a:buNone/>
            </a:pPr>
            <a:r>
              <a:rPr lang="en-US" sz="1800" dirty="0">
                <a:solidFill>
                  <a:srgbClr val="B8C2D6"/>
                </a:solidFill>
                <a:latin typeface="IBM Plex Sans" pitchFamily="34" charset="0"/>
                <a:ea typeface="IBM Plex Sans" pitchFamily="34" charset="-122"/>
                <a:cs typeface="IBM Plex Sans" pitchFamily="34" charset="-120"/>
              </a:rPr>
              <a:t>20 forget · 80 retain · 30 holdout</a:t>
            </a:r>
            <a:endParaRPr lang="en-US" sz="1800" dirty="0"/>
          </a:p>
        </p:txBody>
      </p:sp>
      <p:sp>
        <p:nvSpPr>
          <p:cNvPr id="17" name="Text 15"/>
          <p:cNvSpPr txBox="1"/>
          <p:nvPr/>
        </p:nvSpPr>
        <p:spPr>
          <a:xfrm>
            <a:off x="6793992" y="4764024"/>
            <a:ext cx="4572000" cy="685800"/>
          </a:xfrm>
          <a:prstGeom prst="rect">
            <a:avLst/>
          </a:prstGeom>
          <a:noFill/>
          <a:ln/>
        </p:spPr>
        <p:txBody>
          <a:bodyPr wrap="square" lIns="0" tIns="0" rIns="0" bIns="0" rtlCol="0" anchor="t"/>
          <a:lstStyle/>
          <a:p>
            <a:pPr algn="l" indent="0" marL="0">
              <a:lnSpc>
                <a:spcPct val="108000"/>
              </a:lnSpc>
              <a:buNone/>
            </a:pPr>
            <a:r>
              <a:rPr lang="en-US" sz="1800" dirty="0">
                <a:solidFill>
                  <a:srgbClr val="B8C2D6"/>
                </a:solidFill>
                <a:latin typeface="IBM Plex Sans" pitchFamily="34" charset="0"/>
                <a:ea typeface="IBM Plex Sans" pitchFamily="34" charset="-122"/>
                <a:cs typeface="IBM Plex Sans" pitchFamily="34" charset="-120"/>
              </a:rPr>
              <a:t>Paraphrased attack probes, dev/test split</a:t>
            </a:r>
            <a:endParaRPr lang="en-US" sz="1800" dirty="0"/>
          </a:p>
        </p:txBody>
      </p:sp>
      <p:sp>
        <p:nvSpPr>
          <p:cNvPr id="18" name="Text 16"/>
          <p:cNvSpPr txBox="1"/>
          <p:nvPr/>
        </p:nvSpPr>
        <p:spPr>
          <a:xfrm>
            <a:off x="6793992" y="5568696"/>
            <a:ext cx="4572000" cy="685800"/>
          </a:xfrm>
          <a:prstGeom prst="rect">
            <a:avLst/>
          </a:prstGeom>
          <a:noFill/>
          <a:ln/>
        </p:spPr>
        <p:txBody>
          <a:bodyPr wrap="square" lIns="0" tIns="0" rIns="0" bIns="0" rtlCol="0" anchor="t"/>
          <a:lstStyle/>
          <a:p>
            <a:pPr algn="l" indent="0" marL="0">
              <a:lnSpc>
                <a:spcPct val="108000"/>
              </a:lnSpc>
              <a:buNone/>
            </a:pPr>
            <a:r>
              <a:rPr lang="en-US" sz="1800" dirty="0">
                <a:solidFill>
                  <a:srgbClr val="B8C2D6"/>
                </a:solidFill>
                <a:latin typeface="IBM Plex Sans" pitchFamily="34" charset="0"/>
                <a:ea typeface="IBM Plex Sans" pitchFamily="34" charset="-122"/>
                <a:cs typeface="IBM Plex Sans" pitchFamily="34" charset="-120"/>
              </a:rPr>
              <a:t>Fictional people — no real PII</a:t>
            </a:r>
            <a:endParaRPr lang="en-US" sz="1800" dirty="0"/>
          </a:p>
        </p:txBody>
      </p:sp>
      <p:sp>
        <p:nvSpPr>
          <p:cNvPr id="19" name="Shape 17"/>
          <p:cNvSpPr/>
          <p:nvPr/>
        </p:nvSpPr>
        <p:spPr>
          <a:xfrm>
            <a:off x="11960352" y="2331720"/>
            <a:ext cx="5120640" cy="4297680"/>
          </a:xfrm>
          <a:prstGeom prst="roundRect">
            <a:avLst>
              <a:gd name="adj" fmla="val 1702"/>
            </a:avLst>
          </a:prstGeom>
          <a:solidFill>
            <a:srgbClr val="111B30"/>
          </a:solidFill>
          <a:ln w="12700">
            <a:solidFill>
              <a:srgbClr val="38435C"/>
            </a:solidFill>
            <a:prstDash val="solid"/>
          </a:ln>
        </p:spPr>
      </p:sp>
      <p:sp>
        <p:nvSpPr>
          <p:cNvPr id="20" name="Text 18"/>
          <p:cNvSpPr txBox="1"/>
          <p:nvPr/>
        </p:nvSpPr>
        <p:spPr>
          <a:xfrm>
            <a:off x="12280392" y="2606040"/>
            <a:ext cx="4572000" cy="310896"/>
          </a:xfrm>
          <a:prstGeom prst="rect">
            <a:avLst/>
          </a:prstGeom>
          <a:noFill/>
          <a:ln/>
        </p:spPr>
        <p:txBody>
          <a:bodyPr wrap="square" lIns="0" tIns="0" rIns="0" bIns="0" rtlCol="0" anchor="t"/>
          <a:lstStyle/>
          <a:p>
            <a:pPr algn="l" indent="0" marL="0">
              <a:lnSpc>
                <a:spcPct val="108000"/>
              </a:lnSpc>
              <a:buNone/>
            </a:pPr>
            <a:r>
              <a:rPr lang="en-US" sz="1500" dirty="0">
                <a:solidFill>
                  <a:srgbClr val="2DD4BF"/>
                </a:solidFill>
                <a:latin typeface="IBM Plex Mono" pitchFamily="34" charset="0"/>
                <a:ea typeface="IBM Plex Mono" pitchFamily="34" charset="-122"/>
                <a:cs typeface="IBM Plex Mono" pitchFamily="34" charset="-120"/>
              </a:rPr>
              <a:t>EVALUATION</a:t>
            </a:r>
            <a:endParaRPr lang="en-US" sz="1500" dirty="0"/>
          </a:p>
        </p:txBody>
      </p:sp>
      <p:sp>
        <p:nvSpPr>
          <p:cNvPr id="21" name="Text 19"/>
          <p:cNvSpPr txBox="1"/>
          <p:nvPr/>
        </p:nvSpPr>
        <p:spPr>
          <a:xfrm>
            <a:off x="12280392" y="3154680"/>
            <a:ext cx="4572000" cy="685800"/>
          </a:xfrm>
          <a:prstGeom prst="rect">
            <a:avLst/>
          </a:prstGeom>
          <a:noFill/>
          <a:ln/>
        </p:spPr>
        <p:txBody>
          <a:bodyPr wrap="square" lIns="0" tIns="0" rIns="0" bIns="0" rtlCol="0" anchor="t"/>
          <a:lstStyle/>
          <a:p>
            <a:pPr algn="l" indent="0" marL="0">
              <a:lnSpc>
                <a:spcPct val="108000"/>
              </a:lnSpc>
              <a:buNone/>
            </a:pPr>
            <a:r>
              <a:rPr lang="en-US" sz="1800" dirty="0">
                <a:solidFill>
                  <a:srgbClr val="EAF0FA"/>
                </a:solidFill>
                <a:latin typeface="IBM Plex Sans" pitchFamily="34" charset="0"/>
                <a:ea typeface="IBM Plex Sans" pitchFamily="34" charset="-122"/>
                <a:cs typeface="IBM Plex Sans" pitchFamily="34" charset="-120"/>
              </a:rPr>
              <a:t>Forget &amp; retain log-probability</a:t>
            </a:r>
            <a:endParaRPr lang="en-US" sz="1800" dirty="0"/>
          </a:p>
        </p:txBody>
      </p:sp>
      <p:sp>
        <p:nvSpPr>
          <p:cNvPr id="22" name="Text 20"/>
          <p:cNvSpPr txBox="1"/>
          <p:nvPr/>
        </p:nvSpPr>
        <p:spPr>
          <a:xfrm>
            <a:off x="12280392" y="3959352"/>
            <a:ext cx="4572000" cy="685800"/>
          </a:xfrm>
          <a:prstGeom prst="rect">
            <a:avLst/>
          </a:prstGeom>
          <a:noFill/>
          <a:ln/>
        </p:spPr>
        <p:txBody>
          <a:bodyPr wrap="square" lIns="0" tIns="0" rIns="0" bIns="0" rtlCol="0" anchor="t"/>
          <a:lstStyle/>
          <a:p>
            <a:pPr algn="l" indent="0" marL="0">
              <a:lnSpc>
                <a:spcPct val="108000"/>
              </a:lnSpc>
              <a:buNone/>
            </a:pPr>
            <a:r>
              <a:rPr lang="en-US" sz="1800" dirty="0">
                <a:solidFill>
                  <a:srgbClr val="B8C2D6"/>
                </a:solidFill>
                <a:latin typeface="IBM Plex Sans" pitchFamily="34" charset="0"/>
                <a:ea typeface="IBM Plex Sans" pitchFamily="34" charset="-122"/>
                <a:cs typeface="IBM Plex Sans" pitchFamily="34" charset="-120"/>
              </a:rPr>
              <a:t>Truth ratio (fact-level)</a:t>
            </a:r>
            <a:endParaRPr lang="en-US" sz="1800" dirty="0"/>
          </a:p>
        </p:txBody>
      </p:sp>
      <p:sp>
        <p:nvSpPr>
          <p:cNvPr id="23" name="Text 21"/>
          <p:cNvSpPr txBox="1"/>
          <p:nvPr/>
        </p:nvSpPr>
        <p:spPr>
          <a:xfrm>
            <a:off x="12280392" y="4764024"/>
            <a:ext cx="4572000" cy="685800"/>
          </a:xfrm>
          <a:prstGeom prst="rect">
            <a:avLst/>
          </a:prstGeom>
          <a:noFill/>
          <a:ln/>
        </p:spPr>
        <p:txBody>
          <a:bodyPr wrap="square" lIns="0" tIns="0" rIns="0" bIns="0" rtlCol="0" anchor="t"/>
          <a:lstStyle/>
          <a:p>
            <a:pPr algn="l" indent="0" marL="0">
              <a:lnSpc>
                <a:spcPct val="108000"/>
              </a:lnSpc>
              <a:buNone/>
            </a:pPr>
            <a:r>
              <a:rPr lang="en-US" sz="1800" dirty="0">
                <a:solidFill>
                  <a:srgbClr val="B8C2D6"/>
                </a:solidFill>
                <a:latin typeface="IBM Plex Sans" pitchFamily="34" charset="0"/>
                <a:ea typeface="IBM Plex Sans" pitchFamily="34" charset="-122"/>
                <a:cs typeface="IBM Plex Sans" pitchFamily="34" charset="-120"/>
              </a:rPr>
              <a:t>Min-K% membership inference</a:t>
            </a:r>
            <a:endParaRPr lang="en-US" sz="1800" dirty="0"/>
          </a:p>
        </p:txBody>
      </p:sp>
      <p:sp>
        <p:nvSpPr>
          <p:cNvPr id="24" name="Text 22"/>
          <p:cNvSpPr txBox="1"/>
          <p:nvPr/>
        </p:nvSpPr>
        <p:spPr>
          <a:xfrm>
            <a:off x="12280392" y="5568696"/>
            <a:ext cx="4572000" cy="685800"/>
          </a:xfrm>
          <a:prstGeom prst="rect">
            <a:avLst/>
          </a:prstGeom>
          <a:noFill/>
          <a:ln/>
        </p:spPr>
        <p:txBody>
          <a:bodyPr wrap="square" lIns="0" tIns="0" rIns="0" bIns="0" rtlCol="0" anchor="t"/>
          <a:lstStyle/>
          <a:p>
            <a:pPr algn="l" indent="0" marL="0">
              <a:lnSpc>
                <a:spcPct val="108000"/>
              </a:lnSpc>
              <a:buNone/>
            </a:pPr>
            <a:r>
              <a:rPr lang="en-US" sz="1800" dirty="0">
                <a:solidFill>
                  <a:srgbClr val="B8C2D6"/>
                </a:solidFill>
                <a:latin typeface="IBM Plex Sans" pitchFamily="34" charset="0"/>
                <a:ea typeface="IBM Plex Sans" pitchFamily="34" charset="-122"/>
                <a:cs typeface="IBM Plex Sans" pitchFamily="34" charset="-120"/>
              </a:rPr>
              <a:t>Relearning-attack harness</a:t>
            </a:r>
            <a:endParaRPr lang="en-US" sz="1800" dirty="0"/>
          </a:p>
        </p:txBody>
      </p:sp>
      <p:sp>
        <p:nvSpPr>
          <p:cNvPr id="25" name="Shape 23"/>
          <p:cNvSpPr/>
          <p:nvPr/>
        </p:nvSpPr>
        <p:spPr>
          <a:xfrm>
            <a:off x="987552" y="6995160"/>
            <a:ext cx="3840480" cy="1600200"/>
          </a:xfrm>
          <a:prstGeom prst="roundRect">
            <a:avLst>
              <a:gd name="adj" fmla="val 4571"/>
            </a:avLst>
          </a:prstGeom>
          <a:solidFill>
            <a:srgbClr val="111B30"/>
          </a:solidFill>
          <a:ln w="12700">
            <a:solidFill>
              <a:srgbClr val="38435C"/>
            </a:solidFill>
            <a:prstDash val="solid"/>
          </a:ln>
        </p:spPr>
      </p:sp>
      <p:sp>
        <p:nvSpPr>
          <p:cNvPr id="26" name="Text 24"/>
          <p:cNvSpPr txBox="1"/>
          <p:nvPr/>
        </p:nvSpPr>
        <p:spPr>
          <a:xfrm>
            <a:off x="1261872" y="7269480"/>
            <a:ext cx="3383280" cy="310896"/>
          </a:xfrm>
          <a:prstGeom prst="rect">
            <a:avLst/>
          </a:prstGeom>
          <a:noFill/>
          <a:ln/>
        </p:spPr>
        <p:txBody>
          <a:bodyPr wrap="square" lIns="0" tIns="0" rIns="0" bIns="0" rtlCol="0" anchor="t"/>
          <a:lstStyle/>
          <a:p>
            <a:pPr algn="l" indent="0" marL="0">
              <a:lnSpc>
                <a:spcPct val="108000"/>
              </a:lnSpc>
              <a:buNone/>
            </a:pPr>
            <a:r>
              <a:rPr lang="en-US" sz="1500" dirty="0">
                <a:solidFill>
                  <a:srgbClr val="7C89A3"/>
                </a:solidFill>
                <a:latin typeface="IBM Plex Mono" pitchFamily="34" charset="0"/>
                <a:ea typeface="IBM Plex Mono" pitchFamily="34" charset="-122"/>
                <a:cs typeface="IBM Plex Mono" pitchFamily="34" charset="-120"/>
              </a:rPr>
              <a:t>AXIS 1</a:t>
            </a:r>
            <a:endParaRPr lang="en-US" sz="1500" dirty="0"/>
          </a:p>
        </p:txBody>
      </p:sp>
      <p:sp>
        <p:nvSpPr>
          <p:cNvPr id="27" name="Text 25"/>
          <p:cNvSpPr txBox="1"/>
          <p:nvPr/>
        </p:nvSpPr>
        <p:spPr>
          <a:xfrm>
            <a:off x="1261872" y="7699248"/>
            <a:ext cx="3383280" cy="548640"/>
          </a:xfrm>
          <a:prstGeom prst="rect">
            <a:avLst/>
          </a:prstGeom>
          <a:noFill/>
          <a:ln/>
        </p:spPr>
        <p:txBody>
          <a:bodyPr wrap="square" lIns="0" tIns="0" rIns="0" bIns="0" rtlCol="0" anchor="t"/>
          <a:lstStyle/>
          <a:p>
            <a:pPr algn="l" indent="0" marL="0">
              <a:lnSpc>
                <a:spcPct val="108000"/>
              </a:lnSpc>
              <a:buNone/>
            </a:pPr>
            <a:r>
              <a:rPr lang="en-US" sz="2000" dirty="0">
                <a:solidFill>
                  <a:srgbClr val="EAF0FA"/>
                </a:solidFill>
                <a:latin typeface="Space Grotesk" pitchFamily="34" charset="0"/>
                <a:ea typeface="Space Grotesk" pitchFamily="34" charset="-122"/>
                <a:cs typeface="Space Grotesk" pitchFamily="34" charset="-120"/>
              </a:rPr>
              <a:t>Forget quality</a:t>
            </a:r>
            <a:endParaRPr lang="en-US" sz="2000" dirty="0"/>
          </a:p>
        </p:txBody>
      </p:sp>
      <p:sp>
        <p:nvSpPr>
          <p:cNvPr id="28" name="Shape 26"/>
          <p:cNvSpPr/>
          <p:nvPr/>
        </p:nvSpPr>
        <p:spPr>
          <a:xfrm>
            <a:off x="5102352" y="6995160"/>
            <a:ext cx="3840480" cy="1600200"/>
          </a:xfrm>
          <a:prstGeom prst="roundRect">
            <a:avLst>
              <a:gd name="adj" fmla="val 4571"/>
            </a:avLst>
          </a:prstGeom>
          <a:solidFill>
            <a:srgbClr val="111B30"/>
          </a:solidFill>
          <a:ln w="12700">
            <a:solidFill>
              <a:srgbClr val="38435C"/>
            </a:solidFill>
            <a:prstDash val="solid"/>
          </a:ln>
        </p:spPr>
      </p:sp>
      <p:sp>
        <p:nvSpPr>
          <p:cNvPr id="29" name="Text 27"/>
          <p:cNvSpPr txBox="1"/>
          <p:nvPr/>
        </p:nvSpPr>
        <p:spPr>
          <a:xfrm>
            <a:off x="5376672" y="7269480"/>
            <a:ext cx="3383280" cy="310896"/>
          </a:xfrm>
          <a:prstGeom prst="rect">
            <a:avLst/>
          </a:prstGeom>
          <a:noFill/>
          <a:ln/>
        </p:spPr>
        <p:txBody>
          <a:bodyPr wrap="square" lIns="0" tIns="0" rIns="0" bIns="0" rtlCol="0" anchor="t"/>
          <a:lstStyle/>
          <a:p>
            <a:pPr algn="l" indent="0" marL="0">
              <a:lnSpc>
                <a:spcPct val="108000"/>
              </a:lnSpc>
              <a:buNone/>
            </a:pPr>
            <a:r>
              <a:rPr lang="en-US" sz="1500" dirty="0">
                <a:solidFill>
                  <a:srgbClr val="7C89A3"/>
                </a:solidFill>
                <a:latin typeface="IBM Plex Mono" pitchFamily="34" charset="0"/>
                <a:ea typeface="IBM Plex Mono" pitchFamily="34" charset="-122"/>
                <a:cs typeface="IBM Plex Mono" pitchFamily="34" charset="-120"/>
              </a:rPr>
              <a:t>AXIS 2</a:t>
            </a:r>
            <a:endParaRPr lang="en-US" sz="1500" dirty="0"/>
          </a:p>
        </p:txBody>
      </p:sp>
      <p:sp>
        <p:nvSpPr>
          <p:cNvPr id="30" name="Text 28"/>
          <p:cNvSpPr txBox="1"/>
          <p:nvPr/>
        </p:nvSpPr>
        <p:spPr>
          <a:xfrm>
            <a:off x="5376672" y="7699248"/>
            <a:ext cx="3383280" cy="548640"/>
          </a:xfrm>
          <a:prstGeom prst="rect">
            <a:avLst/>
          </a:prstGeom>
          <a:noFill/>
          <a:ln/>
        </p:spPr>
        <p:txBody>
          <a:bodyPr wrap="square" lIns="0" tIns="0" rIns="0" bIns="0" rtlCol="0" anchor="t"/>
          <a:lstStyle/>
          <a:p>
            <a:pPr algn="l" indent="0" marL="0">
              <a:lnSpc>
                <a:spcPct val="108000"/>
              </a:lnSpc>
              <a:buNone/>
            </a:pPr>
            <a:r>
              <a:rPr lang="en-US" sz="2000" dirty="0">
                <a:solidFill>
                  <a:srgbClr val="EAF0FA"/>
                </a:solidFill>
                <a:latin typeface="Space Grotesk" pitchFamily="34" charset="0"/>
                <a:ea typeface="Space Grotesk" pitchFamily="34" charset="-122"/>
                <a:cs typeface="Space Grotesk" pitchFamily="34" charset="-120"/>
              </a:rPr>
              <a:t>Retain quality</a:t>
            </a:r>
            <a:endParaRPr lang="en-US" sz="2000" dirty="0"/>
          </a:p>
        </p:txBody>
      </p:sp>
      <p:sp>
        <p:nvSpPr>
          <p:cNvPr id="31" name="Shape 29"/>
          <p:cNvSpPr/>
          <p:nvPr/>
        </p:nvSpPr>
        <p:spPr>
          <a:xfrm>
            <a:off x="9217152" y="6995160"/>
            <a:ext cx="3840480" cy="1600200"/>
          </a:xfrm>
          <a:prstGeom prst="roundRect">
            <a:avLst>
              <a:gd name="adj" fmla="val 4571"/>
            </a:avLst>
          </a:prstGeom>
          <a:solidFill>
            <a:srgbClr val="111B30"/>
          </a:solidFill>
          <a:ln w="12700">
            <a:solidFill>
              <a:srgbClr val="2DD4BF"/>
            </a:solidFill>
            <a:prstDash val="solid"/>
          </a:ln>
        </p:spPr>
      </p:sp>
      <p:sp>
        <p:nvSpPr>
          <p:cNvPr id="32" name="Text 30"/>
          <p:cNvSpPr txBox="1"/>
          <p:nvPr/>
        </p:nvSpPr>
        <p:spPr>
          <a:xfrm>
            <a:off x="9491472" y="7269480"/>
            <a:ext cx="3383280" cy="310896"/>
          </a:xfrm>
          <a:prstGeom prst="rect">
            <a:avLst/>
          </a:prstGeom>
          <a:noFill/>
          <a:ln/>
        </p:spPr>
        <p:txBody>
          <a:bodyPr wrap="square" lIns="0" tIns="0" rIns="0" bIns="0" rtlCol="0" anchor="t"/>
          <a:lstStyle/>
          <a:p>
            <a:pPr algn="l" indent="0" marL="0">
              <a:lnSpc>
                <a:spcPct val="108000"/>
              </a:lnSpc>
              <a:buNone/>
            </a:pPr>
            <a:r>
              <a:rPr lang="en-US" sz="1500" dirty="0">
                <a:solidFill>
                  <a:srgbClr val="2DD4BF"/>
                </a:solidFill>
                <a:latin typeface="IBM Plex Mono" pitchFamily="34" charset="0"/>
                <a:ea typeface="IBM Plex Mono" pitchFamily="34" charset="-122"/>
                <a:cs typeface="IBM Plex Mono" pitchFamily="34" charset="-120"/>
              </a:rPr>
              <a:t>AXIS 3 · NOVEL</a:t>
            </a:r>
            <a:endParaRPr lang="en-US" sz="1500" dirty="0"/>
          </a:p>
        </p:txBody>
      </p:sp>
      <p:sp>
        <p:nvSpPr>
          <p:cNvPr id="33" name="Text 31"/>
          <p:cNvSpPr txBox="1"/>
          <p:nvPr/>
        </p:nvSpPr>
        <p:spPr>
          <a:xfrm>
            <a:off x="9491472" y="7699248"/>
            <a:ext cx="3383280" cy="548640"/>
          </a:xfrm>
          <a:prstGeom prst="rect">
            <a:avLst/>
          </a:prstGeom>
          <a:noFill/>
          <a:ln/>
        </p:spPr>
        <p:txBody>
          <a:bodyPr wrap="square" lIns="0" tIns="0" rIns="0" bIns="0" rtlCol="0" anchor="t"/>
          <a:lstStyle/>
          <a:p>
            <a:pPr algn="l" indent="0" marL="0">
              <a:lnSpc>
                <a:spcPct val="108000"/>
              </a:lnSpc>
              <a:buNone/>
            </a:pPr>
            <a:r>
              <a:rPr lang="en-US" sz="2000" dirty="0">
                <a:solidFill>
                  <a:srgbClr val="EAF0FA"/>
                </a:solidFill>
                <a:latin typeface="Space Grotesk" pitchFamily="34" charset="0"/>
                <a:ea typeface="Space Grotesk" pitchFamily="34" charset="-122"/>
                <a:cs typeface="Space Grotesk" pitchFamily="34" charset="-120"/>
              </a:rPr>
              <a:t>Durability after attack</a:t>
            </a:r>
            <a:endParaRPr lang="en-US" sz="2000" dirty="0"/>
          </a:p>
        </p:txBody>
      </p:sp>
      <p:sp>
        <p:nvSpPr>
          <p:cNvPr id="34" name="Shape 32"/>
          <p:cNvSpPr/>
          <p:nvPr/>
        </p:nvSpPr>
        <p:spPr>
          <a:xfrm>
            <a:off x="13331952" y="6995160"/>
            <a:ext cx="3840480" cy="1600200"/>
          </a:xfrm>
          <a:prstGeom prst="roundRect">
            <a:avLst>
              <a:gd name="adj" fmla="val 4571"/>
            </a:avLst>
          </a:prstGeom>
          <a:solidFill>
            <a:srgbClr val="111B30"/>
          </a:solidFill>
          <a:ln w="12700">
            <a:solidFill>
              <a:srgbClr val="38435C"/>
            </a:solidFill>
            <a:prstDash val="solid"/>
          </a:ln>
        </p:spPr>
      </p:sp>
      <p:sp>
        <p:nvSpPr>
          <p:cNvPr id="35" name="Text 33"/>
          <p:cNvSpPr txBox="1"/>
          <p:nvPr/>
        </p:nvSpPr>
        <p:spPr>
          <a:xfrm>
            <a:off x="13606272" y="7269480"/>
            <a:ext cx="3383280" cy="310896"/>
          </a:xfrm>
          <a:prstGeom prst="rect">
            <a:avLst/>
          </a:prstGeom>
          <a:noFill/>
          <a:ln/>
        </p:spPr>
        <p:txBody>
          <a:bodyPr wrap="square" lIns="0" tIns="0" rIns="0" bIns="0" rtlCol="0" anchor="t"/>
          <a:lstStyle/>
          <a:p>
            <a:pPr algn="l" indent="0" marL="0">
              <a:lnSpc>
                <a:spcPct val="108000"/>
              </a:lnSpc>
              <a:buNone/>
            </a:pPr>
            <a:r>
              <a:rPr lang="en-US" sz="1500" dirty="0">
                <a:solidFill>
                  <a:srgbClr val="7C89A3"/>
                </a:solidFill>
                <a:latin typeface="IBM Plex Mono" pitchFamily="34" charset="0"/>
                <a:ea typeface="IBM Plex Mono" pitchFamily="34" charset="-122"/>
                <a:cs typeface="IBM Plex Mono" pitchFamily="34" charset="-120"/>
              </a:rPr>
              <a:t>AXIS 4</a:t>
            </a:r>
            <a:endParaRPr lang="en-US" sz="1500" dirty="0"/>
          </a:p>
        </p:txBody>
      </p:sp>
      <p:sp>
        <p:nvSpPr>
          <p:cNvPr id="36" name="Text 34"/>
          <p:cNvSpPr txBox="1"/>
          <p:nvPr/>
        </p:nvSpPr>
        <p:spPr>
          <a:xfrm>
            <a:off x="13606272" y="7699248"/>
            <a:ext cx="3383280" cy="548640"/>
          </a:xfrm>
          <a:prstGeom prst="rect">
            <a:avLst/>
          </a:prstGeom>
          <a:noFill/>
          <a:ln/>
        </p:spPr>
        <p:txBody>
          <a:bodyPr wrap="square" lIns="0" tIns="0" rIns="0" bIns="0" rtlCol="0" anchor="t"/>
          <a:lstStyle/>
          <a:p>
            <a:pPr algn="l" indent="0" marL="0">
              <a:lnSpc>
                <a:spcPct val="108000"/>
              </a:lnSpc>
              <a:buNone/>
            </a:pPr>
            <a:r>
              <a:rPr lang="en-US" sz="2000" dirty="0">
                <a:solidFill>
                  <a:srgbClr val="EAF0FA"/>
                </a:solidFill>
                <a:latin typeface="Space Grotesk" pitchFamily="34" charset="0"/>
                <a:ea typeface="Space Grotesk" pitchFamily="34" charset="-122"/>
                <a:cs typeface="Space Grotesk" pitchFamily="34" charset="-120"/>
              </a:rPr>
              <a:t>Cost per request</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020"/>
        </a:solidFill>
      </p:bgPr>
    </p:bg>
    <p:spTree>
      <p:nvGrpSpPr>
        <p:cNvPr id="1" name=""/>
        <p:cNvGrpSpPr/>
        <p:nvPr/>
      </p:nvGrpSpPr>
      <p:grpSpPr>
        <a:xfrm>
          <a:off x="0" y="0"/>
          <a:ext cx="0" cy="0"/>
          <a:chOff x="0" y="0"/>
          <a:chExt cx="0" cy="0"/>
        </a:xfrm>
      </p:grpSpPr>
      <p:sp>
        <p:nvSpPr>
          <p:cNvPr id="2" name="Text 0"/>
          <p:cNvSpPr txBox="1"/>
          <p:nvPr/>
        </p:nvSpPr>
        <p:spPr>
          <a:xfrm>
            <a:off x="987552" y="722376"/>
            <a:ext cx="731520" cy="329184"/>
          </a:xfrm>
          <a:prstGeom prst="rect">
            <a:avLst/>
          </a:prstGeom>
          <a:noFill/>
          <a:ln/>
        </p:spPr>
        <p:txBody>
          <a:bodyPr wrap="square" lIns="0" tIns="0" rIns="0" bIns="0" rtlCol="0" anchor="t"/>
          <a:lstStyle/>
          <a:p>
            <a:pPr algn="l" indent="0" marL="0">
              <a:lnSpc>
                <a:spcPct val="108000"/>
              </a:lnSpc>
              <a:buNone/>
            </a:pPr>
            <a:r>
              <a:rPr lang="en-US" sz="1800" dirty="0">
                <a:solidFill>
                  <a:srgbClr val="2DD4BF"/>
                </a:solidFill>
                <a:latin typeface="IBM Plex Mono" pitchFamily="34" charset="0"/>
                <a:ea typeface="IBM Plex Mono" pitchFamily="34" charset="-122"/>
                <a:cs typeface="IBM Plex Mono" pitchFamily="34" charset="-120"/>
              </a:rPr>
              <a:t>11</a:t>
            </a:r>
            <a:endParaRPr lang="en-US" sz="1800" dirty="0"/>
          </a:p>
        </p:txBody>
      </p:sp>
      <p:sp>
        <p:nvSpPr>
          <p:cNvPr id="3" name="Text 1"/>
          <p:cNvSpPr txBox="1"/>
          <p:nvPr/>
        </p:nvSpPr>
        <p:spPr>
          <a:xfrm>
            <a:off x="1938528" y="722376"/>
            <a:ext cx="9144000" cy="329184"/>
          </a:xfrm>
          <a:prstGeom prst="rect">
            <a:avLst/>
          </a:prstGeom>
          <a:noFill/>
          <a:ln/>
        </p:spPr>
        <p:txBody>
          <a:bodyPr wrap="square" lIns="0" tIns="0" rIns="0" bIns="0" rtlCol="0" anchor="t"/>
          <a:lstStyle/>
          <a:p>
            <a:pPr algn="l" indent="0" marL="0">
              <a:lnSpc>
                <a:spcPct val="108000"/>
              </a:lnSpc>
              <a:buNone/>
            </a:pPr>
            <a:r>
              <a:rPr lang="en-US" sz="1800" dirty="0">
                <a:solidFill>
                  <a:srgbClr val="7C89A3"/>
                </a:solidFill>
                <a:latin typeface="IBM Plex Mono" pitchFamily="34" charset="0"/>
                <a:ea typeface="IBM Plex Mono" pitchFamily="34" charset="-122"/>
                <a:cs typeface="IBM Plex Mono" pitchFamily="34" charset="-120"/>
              </a:rPr>
              <a:t>PROGRESS</a:t>
            </a:r>
            <a:endParaRPr lang="en-US" sz="1800" dirty="0"/>
          </a:p>
        </p:txBody>
      </p:sp>
      <p:sp>
        <p:nvSpPr>
          <p:cNvPr id="4" name="Text 2"/>
          <p:cNvSpPr txBox="1"/>
          <p:nvPr/>
        </p:nvSpPr>
        <p:spPr>
          <a:xfrm>
            <a:off x="987552" y="1170432"/>
            <a:ext cx="16093440" cy="731520"/>
          </a:xfrm>
          <a:prstGeom prst="rect">
            <a:avLst/>
          </a:prstGeom>
          <a:noFill/>
          <a:ln/>
        </p:spPr>
        <p:txBody>
          <a:bodyPr wrap="square" lIns="0" tIns="0" rIns="0" bIns="0" rtlCol="0" anchor="t"/>
          <a:lstStyle/>
          <a:p>
            <a:pPr algn="l" indent="0" marL="0">
              <a:lnSpc>
                <a:spcPct val="108000"/>
              </a:lnSpc>
              <a:buNone/>
            </a:pPr>
            <a:r>
              <a:rPr lang="en-US" sz="4200" dirty="0">
                <a:solidFill>
                  <a:srgbClr val="EAF0FA"/>
                </a:solidFill>
                <a:latin typeface="Space Grotesk" pitchFamily="34" charset="0"/>
                <a:ea typeface="Space Grotesk" pitchFamily="34" charset="-122"/>
                <a:cs typeface="Space Grotesk" pitchFamily="34" charset="-120"/>
              </a:rPr>
              <a:t>Harness Running — Twelve Variants Measured</a:t>
            </a:r>
            <a:endParaRPr lang="en-US" sz="4200" dirty="0"/>
          </a:p>
        </p:txBody>
      </p:sp>
      <p:sp>
        <p:nvSpPr>
          <p:cNvPr id="5" name="Text 3"/>
          <p:cNvSpPr txBox="1"/>
          <p:nvPr/>
        </p:nvSpPr>
        <p:spPr>
          <a:xfrm>
            <a:off x="987552" y="1993392"/>
            <a:ext cx="16093440" cy="457200"/>
          </a:xfrm>
          <a:prstGeom prst="rect">
            <a:avLst/>
          </a:prstGeom>
          <a:noFill/>
          <a:ln/>
        </p:spPr>
        <p:txBody>
          <a:bodyPr wrap="square" lIns="0" tIns="0" rIns="0" bIns="0" rtlCol="0" anchor="t"/>
          <a:lstStyle/>
          <a:p>
            <a:pPr algn="l" indent="0" marL="0">
              <a:lnSpc>
                <a:spcPct val="108000"/>
              </a:lnSpc>
              <a:buNone/>
            </a:pPr>
            <a:r>
              <a:rPr lang="en-US" sz="1950" dirty="0">
                <a:solidFill>
                  <a:srgbClr val="B8C2D6"/>
                </a:solidFill>
                <a:latin typeface="IBM Plex Sans" pitchFamily="34" charset="0"/>
                <a:ea typeface="IBM Plex Sans" pitchFamily="34" charset="-122"/>
                <a:cs typeface="IBM Plex Sans" pitchFamily="34" charset="-120"/>
              </a:rPr>
              <a:t>Five stages, end to end · single seed, GPT-2 · durability = forget log-prob after attack (lower is better)</a:t>
            </a:r>
            <a:endParaRPr lang="en-US" sz="1950" dirty="0"/>
          </a:p>
        </p:txBody>
      </p:sp>
      <p:sp>
        <p:nvSpPr>
          <p:cNvPr id="6" name="Text 4"/>
          <p:cNvSpPr txBox="1"/>
          <p:nvPr/>
        </p:nvSpPr>
        <p:spPr>
          <a:xfrm>
            <a:off x="987552" y="9436608"/>
            <a:ext cx="4572000" cy="329184"/>
          </a:xfrm>
          <a:prstGeom prst="rect">
            <a:avLst/>
          </a:prstGeom>
          <a:noFill/>
          <a:ln/>
        </p:spPr>
        <p:txBody>
          <a:bodyPr wrap="square" lIns="0" tIns="0" rIns="0" bIns="0" rtlCol="0" anchor="t"/>
          <a:lstStyle/>
          <a:p>
            <a:pPr algn="l" indent="0" marL="0">
              <a:lnSpc>
                <a:spcPct val="108000"/>
              </a:lnSpc>
              <a:buNone/>
            </a:pPr>
            <a:r>
              <a:rPr lang="en-US" sz="1600" dirty="0">
                <a:solidFill>
                  <a:srgbClr val="38435C"/>
                </a:solidFill>
                <a:latin typeface="IBM Plex Mono" pitchFamily="34" charset="0"/>
                <a:ea typeface="IBM Plex Mono" pitchFamily="34" charset="-122"/>
                <a:cs typeface="IBM Plex Mono" pitchFamily="34" charset="-120"/>
              </a:rPr>
              <a:t>FORGETBENCH · HRU</a:t>
            </a:r>
            <a:endParaRPr lang="en-US" sz="1600" dirty="0"/>
          </a:p>
        </p:txBody>
      </p:sp>
      <p:sp>
        <p:nvSpPr>
          <p:cNvPr id="7" name="Text 5"/>
          <p:cNvSpPr txBox="1"/>
          <p:nvPr/>
        </p:nvSpPr>
        <p:spPr>
          <a:xfrm>
            <a:off x="12710160" y="9436608"/>
            <a:ext cx="4572000" cy="329184"/>
          </a:xfrm>
          <a:prstGeom prst="rect">
            <a:avLst/>
          </a:prstGeom>
          <a:noFill/>
          <a:ln/>
        </p:spPr>
        <p:txBody>
          <a:bodyPr wrap="square" lIns="0" tIns="0" rIns="0" bIns="0" rtlCol="0" anchor="t"/>
          <a:lstStyle/>
          <a:p>
            <a:pPr algn="r" indent="0" marL="0">
              <a:lnSpc>
                <a:spcPct val="108000"/>
              </a:lnSpc>
              <a:buNone/>
            </a:pPr>
            <a:r>
              <a:rPr lang="en-US" sz="1600" dirty="0">
                <a:solidFill>
                  <a:srgbClr val="38435C"/>
                </a:solidFill>
                <a:latin typeface="IBM Plex Mono" pitchFamily="34" charset="0"/>
                <a:ea typeface="IBM Plex Mono" pitchFamily="34" charset="-122"/>
                <a:cs typeface="IBM Plex Mono" pitchFamily="34" charset="-120"/>
              </a:rPr>
              <a:t>WOXSEN UNIVERSITY</a:t>
            </a:r>
            <a:endParaRPr lang="en-US" sz="1600" dirty="0"/>
          </a:p>
        </p:txBody>
      </p:sp>
      <p:sp>
        <p:nvSpPr>
          <p:cNvPr id="8" name="Shape 6"/>
          <p:cNvSpPr/>
          <p:nvPr/>
        </p:nvSpPr>
        <p:spPr>
          <a:xfrm>
            <a:off x="987552" y="2743200"/>
            <a:ext cx="3108960" cy="640080"/>
          </a:xfrm>
          <a:prstGeom prst="roundRect">
            <a:avLst>
              <a:gd name="adj" fmla="val 11429"/>
            </a:avLst>
          </a:prstGeom>
          <a:solidFill>
            <a:srgbClr val="111B30"/>
          </a:solidFill>
          <a:ln w="12700">
            <a:solidFill>
              <a:srgbClr val="38435C"/>
            </a:solidFill>
            <a:prstDash val="solid"/>
          </a:ln>
        </p:spPr>
      </p:sp>
      <p:sp>
        <p:nvSpPr>
          <p:cNvPr id="9" name="Text 7"/>
          <p:cNvSpPr txBox="1"/>
          <p:nvPr/>
        </p:nvSpPr>
        <p:spPr>
          <a:xfrm>
            <a:off x="1216152" y="2743200"/>
            <a:ext cx="2743200" cy="640080"/>
          </a:xfrm>
          <a:prstGeom prst="rect">
            <a:avLst/>
          </a:prstGeom>
          <a:noFill/>
          <a:ln/>
        </p:spPr>
        <p:txBody>
          <a:bodyPr wrap="square" lIns="0" tIns="0" rIns="0" bIns="0" rtlCol="0" anchor="ctr"/>
          <a:lstStyle/>
          <a:p>
            <a:pPr algn="l" indent="0" marL="0">
              <a:lnSpc>
                <a:spcPct val="108000"/>
              </a:lnSpc>
              <a:buNone/>
            </a:pPr>
            <a:r>
              <a:rPr lang="en-US" sz="1550" dirty="0">
                <a:solidFill>
                  <a:srgbClr val="EAF0FA"/>
                </a:solidFill>
                <a:latin typeface="IBM Plex Sans" pitchFamily="34" charset="0"/>
                <a:ea typeface="IBM Plex Sans" pitchFamily="34" charset="-122"/>
                <a:cs typeface="IBM Plex Sans" pitchFamily="34" charset="-120"/>
              </a:rPr>
              <a:t>01 Data + base model</a:t>
            </a:r>
            <a:endParaRPr lang="en-US" sz="1550" dirty="0"/>
          </a:p>
        </p:txBody>
      </p:sp>
      <p:sp>
        <p:nvSpPr>
          <p:cNvPr id="10" name="Shape 8"/>
          <p:cNvSpPr/>
          <p:nvPr/>
        </p:nvSpPr>
        <p:spPr>
          <a:xfrm>
            <a:off x="4279392" y="2743200"/>
            <a:ext cx="3108960" cy="640080"/>
          </a:xfrm>
          <a:prstGeom prst="roundRect">
            <a:avLst>
              <a:gd name="adj" fmla="val 11429"/>
            </a:avLst>
          </a:prstGeom>
          <a:solidFill>
            <a:srgbClr val="111B30"/>
          </a:solidFill>
          <a:ln w="12700">
            <a:solidFill>
              <a:srgbClr val="38435C"/>
            </a:solidFill>
            <a:prstDash val="solid"/>
          </a:ln>
        </p:spPr>
      </p:sp>
      <p:sp>
        <p:nvSpPr>
          <p:cNvPr id="11" name="Text 9"/>
          <p:cNvSpPr txBox="1"/>
          <p:nvPr/>
        </p:nvSpPr>
        <p:spPr>
          <a:xfrm>
            <a:off x="4507992" y="2743200"/>
            <a:ext cx="2743200" cy="640080"/>
          </a:xfrm>
          <a:prstGeom prst="rect">
            <a:avLst/>
          </a:prstGeom>
          <a:noFill/>
          <a:ln/>
        </p:spPr>
        <p:txBody>
          <a:bodyPr wrap="square" lIns="0" tIns="0" rIns="0" bIns="0" rtlCol="0" anchor="ctr"/>
          <a:lstStyle/>
          <a:p>
            <a:pPr algn="l" indent="0" marL="0">
              <a:lnSpc>
                <a:spcPct val="108000"/>
              </a:lnSpc>
              <a:buNone/>
            </a:pPr>
            <a:r>
              <a:rPr lang="en-US" sz="1550" dirty="0">
                <a:solidFill>
                  <a:srgbClr val="EAF0FA"/>
                </a:solidFill>
                <a:latin typeface="IBM Plex Sans" pitchFamily="34" charset="0"/>
                <a:ea typeface="IBM Plex Sans" pitchFamily="34" charset="-122"/>
                <a:cs typeface="IBM Plex Sans" pitchFamily="34" charset="-120"/>
              </a:rPr>
              <a:t>02 Harness + reference</a:t>
            </a:r>
            <a:endParaRPr lang="en-US" sz="1550" dirty="0"/>
          </a:p>
        </p:txBody>
      </p:sp>
      <p:sp>
        <p:nvSpPr>
          <p:cNvPr id="12" name="Shape 10"/>
          <p:cNvSpPr/>
          <p:nvPr/>
        </p:nvSpPr>
        <p:spPr>
          <a:xfrm>
            <a:off x="7571232" y="2743200"/>
            <a:ext cx="3108960" cy="640080"/>
          </a:xfrm>
          <a:prstGeom prst="roundRect">
            <a:avLst>
              <a:gd name="adj" fmla="val 11429"/>
            </a:avLst>
          </a:prstGeom>
          <a:solidFill>
            <a:srgbClr val="111B30"/>
          </a:solidFill>
          <a:ln w="12700">
            <a:solidFill>
              <a:srgbClr val="38435C"/>
            </a:solidFill>
            <a:prstDash val="solid"/>
          </a:ln>
        </p:spPr>
      </p:sp>
      <p:sp>
        <p:nvSpPr>
          <p:cNvPr id="13" name="Text 11"/>
          <p:cNvSpPr txBox="1"/>
          <p:nvPr/>
        </p:nvSpPr>
        <p:spPr>
          <a:xfrm>
            <a:off x="7799832" y="2743200"/>
            <a:ext cx="2743200" cy="640080"/>
          </a:xfrm>
          <a:prstGeom prst="rect">
            <a:avLst/>
          </a:prstGeom>
          <a:noFill/>
          <a:ln/>
        </p:spPr>
        <p:txBody>
          <a:bodyPr wrap="square" lIns="0" tIns="0" rIns="0" bIns="0" rtlCol="0" anchor="ctr"/>
          <a:lstStyle/>
          <a:p>
            <a:pPr algn="l" indent="0" marL="0">
              <a:lnSpc>
                <a:spcPct val="108000"/>
              </a:lnSpc>
              <a:buNone/>
            </a:pPr>
            <a:r>
              <a:rPr lang="en-US" sz="1550" dirty="0">
                <a:solidFill>
                  <a:srgbClr val="EAF0FA"/>
                </a:solidFill>
                <a:latin typeface="IBM Plex Sans" pitchFamily="34" charset="0"/>
                <a:ea typeface="IBM Plex Sans" pitchFamily="34" charset="-122"/>
                <a:cs typeface="IBM Plex Sans" pitchFamily="34" charset="-120"/>
              </a:rPr>
              <a:t>03 Arms A &amp; B</a:t>
            </a:r>
            <a:endParaRPr lang="en-US" sz="1550" dirty="0"/>
          </a:p>
        </p:txBody>
      </p:sp>
      <p:sp>
        <p:nvSpPr>
          <p:cNvPr id="14" name="Shape 12"/>
          <p:cNvSpPr/>
          <p:nvPr/>
        </p:nvSpPr>
        <p:spPr>
          <a:xfrm>
            <a:off x="10863072" y="2743200"/>
            <a:ext cx="3108960" cy="640080"/>
          </a:xfrm>
          <a:prstGeom prst="roundRect">
            <a:avLst>
              <a:gd name="adj" fmla="val 11429"/>
            </a:avLst>
          </a:prstGeom>
          <a:solidFill>
            <a:srgbClr val="111B30"/>
          </a:solidFill>
          <a:ln w="12700">
            <a:solidFill>
              <a:srgbClr val="38435C"/>
            </a:solidFill>
            <a:prstDash val="solid"/>
          </a:ln>
        </p:spPr>
      </p:sp>
      <p:sp>
        <p:nvSpPr>
          <p:cNvPr id="15" name="Text 13"/>
          <p:cNvSpPr txBox="1"/>
          <p:nvPr/>
        </p:nvSpPr>
        <p:spPr>
          <a:xfrm>
            <a:off x="11091672" y="2743200"/>
            <a:ext cx="2743200" cy="640080"/>
          </a:xfrm>
          <a:prstGeom prst="rect">
            <a:avLst/>
          </a:prstGeom>
          <a:noFill/>
          <a:ln/>
        </p:spPr>
        <p:txBody>
          <a:bodyPr wrap="square" lIns="0" tIns="0" rIns="0" bIns="0" rtlCol="0" anchor="ctr"/>
          <a:lstStyle/>
          <a:p>
            <a:pPr algn="l" indent="0" marL="0">
              <a:lnSpc>
                <a:spcPct val="108000"/>
              </a:lnSpc>
              <a:buNone/>
            </a:pPr>
            <a:r>
              <a:rPr lang="en-US" sz="1550" dirty="0">
                <a:solidFill>
                  <a:srgbClr val="EAF0FA"/>
                </a:solidFill>
                <a:latin typeface="IBM Plex Sans" pitchFamily="34" charset="0"/>
                <a:ea typeface="IBM Plex Sans" pitchFamily="34" charset="-122"/>
                <a:cs typeface="IBM Plex Sans" pitchFamily="34" charset="-120"/>
              </a:rPr>
              <a:t>04 HRU + ablation</a:t>
            </a:r>
            <a:endParaRPr lang="en-US" sz="1550" dirty="0"/>
          </a:p>
        </p:txBody>
      </p:sp>
      <p:sp>
        <p:nvSpPr>
          <p:cNvPr id="16" name="Shape 14"/>
          <p:cNvSpPr/>
          <p:nvPr/>
        </p:nvSpPr>
        <p:spPr>
          <a:xfrm>
            <a:off x="14154912" y="2743200"/>
            <a:ext cx="3108960" cy="640080"/>
          </a:xfrm>
          <a:prstGeom prst="roundRect">
            <a:avLst>
              <a:gd name="adj" fmla="val 11429"/>
            </a:avLst>
          </a:prstGeom>
          <a:solidFill>
            <a:srgbClr val="111B30"/>
          </a:solidFill>
          <a:ln w="12700">
            <a:solidFill>
              <a:srgbClr val="38435C"/>
            </a:solidFill>
            <a:prstDash val="solid"/>
          </a:ln>
        </p:spPr>
      </p:sp>
      <p:sp>
        <p:nvSpPr>
          <p:cNvPr id="17" name="Text 15"/>
          <p:cNvSpPr txBox="1"/>
          <p:nvPr/>
        </p:nvSpPr>
        <p:spPr>
          <a:xfrm>
            <a:off x="14383512" y="2743200"/>
            <a:ext cx="2743200" cy="640080"/>
          </a:xfrm>
          <a:prstGeom prst="rect">
            <a:avLst/>
          </a:prstGeom>
          <a:noFill/>
          <a:ln/>
        </p:spPr>
        <p:txBody>
          <a:bodyPr wrap="square" lIns="0" tIns="0" rIns="0" bIns="0" rtlCol="0" anchor="ctr"/>
          <a:lstStyle/>
          <a:p>
            <a:pPr algn="l" indent="0" marL="0">
              <a:lnSpc>
                <a:spcPct val="108000"/>
              </a:lnSpc>
              <a:buNone/>
            </a:pPr>
            <a:r>
              <a:rPr lang="en-US" sz="1550" dirty="0">
                <a:solidFill>
                  <a:srgbClr val="EAF0FA"/>
                </a:solidFill>
                <a:latin typeface="IBM Plex Sans" pitchFamily="34" charset="0"/>
                <a:ea typeface="IBM Plex Sans" pitchFamily="34" charset="-122"/>
                <a:cs typeface="IBM Plex Sans" pitchFamily="34" charset="-120"/>
              </a:rPr>
              <a:t>05 Benchmark + figures</a:t>
            </a:r>
            <a:endParaRPr lang="en-US" sz="1550" dirty="0"/>
          </a:p>
        </p:txBody>
      </p:sp>
      <p:sp>
        <p:nvSpPr>
          <p:cNvPr id="18" name="Text 16"/>
          <p:cNvSpPr txBox="1"/>
          <p:nvPr/>
        </p:nvSpPr>
        <p:spPr>
          <a:xfrm>
            <a:off x="987552" y="3703320"/>
            <a:ext cx="5760720" cy="320040"/>
          </a:xfrm>
          <a:prstGeom prst="rect">
            <a:avLst/>
          </a:prstGeom>
          <a:noFill/>
          <a:ln/>
        </p:spPr>
        <p:txBody>
          <a:bodyPr wrap="square" lIns="0" tIns="0" rIns="0" bIns="0" rtlCol="0" anchor="t"/>
          <a:lstStyle/>
          <a:p>
            <a:pPr algn="l" indent="0" marL="0">
              <a:lnSpc>
                <a:spcPct val="108000"/>
              </a:lnSpc>
              <a:buNone/>
            </a:pPr>
            <a:r>
              <a:rPr lang="en-US" sz="1400" dirty="0">
                <a:solidFill>
                  <a:srgbClr val="7C89A3"/>
                </a:solidFill>
                <a:latin typeface="IBM Plex Mono" pitchFamily="34" charset="0"/>
                <a:ea typeface="IBM Plex Mono" pitchFamily="34" charset="-122"/>
                <a:cs typeface="IBM Plex Mono" pitchFamily="34" charset="-120"/>
              </a:rPr>
              <a:t>METHOD</a:t>
            </a:r>
            <a:endParaRPr lang="en-US" sz="1400" dirty="0"/>
          </a:p>
        </p:txBody>
      </p:sp>
      <p:sp>
        <p:nvSpPr>
          <p:cNvPr id="19" name="Text 17"/>
          <p:cNvSpPr txBox="1"/>
          <p:nvPr/>
        </p:nvSpPr>
        <p:spPr>
          <a:xfrm>
            <a:off x="6949440" y="3703320"/>
            <a:ext cx="2286000" cy="320040"/>
          </a:xfrm>
          <a:prstGeom prst="rect">
            <a:avLst/>
          </a:prstGeom>
          <a:noFill/>
          <a:ln/>
        </p:spPr>
        <p:txBody>
          <a:bodyPr wrap="square" lIns="0" tIns="0" rIns="0" bIns="0" rtlCol="0" anchor="t"/>
          <a:lstStyle/>
          <a:p>
            <a:pPr algn="l" indent="0" marL="0">
              <a:lnSpc>
                <a:spcPct val="108000"/>
              </a:lnSpc>
              <a:buNone/>
            </a:pPr>
            <a:r>
              <a:rPr lang="en-US" sz="1400" dirty="0">
                <a:solidFill>
                  <a:srgbClr val="7C89A3"/>
                </a:solidFill>
                <a:latin typeface="IBM Plex Mono" pitchFamily="34" charset="0"/>
                <a:ea typeface="IBM Plex Mono" pitchFamily="34" charset="-122"/>
                <a:cs typeface="IBM Plex Mono" pitchFamily="34" charset="-120"/>
              </a:rPr>
              <a:t>DURABILITY</a:t>
            </a:r>
            <a:endParaRPr lang="en-US" sz="1400" dirty="0"/>
          </a:p>
        </p:txBody>
      </p:sp>
      <p:sp>
        <p:nvSpPr>
          <p:cNvPr id="20" name="Text 18"/>
          <p:cNvSpPr txBox="1"/>
          <p:nvPr/>
        </p:nvSpPr>
        <p:spPr>
          <a:xfrm>
            <a:off x="9464040" y="3703320"/>
            <a:ext cx="2103120" cy="320040"/>
          </a:xfrm>
          <a:prstGeom prst="rect">
            <a:avLst/>
          </a:prstGeom>
          <a:noFill/>
          <a:ln/>
        </p:spPr>
        <p:txBody>
          <a:bodyPr wrap="square" lIns="0" tIns="0" rIns="0" bIns="0" rtlCol="0" anchor="t"/>
          <a:lstStyle/>
          <a:p>
            <a:pPr algn="l" indent="0" marL="0">
              <a:lnSpc>
                <a:spcPct val="108000"/>
              </a:lnSpc>
              <a:buNone/>
            </a:pPr>
            <a:r>
              <a:rPr lang="en-US" sz="1400" dirty="0">
                <a:solidFill>
                  <a:srgbClr val="7C89A3"/>
                </a:solidFill>
                <a:latin typeface="IBM Plex Mono" pitchFamily="34" charset="0"/>
                <a:ea typeface="IBM Plex Mono" pitchFamily="34" charset="-122"/>
                <a:cs typeface="IBM Plex Mono" pitchFamily="34" charset="-120"/>
              </a:rPr>
              <a:t>RETAIN</a:t>
            </a:r>
            <a:endParaRPr lang="en-US" sz="1400" dirty="0"/>
          </a:p>
        </p:txBody>
      </p:sp>
      <p:sp>
        <p:nvSpPr>
          <p:cNvPr id="21" name="Text 19"/>
          <p:cNvSpPr txBox="1"/>
          <p:nvPr/>
        </p:nvSpPr>
        <p:spPr>
          <a:xfrm>
            <a:off x="11750040" y="3703320"/>
            <a:ext cx="2286000" cy="320040"/>
          </a:xfrm>
          <a:prstGeom prst="rect">
            <a:avLst/>
          </a:prstGeom>
          <a:noFill/>
          <a:ln/>
        </p:spPr>
        <p:txBody>
          <a:bodyPr wrap="square" lIns="0" tIns="0" rIns="0" bIns="0" rtlCol="0" anchor="t"/>
          <a:lstStyle/>
          <a:p>
            <a:pPr algn="l" indent="0" marL="0">
              <a:lnSpc>
                <a:spcPct val="108000"/>
              </a:lnSpc>
              <a:buNone/>
            </a:pPr>
            <a:r>
              <a:rPr lang="en-US" sz="1400" dirty="0">
                <a:solidFill>
                  <a:srgbClr val="7C89A3"/>
                </a:solidFill>
                <a:latin typeface="IBM Plex Mono" pitchFamily="34" charset="0"/>
                <a:ea typeface="IBM Plex Mono" pitchFamily="34" charset="-122"/>
                <a:cs typeface="IBM Plex Mono" pitchFamily="34" charset="-120"/>
              </a:rPr>
              <a:t>TRUTH RATIO</a:t>
            </a:r>
            <a:endParaRPr lang="en-US" sz="1400" dirty="0"/>
          </a:p>
        </p:txBody>
      </p:sp>
      <p:sp>
        <p:nvSpPr>
          <p:cNvPr id="22" name="Text 20"/>
          <p:cNvSpPr txBox="1"/>
          <p:nvPr/>
        </p:nvSpPr>
        <p:spPr>
          <a:xfrm>
            <a:off x="14264640" y="3703320"/>
            <a:ext cx="3017520" cy="320040"/>
          </a:xfrm>
          <a:prstGeom prst="rect">
            <a:avLst/>
          </a:prstGeom>
          <a:noFill/>
          <a:ln/>
        </p:spPr>
        <p:txBody>
          <a:bodyPr wrap="square" lIns="0" tIns="0" rIns="0" bIns="0" rtlCol="0" anchor="t"/>
          <a:lstStyle/>
          <a:p>
            <a:pPr algn="l" indent="0" marL="0">
              <a:lnSpc>
                <a:spcPct val="108000"/>
              </a:lnSpc>
              <a:buNone/>
            </a:pPr>
            <a:r>
              <a:rPr lang="en-US" sz="1400" dirty="0">
                <a:solidFill>
                  <a:srgbClr val="7C89A3"/>
                </a:solidFill>
                <a:latin typeface="IBM Plex Mono" pitchFamily="34" charset="0"/>
                <a:ea typeface="IBM Plex Mono" pitchFamily="34" charset="-122"/>
                <a:cs typeface="IBM Plex Mono" pitchFamily="34" charset="-120"/>
              </a:rPr>
              <a:t>COST (UPDATES)</a:t>
            </a:r>
            <a:endParaRPr lang="en-US" sz="1400" dirty="0"/>
          </a:p>
        </p:txBody>
      </p:sp>
      <p:sp>
        <p:nvSpPr>
          <p:cNvPr id="23" name="Text 21"/>
          <p:cNvSpPr txBox="1"/>
          <p:nvPr/>
        </p:nvSpPr>
        <p:spPr>
          <a:xfrm>
            <a:off x="987552" y="4114800"/>
            <a:ext cx="5760720" cy="365760"/>
          </a:xfrm>
          <a:prstGeom prst="rect">
            <a:avLst/>
          </a:prstGeom>
          <a:noFill/>
          <a:ln/>
        </p:spPr>
        <p:txBody>
          <a:bodyPr wrap="square" lIns="0" tIns="0" rIns="0" bIns="0" rtlCol="0" anchor="ctr"/>
          <a:lstStyle/>
          <a:p>
            <a:pPr algn="l" indent="0" marL="0">
              <a:lnSpc>
                <a:spcPct val="108000"/>
              </a:lnSpc>
              <a:buNone/>
            </a:pPr>
            <a:r>
              <a:rPr lang="en-US" sz="1650" dirty="0">
                <a:solidFill>
                  <a:srgbClr val="EAF0FA"/>
                </a:solidFill>
                <a:latin typeface="IBM Plex Sans" pitchFamily="34" charset="0"/>
                <a:ea typeface="IBM Plex Sans" pitchFamily="34" charset="-122"/>
                <a:cs typeface="IBM Plex Sans" pitchFamily="34" charset="-120"/>
              </a:rPr>
              <a:t>Full retrain — Arm A</a:t>
            </a:r>
            <a:endParaRPr lang="en-US" sz="1650" dirty="0"/>
          </a:p>
        </p:txBody>
      </p:sp>
      <p:sp>
        <p:nvSpPr>
          <p:cNvPr id="24" name="Text 22"/>
          <p:cNvSpPr txBox="1"/>
          <p:nvPr/>
        </p:nvSpPr>
        <p:spPr>
          <a:xfrm>
            <a:off x="6949440" y="4114800"/>
            <a:ext cx="2286000" cy="365760"/>
          </a:xfrm>
          <a:prstGeom prst="rect">
            <a:avLst/>
          </a:prstGeom>
          <a:noFill/>
          <a:ln/>
        </p:spPr>
        <p:txBody>
          <a:bodyPr wrap="square" lIns="0" tIns="0" rIns="0" bIns="0" rtlCol="0" anchor="ctr"/>
          <a:lstStyle/>
          <a:p>
            <a:pPr algn="l" indent="0" marL="0">
              <a:lnSpc>
                <a:spcPct val="108000"/>
              </a:lnSpc>
              <a:buNone/>
            </a:pPr>
            <a:r>
              <a:rPr lang="en-US" sz="1650" dirty="0">
                <a:solidFill>
                  <a:srgbClr val="B8C2D6"/>
                </a:solidFill>
                <a:latin typeface="IBM Plex Mono" pitchFamily="34" charset="0"/>
                <a:ea typeface="IBM Plex Mono" pitchFamily="34" charset="-122"/>
                <a:cs typeface="IBM Plex Mono" pitchFamily="34" charset="-120"/>
              </a:rPr>
              <a:t>−0.582</a:t>
            </a:r>
            <a:endParaRPr lang="en-US" sz="1650" dirty="0"/>
          </a:p>
        </p:txBody>
      </p:sp>
      <p:sp>
        <p:nvSpPr>
          <p:cNvPr id="25" name="Text 23"/>
          <p:cNvSpPr txBox="1"/>
          <p:nvPr/>
        </p:nvSpPr>
        <p:spPr>
          <a:xfrm>
            <a:off x="9464040" y="4114800"/>
            <a:ext cx="2103120" cy="365760"/>
          </a:xfrm>
          <a:prstGeom prst="rect">
            <a:avLst/>
          </a:prstGeom>
          <a:noFill/>
          <a:ln/>
        </p:spPr>
        <p:txBody>
          <a:bodyPr wrap="square" lIns="0" tIns="0" rIns="0" bIns="0" rtlCol="0" anchor="ctr"/>
          <a:lstStyle/>
          <a:p>
            <a:pPr algn="l" indent="0" marL="0">
              <a:lnSpc>
                <a:spcPct val="108000"/>
              </a:lnSpc>
              <a:buNone/>
            </a:pPr>
            <a:r>
              <a:rPr lang="en-US" sz="1650" dirty="0">
                <a:solidFill>
                  <a:srgbClr val="B8C2D6"/>
                </a:solidFill>
                <a:latin typeface="IBM Plex Mono" pitchFamily="34" charset="0"/>
                <a:ea typeface="IBM Plex Mono" pitchFamily="34" charset="-122"/>
                <a:cs typeface="IBM Plex Mono" pitchFamily="34" charset="-120"/>
              </a:rPr>
              <a:t>−0.236</a:t>
            </a:r>
            <a:endParaRPr lang="en-US" sz="1650" dirty="0"/>
          </a:p>
        </p:txBody>
      </p:sp>
      <p:sp>
        <p:nvSpPr>
          <p:cNvPr id="26" name="Text 24"/>
          <p:cNvSpPr txBox="1"/>
          <p:nvPr/>
        </p:nvSpPr>
        <p:spPr>
          <a:xfrm>
            <a:off x="11750040" y="4114800"/>
            <a:ext cx="2286000" cy="365760"/>
          </a:xfrm>
          <a:prstGeom prst="rect">
            <a:avLst/>
          </a:prstGeom>
          <a:noFill/>
          <a:ln/>
        </p:spPr>
        <p:txBody>
          <a:bodyPr wrap="square" lIns="0" tIns="0" rIns="0" bIns="0" rtlCol="0" anchor="ctr"/>
          <a:lstStyle/>
          <a:p>
            <a:pPr algn="l" indent="0" marL="0">
              <a:lnSpc>
                <a:spcPct val="108000"/>
              </a:lnSpc>
              <a:buNone/>
            </a:pPr>
            <a:r>
              <a:rPr lang="en-US" sz="1650" dirty="0">
                <a:solidFill>
                  <a:srgbClr val="B8C2D6"/>
                </a:solidFill>
                <a:latin typeface="IBM Plex Mono" pitchFamily="34" charset="0"/>
                <a:ea typeface="IBM Plex Mono" pitchFamily="34" charset="-122"/>
                <a:cs typeface="IBM Plex Mono" pitchFamily="34" charset="-120"/>
              </a:rPr>
              <a:t>1.007</a:t>
            </a:r>
            <a:endParaRPr lang="en-US" sz="1650" dirty="0"/>
          </a:p>
        </p:txBody>
      </p:sp>
      <p:sp>
        <p:nvSpPr>
          <p:cNvPr id="27" name="Text 25"/>
          <p:cNvSpPr txBox="1"/>
          <p:nvPr/>
        </p:nvSpPr>
        <p:spPr>
          <a:xfrm>
            <a:off x="14264640" y="4114800"/>
            <a:ext cx="3017520" cy="365760"/>
          </a:xfrm>
          <a:prstGeom prst="rect">
            <a:avLst/>
          </a:prstGeom>
          <a:noFill/>
          <a:ln/>
        </p:spPr>
        <p:txBody>
          <a:bodyPr wrap="square" lIns="0" tIns="0" rIns="0" bIns="0" rtlCol="0" anchor="ctr"/>
          <a:lstStyle/>
          <a:p>
            <a:pPr algn="l" indent="0" marL="0">
              <a:lnSpc>
                <a:spcPct val="108000"/>
              </a:lnSpc>
              <a:buNone/>
            </a:pPr>
            <a:r>
              <a:rPr lang="en-US" sz="1650" dirty="0">
                <a:solidFill>
                  <a:srgbClr val="B8C2D6"/>
                </a:solidFill>
                <a:latin typeface="IBM Plex Mono" pitchFamily="34" charset="0"/>
                <a:ea typeface="IBM Plex Mono" pitchFamily="34" charset="-122"/>
                <a:cs typeface="IBM Plex Mono" pitchFamily="34" charset="-120"/>
              </a:rPr>
              <a:t>150</a:t>
            </a:r>
            <a:endParaRPr lang="en-US" sz="1650" dirty="0"/>
          </a:p>
        </p:txBody>
      </p:sp>
      <p:sp>
        <p:nvSpPr>
          <p:cNvPr id="28" name="Text 26"/>
          <p:cNvSpPr txBox="1"/>
          <p:nvPr/>
        </p:nvSpPr>
        <p:spPr>
          <a:xfrm>
            <a:off x="987552" y="4572000"/>
            <a:ext cx="5760720" cy="365760"/>
          </a:xfrm>
          <a:prstGeom prst="rect">
            <a:avLst/>
          </a:prstGeom>
          <a:noFill/>
          <a:ln/>
        </p:spPr>
        <p:txBody>
          <a:bodyPr wrap="square" lIns="0" tIns="0" rIns="0" bIns="0" rtlCol="0" anchor="ctr"/>
          <a:lstStyle/>
          <a:p>
            <a:pPr algn="l" indent="0" marL="0">
              <a:lnSpc>
                <a:spcPct val="108000"/>
              </a:lnSpc>
              <a:buNone/>
            </a:pPr>
            <a:r>
              <a:rPr lang="en-US" sz="1650" dirty="0">
                <a:solidFill>
                  <a:srgbClr val="EAF0FA"/>
                </a:solidFill>
                <a:latin typeface="IBM Plex Sans" pitchFamily="34" charset="0"/>
                <a:ea typeface="IBM Plex Sans" pitchFamily="34" charset="-122"/>
                <a:cs typeface="IBM Plex Sans" pitchFamily="34" charset="-120"/>
              </a:rPr>
              <a:t>SISA — Arm A</a:t>
            </a:r>
            <a:endParaRPr lang="en-US" sz="1650" dirty="0"/>
          </a:p>
        </p:txBody>
      </p:sp>
      <p:sp>
        <p:nvSpPr>
          <p:cNvPr id="29" name="Text 27"/>
          <p:cNvSpPr txBox="1"/>
          <p:nvPr/>
        </p:nvSpPr>
        <p:spPr>
          <a:xfrm>
            <a:off x="6949440" y="4572000"/>
            <a:ext cx="2286000" cy="365760"/>
          </a:xfrm>
          <a:prstGeom prst="rect">
            <a:avLst/>
          </a:prstGeom>
          <a:noFill/>
          <a:ln/>
        </p:spPr>
        <p:txBody>
          <a:bodyPr wrap="square" lIns="0" tIns="0" rIns="0" bIns="0" rtlCol="0" anchor="ctr"/>
          <a:lstStyle/>
          <a:p>
            <a:pPr algn="l" indent="0" marL="0">
              <a:lnSpc>
                <a:spcPct val="108000"/>
              </a:lnSpc>
              <a:buNone/>
            </a:pPr>
            <a:r>
              <a:rPr lang="en-US" sz="1650" dirty="0">
                <a:solidFill>
                  <a:srgbClr val="B8C2D6"/>
                </a:solidFill>
                <a:latin typeface="IBM Plex Mono" pitchFamily="34" charset="0"/>
                <a:ea typeface="IBM Plex Mono" pitchFamily="34" charset="-122"/>
                <a:cs typeface="IBM Plex Mono" pitchFamily="34" charset="-120"/>
              </a:rPr>
              <a:t>−0.457</a:t>
            </a:r>
            <a:endParaRPr lang="en-US" sz="1650" dirty="0"/>
          </a:p>
        </p:txBody>
      </p:sp>
      <p:sp>
        <p:nvSpPr>
          <p:cNvPr id="30" name="Text 28"/>
          <p:cNvSpPr txBox="1"/>
          <p:nvPr/>
        </p:nvSpPr>
        <p:spPr>
          <a:xfrm>
            <a:off x="9464040" y="4572000"/>
            <a:ext cx="2103120" cy="365760"/>
          </a:xfrm>
          <a:prstGeom prst="rect">
            <a:avLst/>
          </a:prstGeom>
          <a:noFill/>
          <a:ln/>
        </p:spPr>
        <p:txBody>
          <a:bodyPr wrap="square" lIns="0" tIns="0" rIns="0" bIns="0" rtlCol="0" anchor="ctr"/>
          <a:lstStyle/>
          <a:p>
            <a:pPr algn="l" indent="0" marL="0">
              <a:lnSpc>
                <a:spcPct val="108000"/>
              </a:lnSpc>
              <a:buNone/>
            </a:pPr>
            <a:r>
              <a:rPr lang="en-US" sz="1650" dirty="0">
                <a:solidFill>
                  <a:srgbClr val="B8C2D6"/>
                </a:solidFill>
                <a:latin typeface="IBM Plex Mono" pitchFamily="34" charset="0"/>
                <a:ea typeface="IBM Plex Mono" pitchFamily="34" charset="-122"/>
                <a:cs typeface="IBM Plex Mono" pitchFamily="34" charset="-120"/>
              </a:rPr>
              <a:t>−0.459</a:t>
            </a:r>
            <a:endParaRPr lang="en-US" sz="1650" dirty="0"/>
          </a:p>
        </p:txBody>
      </p:sp>
      <p:sp>
        <p:nvSpPr>
          <p:cNvPr id="31" name="Text 29"/>
          <p:cNvSpPr txBox="1"/>
          <p:nvPr/>
        </p:nvSpPr>
        <p:spPr>
          <a:xfrm>
            <a:off x="11750040" y="4572000"/>
            <a:ext cx="2286000" cy="365760"/>
          </a:xfrm>
          <a:prstGeom prst="rect">
            <a:avLst/>
          </a:prstGeom>
          <a:noFill/>
          <a:ln/>
        </p:spPr>
        <p:txBody>
          <a:bodyPr wrap="square" lIns="0" tIns="0" rIns="0" bIns="0" rtlCol="0" anchor="ctr"/>
          <a:lstStyle/>
          <a:p>
            <a:pPr algn="l" indent="0" marL="0">
              <a:lnSpc>
                <a:spcPct val="108000"/>
              </a:lnSpc>
              <a:buNone/>
            </a:pPr>
            <a:r>
              <a:rPr lang="en-US" sz="1650" dirty="0">
                <a:solidFill>
                  <a:srgbClr val="B8C2D6"/>
                </a:solidFill>
                <a:latin typeface="IBM Plex Mono" pitchFamily="34" charset="0"/>
                <a:ea typeface="IBM Plex Mono" pitchFamily="34" charset="-122"/>
                <a:cs typeface="IBM Plex Mono" pitchFamily="34" charset="-120"/>
              </a:rPr>
              <a:t>1.023</a:t>
            </a:r>
            <a:endParaRPr lang="en-US" sz="1650" dirty="0"/>
          </a:p>
        </p:txBody>
      </p:sp>
      <p:sp>
        <p:nvSpPr>
          <p:cNvPr id="32" name="Text 30"/>
          <p:cNvSpPr txBox="1"/>
          <p:nvPr/>
        </p:nvSpPr>
        <p:spPr>
          <a:xfrm>
            <a:off x="14264640" y="4572000"/>
            <a:ext cx="3017520" cy="365760"/>
          </a:xfrm>
          <a:prstGeom prst="rect">
            <a:avLst/>
          </a:prstGeom>
          <a:noFill/>
          <a:ln/>
        </p:spPr>
        <p:txBody>
          <a:bodyPr wrap="square" lIns="0" tIns="0" rIns="0" bIns="0" rtlCol="0" anchor="ctr"/>
          <a:lstStyle/>
          <a:p>
            <a:pPr algn="l" indent="0" marL="0">
              <a:lnSpc>
                <a:spcPct val="108000"/>
              </a:lnSpc>
              <a:buNone/>
            </a:pPr>
            <a:r>
              <a:rPr lang="en-US" sz="1650" dirty="0">
                <a:solidFill>
                  <a:srgbClr val="B8C2D6"/>
                </a:solidFill>
                <a:latin typeface="IBM Plex Mono" pitchFamily="34" charset="0"/>
                <a:ea typeface="IBM Plex Mono" pitchFamily="34" charset="-122"/>
                <a:cs typeface="IBM Plex Mono" pitchFamily="34" charset="-120"/>
              </a:rPr>
              <a:t>26</a:t>
            </a:r>
            <a:endParaRPr lang="en-US" sz="1650" dirty="0"/>
          </a:p>
        </p:txBody>
      </p:sp>
      <p:sp>
        <p:nvSpPr>
          <p:cNvPr id="33" name="Text 31"/>
          <p:cNvSpPr txBox="1"/>
          <p:nvPr/>
        </p:nvSpPr>
        <p:spPr>
          <a:xfrm>
            <a:off x="987552" y="5029200"/>
            <a:ext cx="5760720" cy="365760"/>
          </a:xfrm>
          <a:prstGeom prst="rect">
            <a:avLst/>
          </a:prstGeom>
          <a:noFill/>
          <a:ln/>
        </p:spPr>
        <p:txBody>
          <a:bodyPr wrap="square" lIns="0" tIns="0" rIns="0" bIns="0" rtlCol="0" anchor="ctr"/>
          <a:lstStyle/>
          <a:p>
            <a:pPr algn="l" indent="0" marL="0">
              <a:lnSpc>
                <a:spcPct val="108000"/>
              </a:lnSpc>
              <a:buNone/>
            </a:pPr>
            <a:r>
              <a:rPr lang="en-US" sz="1650" dirty="0">
                <a:solidFill>
                  <a:srgbClr val="EAF0FA"/>
                </a:solidFill>
                <a:latin typeface="IBM Plex Sans" pitchFamily="34" charset="0"/>
                <a:ea typeface="IBM Plex Sans" pitchFamily="34" charset="-122"/>
                <a:cs typeface="IBM Plex Sans" pitchFamily="34" charset="-120"/>
              </a:rPr>
              <a:t>Gradient ascent — Arm B</a:t>
            </a:r>
            <a:endParaRPr lang="en-US" sz="1650" dirty="0"/>
          </a:p>
        </p:txBody>
      </p:sp>
      <p:sp>
        <p:nvSpPr>
          <p:cNvPr id="34" name="Text 32"/>
          <p:cNvSpPr txBox="1"/>
          <p:nvPr/>
        </p:nvSpPr>
        <p:spPr>
          <a:xfrm>
            <a:off x="6949440" y="5029200"/>
            <a:ext cx="2286000" cy="365760"/>
          </a:xfrm>
          <a:prstGeom prst="rect">
            <a:avLst/>
          </a:prstGeom>
          <a:noFill/>
          <a:ln/>
        </p:spPr>
        <p:txBody>
          <a:bodyPr wrap="square" lIns="0" tIns="0" rIns="0" bIns="0" rtlCol="0" anchor="ctr"/>
          <a:lstStyle/>
          <a:p>
            <a:pPr algn="l" indent="0" marL="0">
              <a:lnSpc>
                <a:spcPct val="108000"/>
              </a:lnSpc>
              <a:buNone/>
            </a:pPr>
            <a:r>
              <a:rPr lang="en-US" sz="1650" dirty="0">
                <a:solidFill>
                  <a:srgbClr val="B8C2D6"/>
                </a:solidFill>
                <a:latin typeface="IBM Plex Mono" pitchFamily="34" charset="0"/>
                <a:ea typeface="IBM Plex Mono" pitchFamily="34" charset="-122"/>
                <a:cs typeface="IBM Plex Mono" pitchFamily="34" charset="-120"/>
              </a:rPr>
              <a:t>−1.088</a:t>
            </a:r>
            <a:endParaRPr lang="en-US" sz="1650" dirty="0"/>
          </a:p>
        </p:txBody>
      </p:sp>
      <p:sp>
        <p:nvSpPr>
          <p:cNvPr id="35" name="Text 33"/>
          <p:cNvSpPr txBox="1"/>
          <p:nvPr/>
        </p:nvSpPr>
        <p:spPr>
          <a:xfrm>
            <a:off x="9464040" y="5029200"/>
            <a:ext cx="2103120" cy="365760"/>
          </a:xfrm>
          <a:prstGeom prst="rect">
            <a:avLst/>
          </a:prstGeom>
          <a:noFill/>
          <a:ln/>
        </p:spPr>
        <p:txBody>
          <a:bodyPr wrap="square" lIns="0" tIns="0" rIns="0" bIns="0" rtlCol="0" anchor="ctr"/>
          <a:lstStyle/>
          <a:p>
            <a:pPr algn="l" indent="0" marL="0">
              <a:lnSpc>
                <a:spcPct val="108000"/>
              </a:lnSpc>
              <a:buNone/>
            </a:pPr>
            <a:r>
              <a:rPr lang="en-US" sz="1650" dirty="0">
                <a:solidFill>
                  <a:srgbClr val="B8C2D6"/>
                </a:solidFill>
                <a:latin typeface="IBM Plex Mono" pitchFamily="34" charset="0"/>
                <a:ea typeface="IBM Plex Mono" pitchFamily="34" charset="-122"/>
                <a:cs typeface="IBM Plex Mono" pitchFamily="34" charset="-120"/>
              </a:rPr>
              <a:t>−1.421</a:t>
            </a:r>
            <a:endParaRPr lang="en-US" sz="1650" dirty="0"/>
          </a:p>
        </p:txBody>
      </p:sp>
      <p:sp>
        <p:nvSpPr>
          <p:cNvPr id="36" name="Text 34"/>
          <p:cNvSpPr txBox="1"/>
          <p:nvPr/>
        </p:nvSpPr>
        <p:spPr>
          <a:xfrm>
            <a:off x="11750040" y="5029200"/>
            <a:ext cx="2286000" cy="365760"/>
          </a:xfrm>
          <a:prstGeom prst="rect">
            <a:avLst/>
          </a:prstGeom>
          <a:noFill/>
          <a:ln/>
        </p:spPr>
        <p:txBody>
          <a:bodyPr wrap="square" lIns="0" tIns="0" rIns="0" bIns="0" rtlCol="0" anchor="ctr"/>
          <a:lstStyle/>
          <a:p>
            <a:pPr algn="l" indent="0" marL="0">
              <a:lnSpc>
                <a:spcPct val="108000"/>
              </a:lnSpc>
              <a:buNone/>
            </a:pPr>
            <a:r>
              <a:rPr lang="en-US" sz="1650" dirty="0">
                <a:solidFill>
                  <a:srgbClr val="B8C2D6"/>
                </a:solidFill>
                <a:latin typeface="IBM Plex Mono" pitchFamily="34" charset="0"/>
                <a:ea typeface="IBM Plex Mono" pitchFamily="34" charset="-122"/>
                <a:cs typeface="IBM Plex Mono" pitchFamily="34" charset="-120"/>
              </a:rPr>
              <a:t>1.665</a:t>
            </a:r>
            <a:endParaRPr lang="en-US" sz="1650" dirty="0"/>
          </a:p>
        </p:txBody>
      </p:sp>
      <p:sp>
        <p:nvSpPr>
          <p:cNvPr id="37" name="Text 35"/>
          <p:cNvSpPr txBox="1"/>
          <p:nvPr/>
        </p:nvSpPr>
        <p:spPr>
          <a:xfrm>
            <a:off x="14264640" y="5029200"/>
            <a:ext cx="3017520" cy="365760"/>
          </a:xfrm>
          <a:prstGeom prst="rect">
            <a:avLst/>
          </a:prstGeom>
          <a:noFill/>
          <a:ln/>
        </p:spPr>
        <p:txBody>
          <a:bodyPr wrap="square" lIns="0" tIns="0" rIns="0" bIns="0" rtlCol="0" anchor="ctr"/>
          <a:lstStyle/>
          <a:p>
            <a:pPr algn="l" indent="0" marL="0">
              <a:lnSpc>
                <a:spcPct val="108000"/>
              </a:lnSpc>
              <a:buNone/>
            </a:pPr>
            <a:r>
              <a:rPr lang="en-US" sz="1650" dirty="0">
                <a:solidFill>
                  <a:srgbClr val="B8C2D6"/>
                </a:solidFill>
                <a:latin typeface="IBM Plex Mono" pitchFamily="34" charset="0"/>
                <a:ea typeface="IBM Plex Mono" pitchFamily="34" charset="-122"/>
                <a:cs typeface="IBM Plex Mono" pitchFamily="34" charset="-120"/>
              </a:rPr>
              <a:t>40</a:t>
            </a:r>
            <a:endParaRPr lang="en-US" sz="1650" dirty="0"/>
          </a:p>
        </p:txBody>
      </p:sp>
      <p:sp>
        <p:nvSpPr>
          <p:cNvPr id="38" name="Text 36"/>
          <p:cNvSpPr txBox="1"/>
          <p:nvPr/>
        </p:nvSpPr>
        <p:spPr>
          <a:xfrm>
            <a:off x="987552" y="5486400"/>
            <a:ext cx="5760720" cy="365760"/>
          </a:xfrm>
          <a:prstGeom prst="rect">
            <a:avLst/>
          </a:prstGeom>
          <a:noFill/>
          <a:ln/>
        </p:spPr>
        <p:txBody>
          <a:bodyPr wrap="square" lIns="0" tIns="0" rIns="0" bIns="0" rtlCol="0" anchor="ctr"/>
          <a:lstStyle/>
          <a:p>
            <a:pPr algn="l" indent="0" marL="0">
              <a:lnSpc>
                <a:spcPct val="108000"/>
              </a:lnSpc>
              <a:buNone/>
            </a:pPr>
            <a:r>
              <a:rPr lang="en-US" sz="1650" dirty="0">
                <a:solidFill>
                  <a:srgbClr val="EAF0FA"/>
                </a:solidFill>
                <a:latin typeface="IBM Plex Sans" pitchFamily="34" charset="0"/>
                <a:ea typeface="IBM Plex Sans" pitchFamily="34" charset="-122"/>
                <a:cs typeface="IBM Plex Sans" pitchFamily="34" charset="-120"/>
              </a:rPr>
              <a:t>NPO — Arm B</a:t>
            </a:r>
            <a:endParaRPr lang="en-US" sz="1650" dirty="0"/>
          </a:p>
        </p:txBody>
      </p:sp>
      <p:sp>
        <p:nvSpPr>
          <p:cNvPr id="39" name="Text 37"/>
          <p:cNvSpPr txBox="1"/>
          <p:nvPr/>
        </p:nvSpPr>
        <p:spPr>
          <a:xfrm>
            <a:off x="6949440" y="5486400"/>
            <a:ext cx="2286000" cy="365760"/>
          </a:xfrm>
          <a:prstGeom prst="rect">
            <a:avLst/>
          </a:prstGeom>
          <a:noFill/>
          <a:ln/>
        </p:spPr>
        <p:txBody>
          <a:bodyPr wrap="square" lIns="0" tIns="0" rIns="0" bIns="0" rtlCol="0" anchor="ctr"/>
          <a:lstStyle/>
          <a:p>
            <a:pPr algn="l" indent="0" marL="0">
              <a:lnSpc>
                <a:spcPct val="108000"/>
              </a:lnSpc>
              <a:buNone/>
            </a:pPr>
            <a:r>
              <a:rPr lang="en-US" sz="1650" dirty="0">
                <a:solidFill>
                  <a:srgbClr val="B8C2D6"/>
                </a:solidFill>
                <a:latin typeface="IBM Plex Mono" pitchFamily="34" charset="0"/>
                <a:ea typeface="IBM Plex Mono" pitchFamily="34" charset="-122"/>
                <a:cs typeface="IBM Plex Mono" pitchFamily="34" charset="-120"/>
              </a:rPr>
              <a:t>−0.762</a:t>
            </a:r>
            <a:endParaRPr lang="en-US" sz="1650" dirty="0"/>
          </a:p>
        </p:txBody>
      </p:sp>
      <p:sp>
        <p:nvSpPr>
          <p:cNvPr id="40" name="Text 38"/>
          <p:cNvSpPr txBox="1"/>
          <p:nvPr/>
        </p:nvSpPr>
        <p:spPr>
          <a:xfrm>
            <a:off x="9464040" y="5486400"/>
            <a:ext cx="2103120" cy="365760"/>
          </a:xfrm>
          <a:prstGeom prst="rect">
            <a:avLst/>
          </a:prstGeom>
          <a:noFill/>
          <a:ln/>
        </p:spPr>
        <p:txBody>
          <a:bodyPr wrap="square" lIns="0" tIns="0" rIns="0" bIns="0" rtlCol="0" anchor="ctr"/>
          <a:lstStyle/>
          <a:p>
            <a:pPr algn="l" indent="0" marL="0">
              <a:lnSpc>
                <a:spcPct val="108000"/>
              </a:lnSpc>
              <a:buNone/>
            </a:pPr>
            <a:r>
              <a:rPr lang="en-US" sz="1650" dirty="0">
                <a:solidFill>
                  <a:srgbClr val="B8C2D6"/>
                </a:solidFill>
                <a:latin typeface="IBM Plex Mono" pitchFamily="34" charset="0"/>
                <a:ea typeface="IBM Plex Mono" pitchFamily="34" charset="-122"/>
                <a:cs typeface="IBM Plex Mono" pitchFamily="34" charset="-120"/>
              </a:rPr>
              <a:t>−1.594</a:t>
            </a:r>
            <a:endParaRPr lang="en-US" sz="1650" dirty="0"/>
          </a:p>
        </p:txBody>
      </p:sp>
      <p:sp>
        <p:nvSpPr>
          <p:cNvPr id="41" name="Text 39"/>
          <p:cNvSpPr txBox="1"/>
          <p:nvPr/>
        </p:nvSpPr>
        <p:spPr>
          <a:xfrm>
            <a:off x="11750040" y="5486400"/>
            <a:ext cx="2286000" cy="365760"/>
          </a:xfrm>
          <a:prstGeom prst="rect">
            <a:avLst/>
          </a:prstGeom>
          <a:noFill/>
          <a:ln/>
        </p:spPr>
        <p:txBody>
          <a:bodyPr wrap="square" lIns="0" tIns="0" rIns="0" bIns="0" rtlCol="0" anchor="ctr"/>
          <a:lstStyle/>
          <a:p>
            <a:pPr algn="l" indent="0" marL="0">
              <a:lnSpc>
                <a:spcPct val="108000"/>
              </a:lnSpc>
              <a:buNone/>
            </a:pPr>
            <a:r>
              <a:rPr lang="en-US" sz="1650" dirty="0">
                <a:solidFill>
                  <a:srgbClr val="B8C2D6"/>
                </a:solidFill>
                <a:latin typeface="IBM Plex Mono" pitchFamily="34" charset="0"/>
                <a:ea typeface="IBM Plex Mono" pitchFamily="34" charset="-122"/>
                <a:cs typeface="IBM Plex Mono" pitchFamily="34" charset="-120"/>
              </a:rPr>
              <a:t>13.166</a:t>
            </a:r>
            <a:endParaRPr lang="en-US" sz="1650" dirty="0"/>
          </a:p>
        </p:txBody>
      </p:sp>
      <p:sp>
        <p:nvSpPr>
          <p:cNvPr id="42" name="Text 40"/>
          <p:cNvSpPr txBox="1"/>
          <p:nvPr/>
        </p:nvSpPr>
        <p:spPr>
          <a:xfrm>
            <a:off x="14264640" y="5486400"/>
            <a:ext cx="3017520" cy="365760"/>
          </a:xfrm>
          <a:prstGeom prst="rect">
            <a:avLst/>
          </a:prstGeom>
          <a:noFill/>
          <a:ln/>
        </p:spPr>
        <p:txBody>
          <a:bodyPr wrap="square" lIns="0" tIns="0" rIns="0" bIns="0" rtlCol="0" anchor="ctr"/>
          <a:lstStyle/>
          <a:p>
            <a:pPr algn="l" indent="0" marL="0">
              <a:lnSpc>
                <a:spcPct val="108000"/>
              </a:lnSpc>
              <a:buNone/>
            </a:pPr>
            <a:r>
              <a:rPr lang="en-US" sz="1650" dirty="0">
                <a:solidFill>
                  <a:srgbClr val="B8C2D6"/>
                </a:solidFill>
                <a:latin typeface="IBM Plex Mono" pitchFamily="34" charset="0"/>
                <a:ea typeface="IBM Plex Mono" pitchFamily="34" charset="-122"/>
                <a:cs typeface="IBM Plex Mono" pitchFamily="34" charset="-120"/>
              </a:rPr>
              <a:t>40</a:t>
            </a:r>
            <a:endParaRPr lang="en-US" sz="1650" dirty="0"/>
          </a:p>
        </p:txBody>
      </p:sp>
      <p:sp>
        <p:nvSpPr>
          <p:cNvPr id="43" name="Text 41"/>
          <p:cNvSpPr txBox="1"/>
          <p:nvPr/>
        </p:nvSpPr>
        <p:spPr>
          <a:xfrm>
            <a:off x="987552" y="5943600"/>
            <a:ext cx="5760720" cy="365760"/>
          </a:xfrm>
          <a:prstGeom prst="rect">
            <a:avLst/>
          </a:prstGeom>
          <a:noFill/>
          <a:ln/>
        </p:spPr>
        <p:txBody>
          <a:bodyPr wrap="square" lIns="0" tIns="0" rIns="0" bIns="0" rtlCol="0" anchor="ctr"/>
          <a:lstStyle/>
          <a:p>
            <a:pPr algn="l" indent="0" marL="0">
              <a:lnSpc>
                <a:spcPct val="108000"/>
              </a:lnSpc>
              <a:buNone/>
            </a:pPr>
            <a:r>
              <a:rPr lang="en-US" sz="1650" dirty="0">
                <a:solidFill>
                  <a:srgbClr val="EAF0FA"/>
                </a:solidFill>
                <a:latin typeface="IBM Plex Sans" pitchFamily="34" charset="0"/>
                <a:ea typeface="IBM Plex Sans" pitchFamily="34" charset="-122"/>
                <a:cs typeface="IBM Plex Sans" pitchFamily="34" charset="-120"/>
              </a:rPr>
              <a:t>RMU — Arm B</a:t>
            </a:r>
            <a:endParaRPr lang="en-US" sz="1650" dirty="0"/>
          </a:p>
        </p:txBody>
      </p:sp>
      <p:sp>
        <p:nvSpPr>
          <p:cNvPr id="44" name="Text 42"/>
          <p:cNvSpPr txBox="1"/>
          <p:nvPr/>
        </p:nvSpPr>
        <p:spPr>
          <a:xfrm>
            <a:off x="6949440" y="5943600"/>
            <a:ext cx="2286000" cy="365760"/>
          </a:xfrm>
          <a:prstGeom prst="rect">
            <a:avLst/>
          </a:prstGeom>
          <a:noFill/>
          <a:ln/>
        </p:spPr>
        <p:txBody>
          <a:bodyPr wrap="square" lIns="0" tIns="0" rIns="0" bIns="0" rtlCol="0" anchor="ctr"/>
          <a:lstStyle/>
          <a:p>
            <a:pPr algn="l" indent="0" marL="0">
              <a:lnSpc>
                <a:spcPct val="108000"/>
              </a:lnSpc>
              <a:buNone/>
            </a:pPr>
            <a:r>
              <a:rPr lang="en-US" sz="1650" dirty="0">
                <a:solidFill>
                  <a:srgbClr val="B8C2D6"/>
                </a:solidFill>
                <a:latin typeface="IBM Plex Mono" pitchFamily="34" charset="0"/>
                <a:ea typeface="IBM Plex Mono" pitchFamily="34" charset="-122"/>
                <a:cs typeface="IBM Plex Mono" pitchFamily="34" charset="-120"/>
              </a:rPr>
              <a:t>−0.450</a:t>
            </a:r>
            <a:endParaRPr lang="en-US" sz="1650" dirty="0"/>
          </a:p>
        </p:txBody>
      </p:sp>
      <p:sp>
        <p:nvSpPr>
          <p:cNvPr id="45" name="Text 43"/>
          <p:cNvSpPr txBox="1"/>
          <p:nvPr/>
        </p:nvSpPr>
        <p:spPr>
          <a:xfrm>
            <a:off x="9464040" y="5943600"/>
            <a:ext cx="2103120" cy="365760"/>
          </a:xfrm>
          <a:prstGeom prst="rect">
            <a:avLst/>
          </a:prstGeom>
          <a:noFill/>
          <a:ln/>
        </p:spPr>
        <p:txBody>
          <a:bodyPr wrap="square" lIns="0" tIns="0" rIns="0" bIns="0" rtlCol="0" anchor="ctr"/>
          <a:lstStyle/>
          <a:p>
            <a:pPr algn="l" indent="0" marL="0">
              <a:lnSpc>
                <a:spcPct val="108000"/>
              </a:lnSpc>
              <a:buNone/>
            </a:pPr>
            <a:r>
              <a:rPr lang="en-US" sz="1650" dirty="0">
                <a:solidFill>
                  <a:srgbClr val="B8C2D6"/>
                </a:solidFill>
                <a:latin typeface="IBM Plex Mono" pitchFamily="34" charset="0"/>
                <a:ea typeface="IBM Plex Mono" pitchFamily="34" charset="-122"/>
                <a:cs typeface="IBM Plex Mono" pitchFamily="34" charset="-120"/>
              </a:rPr>
              <a:t>−0.578</a:t>
            </a:r>
            <a:endParaRPr lang="en-US" sz="1650" dirty="0"/>
          </a:p>
        </p:txBody>
      </p:sp>
      <p:sp>
        <p:nvSpPr>
          <p:cNvPr id="46" name="Text 44"/>
          <p:cNvSpPr txBox="1"/>
          <p:nvPr/>
        </p:nvSpPr>
        <p:spPr>
          <a:xfrm>
            <a:off x="11750040" y="5943600"/>
            <a:ext cx="2286000" cy="365760"/>
          </a:xfrm>
          <a:prstGeom prst="rect">
            <a:avLst/>
          </a:prstGeom>
          <a:noFill/>
          <a:ln/>
        </p:spPr>
        <p:txBody>
          <a:bodyPr wrap="square" lIns="0" tIns="0" rIns="0" bIns="0" rtlCol="0" anchor="ctr"/>
          <a:lstStyle/>
          <a:p>
            <a:pPr algn="l" indent="0" marL="0">
              <a:lnSpc>
                <a:spcPct val="108000"/>
              </a:lnSpc>
              <a:buNone/>
            </a:pPr>
            <a:r>
              <a:rPr lang="en-US" sz="1650" dirty="0">
                <a:solidFill>
                  <a:srgbClr val="B8C2D6"/>
                </a:solidFill>
                <a:latin typeface="IBM Plex Mono" pitchFamily="34" charset="0"/>
                <a:ea typeface="IBM Plex Mono" pitchFamily="34" charset="-122"/>
                <a:cs typeface="IBM Plex Mono" pitchFamily="34" charset="-120"/>
              </a:rPr>
              <a:t>0.986</a:t>
            </a:r>
            <a:endParaRPr lang="en-US" sz="1650" dirty="0"/>
          </a:p>
        </p:txBody>
      </p:sp>
      <p:sp>
        <p:nvSpPr>
          <p:cNvPr id="47" name="Text 45"/>
          <p:cNvSpPr txBox="1"/>
          <p:nvPr/>
        </p:nvSpPr>
        <p:spPr>
          <a:xfrm>
            <a:off x="14264640" y="5943600"/>
            <a:ext cx="3017520" cy="365760"/>
          </a:xfrm>
          <a:prstGeom prst="rect">
            <a:avLst/>
          </a:prstGeom>
          <a:noFill/>
          <a:ln/>
        </p:spPr>
        <p:txBody>
          <a:bodyPr wrap="square" lIns="0" tIns="0" rIns="0" bIns="0" rtlCol="0" anchor="ctr"/>
          <a:lstStyle/>
          <a:p>
            <a:pPr algn="l" indent="0" marL="0">
              <a:lnSpc>
                <a:spcPct val="108000"/>
              </a:lnSpc>
              <a:buNone/>
            </a:pPr>
            <a:r>
              <a:rPr lang="en-US" sz="1650" dirty="0">
                <a:solidFill>
                  <a:srgbClr val="B8C2D6"/>
                </a:solidFill>
                <a:latin typeface="IBM Plex Mono" pitchFamily="34" charset="0"/>
                <a:ea typeface="IBM Plex Mono" pitchFamily="34" charset="-122"/>
                <a:cs typeface="IBM Plex Mono" pitchFamily="34" charset="-120"/>
              </a:rPr>
              <a:t>40</a:t>
            </a:r>
            <a:endParaRPr lang="en-US" sz="1650" dirty="0"/>
          </a:p>
        </p:txBody>
      </p:sp>
      <p:sp>
        <p:nvSpPr>
          <p:cNvPr id="48" name="Shape 46"/>
          <p:cNvSpPr/>
          <p:nvPr/>
        </p:nvSpPr>
        <p:spPr>
          <a:xfrm>
            <a:off x="777240" y="6345936"/>
            <a:ext cx="16733520" cy="457200"/>
          </a:xfrm>
          <a:prstGeom prst="roundRect">
            <a:avLst>
              <a:gd name="adj" fmla="val 10000"/>
            </a:avLst>
          </a:prstGeom>
          <a:solidFill>
            <a:srgbClr val="111B30"/>
          </a:solidFill>
          <a:ln w="12700">
            <a:solidFill>
              <a:srgbClr val="2DD4BF"/>
            </a:solidFill>
            <a:prstDash val="solid"/>
          </a:ln>
        </p:spPr>
      </p:sp>
      <p:sp>
        <p:nvSpPr>
          <p:cNvPr id="49" name="Text 47"/>
          <p:cNvSpPr txBox="1"/>
          <p:nvPr/>
        </p:nvSpPr>
        <p:spPr>
          <a:xfrm>
            <a:off x="987552" y="6400800"/>
            <a:ext cx="5760720" cy="365760"/>
          </a:xfrm>
          <a:prstGeom prst="rect">
            <a:avLst/>
          </a:prstGeom>
          <a:noFill/>
          <a:ln/>
        </p:spPr>
        <p:txBody>
          <a:bodyPr wrap="square" lIns="0" tIns="0" rIns="0" bIns="0" rtlCol="0" anchor="ctr"/>
          <a:lstStyle/>
          <a:p>
            <a:pPr algn="l" indent="0" marL="0">
              <a:lnSpc>
                <a:spcPct val="108000"/>
              </a:lnSpc>
              <a:buNone/>
            </a:pPr>
            <a:r>
              <a:rPr lang="en-US" sz="1650" b="1" dirty="0">
                <a:solidFill>
                  <a:srgbClr val="2DD4BF"/>
                </a:solidFill>
                <a:latin typeface="IBM Plex Sans" pitchFamily="34" charset="0"/>
                <a:ea typeface="IBM Plex Sans" pitchFamily="34" charset="-122"/>
                <a:cs typeface="IBM Plex Sans" pitchFamily="34" charset="-120"/>
              </a:rPr>
              <a:t>HRU (unsharded, SAM scrub)</a:t>
            </a:r>
            <a:endParaRPr lang="en-US" sz="1650" dirty="0"/>
          </a:p>
        </p:txBody>
      </p:sp>
      <p:sp>
        <p:nvSpPr>
          <p:cNvPr id="50" name="Text 48"/>
          <p:cNvSpPr txBox="1"/>
          <p:nvPr/>
        </p:nvSpPr>
        <p:spPr>
          <a:xfrm>
            <a:off x="6949440" y="6400800"/>
            <a:ext cx="2286000" cy="365760"/>
          </a:xfrm>
          <a:prstGeom prst="rect">
            <a:avLst/>
          </a:prstGeom>
          <a:noFill/>
          <a:ln/>
        </p:spPr>
        <p:txBody>
          <a:bodyPr wrap="square" lIns="0" tIns="0" rIns="0" bIns="0" rtlCol="0" anchor="ctr"/>
          <a:lstStyle/>
          <a:p>
            <a:pPr algn="l" indent="0" marL="0">
              <a:lnSpc>
                <a:spcPct val="108000"/>
              </a:lnSpc>
              <a:buNone/>
            </a:pPr>
            <a:r>
              <a:rPr lang="en-US" sz="1650" b="1" dirty="0">
                <a:solidFill>
                  <a:srgbClr val="2DD4BF"/>
                </a:solidFill>
                <a:latin typeface="IBM Plex Mono" pitchFamily="34" charset="0"/>
                <a:ea typeface="IBM Plex Mono" pitchFamily="34" charset="-122"/>
                <a:cs typeface="IBM Plex Mono" pitchFamily="34" charset="-120"/>
              </a:rPr>
              <a:t>−1.309</a:t>
            </a:r>
            <a:endParaRPr lang="en-US" sz="1650" dirty="0"/>
          </a:p>
        </p:txBody>
      </p:sp>
      <p:sp>
        <p:nvSpPr>
          <p:cNvPr id="51" name="Text 49"/>
          <p:cNvSpPr txBox="1"/>
          <p:nvPr/>
        </p:nvSpPr>
        <p:spPr>
          <a:xfrm>
            <a:off x="9464040" y="6400800"/>
            <a:ext cx="2103120" cy="365760"/>
          </a:xfrm>
          <a:prstGeom prst="rect">
            <a:avLst/>
          </a:prstGeom>
          <a:noFill/>
          <a:ln/>
        </p:spPr>
        <p:txBody>
          <a:bodyPr wrap="square" lIns="0" tIns="0" rIns="0" bIns="0" rtlCol="0" anchor="ctr"/>
          <a:lstStyle/>
          <a:p>
            <a:pPr algn="l" indent="0" marL="0">
              <a:lnSpc>
                <a:spcPct val="108000"/>
              </a:lnSpc>
              <a:buNone/>
            </a:pPr>
            <a:r>
              <a:rPr lang="en-US" sz="1650" b="1" dirty="0">
                <a:solidFill>
                  <a:srgbClr val="2DD4BF"/>
                </a:solidFill>
                <a:latin typeface="IBM Plex Mono" pitchFamily="34" charset="0"/>
                <a:ea typeface="IBM Plex Mono" pitchFamily="34" charset="-122"/>
                <a:cs typeface="IBM Plex Mono" pitchFamily="34" charset="-120"/>
              </a:rPr>
              <a:t>−1.692</a:t>
            </a:r>
            <a:endParaRPr lang="en-US" sz="1650" dirty="0"/>
          </a:p>
        </p:txBody>
      </p:sp>
      <p:sp>
        <p:nvSpPr>
          <p:cNvPr id="52" name="Text 50"/>
          <p:cNvSpPr txBox="1"/>
          <p:nvPr/>
        </p:nvSpPr>
        <p:spPr>
          <a:xfrm>
            <a:off x="11750040" y="6400800"/>
            <a:ext cx="2286000" cy="365760"/>
          </a:xfrm>
          <a:prstGeom prst="rect">
            <a:avLst/>
          </a:prstGeom>
          <a:noFill/>
          <a:ln/>
        </p:spPr>
        <p:txBody>
          <a:bodyPr wrap="square" lIns="0" tIns="0" rIns="0" bIns="0" rtlCol="0" anchor="ctr"/>
          <a:lstStyle/>
          <a:p>
            <a:pPr algn="l" indent="0" marL="0">
              <a:lnSpc>
                <a:spcPct val="108000"/>
              </a:lnSpc>
              <a:buNone/>
            </a:pPr>
            <a:r>
              <a:rPr lang="en-US" sz="1650" b="1" dirty="0">
                <a:solidFill>
                  <a:srgbClr val="2DD4BF"/>
                </a:solidFill>
                <a:latin typeface="IBM Plex Mono" pitchFamily="34" charset="0"/>
                <a:ea typeface="IBM Plex Mono" pitchFamily="34" charset="-122"/>
                <a:cs typeface="IBM Plex Mono" pitchFamily="34" charset="-120"/>
              </a:rPr>
              <a:t>1.292</a:t>
            </a:r>
            <a:endParaRPr lang="en-US" sz="1650" dirty="0"/>
          </a:p>
        </p:txBody>
      </p:sp>
      <p:sp>
        <p:nvSpPr>
          <p:cNvPr id="53" name="Text 51"/>
          <p:cNvSpPr txBox="1"/>
          <p:nvPr/>
        </p:nvSpPr>
        <p:spPr>
          <a:xfrm>
            <a:off x="14264640" y="6400800"/>
            <a:ext cx="3017520" cy="365760"/>
          </a:xfrm>
          <a:prstGeom prst="rect">
            <a:avLst/>
          </a:prstGeom>
          <a:noFill/>
          <a:ln/>
        </p:spPr>
        <p:txBody>
          <a:bodyPr wrap="square" lIns="0" tIns="0" rIns="0" bIns="0" rtlCol="0" anchor="ctr"/>
          <a:lstStyle/>
          <a:p>
            <a:pPr algn="l" indent="0" marL="0">
              <a:lnSpc>
                <a:spcPct val="108000"/>
              </a:lnSpc>
              <a:buNone/>
            </a:pPr>
            <a:r>
              <a:rPr lang="en-US" sz="1650" b="1" dirty="0">
                <a:solidFill>
                  <a:srgbClr val="2DD4BF"/>
                </a:solidFill>
                <a:latin typeface="IBM Plex Mono" pitchFamily="34" charset="0"/>
                <a:ea typeface="IBM Plex Mono" pitchFamily="34" charset="-122"/>
                <a:cs typeface="IBM Plex Mono" pitchFamily="34" charset="-120"/>
              </a:rPr>
              <a:t>120</a:t>
            </a:r>
            <a:endParaRPr lang="en-US" sz="1650" dirty="0"/>
          </a:p>
        </p:txBody>
      </p:sp>
      <p:sp>
        <p:nvSpPr>
          <p:cNvPr id="54" name="Text 52"/>
          <p:cNvSpPr txBox="1"/>
          <p:nvPr/>
        </p:nvSpPr>
        <p:spPr>
          <a:xfrm>
            <a:off x="987552" y="6858000"/>
            <a:ext cx="5760720" cy="365760"/>
          </a:xfrm>
          <a:prstGeom prst="rect">
            <a:avLst/>
          </a:prstGeom>
          <a:noFill/>
          <a:ln/>
        </p:spPr>
        <p:txBody>
          <a:bodyPr wrap="square" lIns="0" tIns="0" rIns="0" bIns="0" rtlCol="0" anchor="ctr"/>
          <a:lstStyle/>
          <a:p>
            <a:pPr algn="l" indent="0" marL="0">
              <a:lnSpc>
                <a:spcPct val="108000"/>
              </a:lnSpc>
              <a:buNone/>
            </a:pPr>
            <a:r>
              <a:rPr lang="en-US" sz="1650" dirty="0">
                <a:solidFill>
                  <a:srgbClr val="EAF0FA"/>
                </a:solidFill>
                <a:latin typeface="IBM Plex Sans" pitchFamily="34" charset="0"/>
                <a:ea typeface="IBM Plex Sans" pitchFamily="34" charset="-122"/>
                <a:cs typeface="IBM Plex Sans" pitchFamily="34" charset="-120"/>
              </a:rPr>
              <a:t>HRU (sharded)</a:t>
            </a:r>
            <a:endParaRPr lang="en-US" sz="1650" dirty="0"/>
          </a:p>
        </p:txBody>
      </p:sp>
      <p:sp>
        <p:nvSpPr>
          <p:cNvPr id="55" name="Text 53"/>
          <p:cNvSpPr txBox="1"/>
          <p:nvPr/>
        </p:nvSpPr>
        <p:spPr>
          <a:xfrm>
            <a:off x="6949440" y="6858000"/>
            <a:ext cx="2286000" cy="365760"/>
          </a:xfrm>
          <a:prstGeom prst="rect">
            <a:avLst/>
          </a:prstGeom>
          <a:noFill/>
          <a:ln/>
        </p:spPr>
        <p:txBody>
          <a:bodyPr wrap="square" lIns="0" tIns="0" rIns="0" bIns="0" rtlCol="0" anchor="ctr"/>
          <a:lstStyle/>
          <a:p>
            <a:pPr algn="l" indent="0" marL="0">
              <a:lnSpc>
                <a:spcPct val="108000"/>
              </a:lnSpc>
              <a:buNone/>
            </a:pPr>
            <a:r>
              <a:rPr lang="en-US" sz="1650" dirty="0">
                <a:solidFill>
                  <a:srgbClr val="B8C2D6"/>
                </a:solidFill>
                <a:latin typeface="IBM Plex Mono" pitchFamily="34" charset="0"/>
                <a:ea typeface="IBM Plex Mono" pitchFamily="34" charset="-122"/>
                <a:cs typeface="IBM Plex Mono" pitchFamily="34" charset="-120"/>
              </a:rPr>
              <a:t>−0.420</a:t>
            </a:r>
            <a:endParaRPr lang="en-US" sz="1650" dirty="0"/>
          </a:p>
        </p:txBody>
      </p:sp>
      <p:sp>
        <p:nvSpPr>
          <p:cNvPr id="56" name="Text 54"/>
          <p:cNvSpPr txBox="1"/>
          <p:nvPr/>
        </p:nvSpPr>
        <p:spPr>
          <a:xfrm>
            <a:off x="9464040" y="6858000"/>
            <a:ext cx="2103120" cy="365760"/>
          </a:xfrm>
          <a:prstGeom prst="rect">
            <a:avLst/>
          </a:prstGeom>
          <a:noFill/>
          <a:ln/>
        </p:spPr>
        <p:txBody>
          <a:bodyPr wrap="square" lIns="0" tIns="0" rIns="0" bIns="0" rtlCol="0" anchor="ctr"/>
          <a:lstStyle/>
          <a:p>
            <a:pPr algn="l" indent="0" marL="0">
              <a:lnSpc>
                <a:spcPct val="108000"/>
              </a:lnSpc>
              <a:buNone/>
            </a:pPr>
            <a:r>
              <a:rPr lang="en-US" sz="1650" dirty="0">
                <a:solidFill>
                  <a:srgbClr val="B8C2D6"/>
                </a:solidFill>
                <a:latin typeface="IBM Plex Mono" pitchFamily="34" charset="0"/>
                <a:ea typeface="IBM Plex Mono" pitchFamily="34" charset="-122"/>
                <a:cs typeface="IBM Plex Mono" pitchFamily="34" charset="-120"/>
              </a:rPr>
              <a:t>−0.444</a:t>
            </a:r>
            <a:endParaRPr lang="en-US" sz="1650" dirty="0"/>
          </a:p>
        </p:txBody>
      </p:sp>
      <p:sp>
        <p:nvSpPr>
          <p:cNvPr id="57" name="Text 55"/>
          <p:cNvSpPr txBox="1"/>
          <p:nvPr/>
        </p:nvSpPr>
        <p:spPr>
          <a:xfrm>
            <a:off x="11750040" y="6858000"/>
            <a:ext cx="2286000" cy="365760"/>
          </a:xfrm>
          <a:prstGeom prst="rect">
            <a:avLst/>
          </a:prstGeom>
          <a:noFill/>
          <a:ln/>
        </p:spPr>
        <p:txBody>
          <a:bodyPr wrap="square" lIns="0" tIns="0" rIns="0" bIns="0" rtlCol="0" anchor="ctr"/>
          <a:lstStyle/>
          <a:p>
            <a:pPr algn="l" indent="0" marL="0">
              <a:lnSpc>
                <a:spcPct val="108000"/>
              </a:lnSpc>
              <a:buNone/>
            </a:pPr>
            <a:r>
              <a:rPr lang="en-US" sz="1650" dirty="0">
                <a:solidFill>
                  <a:srgbClr val="B8C2D6"/>
                </a:solidFill>
                <a:latin typeface="IBM Plex Mono" pitchFamily="34" charset="0"/>
                <a:ea typeface="IBM Plex Mono" pitchFamily="34" charset="-122"/>
                <a:cs typeface="IBM Plex Mono" pitchFamily="34" charset="-120"/>
              </a:rPr>
              <a:t>1.059</a:t>
            </a:r>
            <a:endParaRPr lang="en-US" sz="1650" dirty="0"/>
          </a:p>
        </p:txBody>
      </p:sp>
      <p:sp>
        <p:nvSpPr>
          <p:cNvPr id="58" name="Text 56"/>
          <p:cNvSpPr txBox="1"/>
          <p:nvPr/>
        </p:nvSpPr>
        <p:spPr>
          <a:xfrm>
            <a:off x="14264640" y="6858000"/>
            <a:ext cx="3017520" cy="365760"/>
          </a:xfrm>
          <a:prstGeom prst="rect">
            <a:avLst/>
          </a:prstGeom>
          <a:noFill/>
          <a:ln/>
        </p:spPr>
        <p:txBody>
          <a:bodyPr wrap="square" lIns="0" tIns="0" rIns="0" bIns="0" rtlCol="0" anchor="ctr"/>
          <a:lstStyle/>
          <a:p>
            <a:pPr algn="l" indent="0" marL="0">
              <a:lnSpc>
                <a:spcPct val="108000"/>
              </a:lnSpc>
              <a:buNone/>
            </a:pPr>
            <a:r>
              <a:rPr lang="en-US" sz="1650" dirty="0">
                <a:solidFill>
                  <a:srgbClr val="B8C2D6"/>
                </a:solidFill>
                <a:latin typeface="IBM Plex Mono" pitchFamily="34" charset="0"/>
                <a:ea typeface="IBM Plex Mono" pitchFamily="34" charset="-122"/>
                <a:cs typeface="IBM Plex Mono" pitchFamily="34" charset="-120"/>
              </a:rPr>
              <a:t>120</a:t>
            </a:r>
            <a:endParaRPr lang="en-US" sz="1650" dirty="0"/>
          </a:p>
        </p:txBody>
      </p:sp>
      <p:sp>
        <p:nvSpPr>
          <p:cNvPr id="59" name="Shape 57"/>
          <p:cNvSpPr/>
          <p:nvPr/>
        </p:nvSpPr>
        <p:spPr>
          <a:xfrm>
            <a:off x="987552" y="7589520"/>
            <a:ext cx="8001000" cy="1508760"/>
          </a:xfrm>
          <a:prstGeom prst="roundRect">
            <a:avLst>
              <a:gd name="adj" fmla="val 4848"/>
            </a:avLst>
          </a:prstGeom>
          <a:solidFill>
            <a:srgbClr val="111B30"/>
          </a:solidFill>
          <a:ln w="12700">
            <a:solidFill>
              <a:srgbClr val="38435C"/>
            </a:solidFill>
            <a:prstDash val="solid"/>
          </a:ln>
        </p:spPr>
      </p:sp>
      <p:sp>
        <p:nvSpPr>
          <p:cNvPr id="60" name="Text 58"/>
          <p:cNvSpPr txBox="1"/>
          <p:nvPr/>
        </p:nvSpPr>
        <p:spPr>
          <a:xfrm>
            <a:off x="1280160" y="7754112"/>
            <a:ext cx="3657600" cy="310896"/>
          </a:xfrm>
          <a:prstGeom prst="rect">
            <a:avLst/>
          </a:prstGeom>
          <a:noFill/>
          <a:ln/>
        </p:spPr>
        <p:txBody>
          <a:bodyPr wrap="square" lIns="0" tIns="0" rIns="0" bIns="0" rtlCol="0" anchor="t"/>
          <a:lstStyle/>
          <a:p>
            <a:pPr algn="l" indent="0" marL="0">
              <a:lnSpc>
                <a:spcPct val="108000"/>
              </a:lnSpc>
              <a:buNone/>
            </a:pPr>
            <a:r>
              <a:rPr lang="en-US" sz="1500" dirty="0">
                <a:solidFill>
                  <a:srgbClr val="2DD4BF"/>
                </a:solidFill>
                <a:latin typeface="IBM Plex Mono" pitchFamily="34" charset="0"/>
                <a:ea typeface="IBM Plex Mono" pitchFamily="34" charset="-122"/>
                <a:cs typeface="IBM Plex Mono" pitchFamily="34" charset="-120"/>
              </a:rPr>
              <a:t>SOLID</a:t>
            </a:r>
            <a:endParaRPr lang="en-US" sz="1500" dirty="0"/>
          </a:p>
        </p:txBody>
      </p:sp>
      <p:sp>
        <p:nvSpPr>
          <p:cNvPr id="61" name="Text 59"/>
          <p:cNvSpPr txBox="1"/>
          <p:nvPr/>
        </p:nvSpPr>
        <p:spPr>
          <a:xfrm>
            <a:off x="1280160" y="8119872"/>
            <a:ext cx="7452360" cy="914400"/>
          </a:xfrm>
          <a:prstGeom prst="rect">
            <a:avLst/>
          </a:prstGeom>
          <a:noFill/>
          <a:ln/>
        </p:spPr>
        <p:txBody>
          <a:bodyPr wrap="square" lIns="0" tIns="0" rIns="0" bIns="0" rtlCol="0" anchor="t"/>
          <a:lstStyle/>
          <a:p>
            <a:pPr algn="l" indent="0" marL="0">
              <a:lnSpc>
                <a:spcPct val="108000"/>
              </a:lnSpc>
              <a:buNone/>
            </a:pPr>
            <a:r>
              <a:rPr lang="en-US" sz="1650" dirty="0">
                <a:solidFill>
                  <a:srgbClr val="EAF0FA"/>
                </a:solidFill>
                <a:latin typeface="IBM Plex Sans" pitchFamily="34" charset="0"/>
                <a:ea typeface="IBM Plex Sans" pitchFamily="34" charset="-122"/>
                <a:cs typeface="IBM Plex Sans" pitchFamily="34" charset="-120"/>
              </a:rPr>
              <a:t>Logit-averaged sharding dilutes approximate unlearning: a scrubbed shard at −4.18 reads −0.50 inside the ensemble.</a:t>
            </a:r>
            <a:endParaRPr lang="en-US" sz="1650" dirty="0"/>
          </a:p>
        </p:txBody>
      </p:sp>
      <p:sp>
        <p:nvSpPr>
          <p:cNvPr id="62" name="Shape 60"/>
          <p:cNvSpPr/>
          <p:nvPr/>
        </p:nvSpPr>
        <p:spPr>
          <a:xfrm>
            <a:off x="9299448" y="7589520"/>
            <a:ext cx="8001000" cy="1508760"/>
          </a:xfrm>
          <a:prstGeom prst="roundRect">
            <a:avLst>
              <a:gd name="adj" fmla="val 4848"/>
            </a:avLst>
          </a:prstGeom>
          <a:solidFill>
            <a:srgbClr val="111B30"/>
          </a:solidFill>
          <a:ln w="12700">
            <a:solidFill>
              <a:srgbClr val="38435C"/>
            </a:solidFill>
            <a:prstDash val="solid"/>
          </a:ln>
        </p:spPr>
      </p:sp>
      <p:sp>
        <p:nvSpPr>
          <p:cNvPr id="63" name="Text 61"/>
          <p:cNvSpPr txBox="1"/>
          <p:nvPr/>
        </p:nvSpPr>
        <p:spPr>
          <a:xfrm>
            <a:off x="9592056" y="7754112"/>
            <a:ext cx="3657600" cy="310896"/>
          </a:xfrm>
          <a:prstGeom prst="rect">
            <a:avLst/>
          </a:prstGeom>
          <a:noFill/>
          <a:ln/>
        </p:spPr>
        <p:txBody>
          <a:bodyPr wrap="square" lIns="0" tIns="0" rIns="0" bIns="0" rtlCol="0" anchor="t"/>
          <a:lstStyle/>
          <a:p>
            <a:pPr algn="l" indent="0" marL="0">
              <a:lnSpc>
                <a:spcPct val="108000"/>
              </a:lnSpc>
              <a:buNone/>
            </a:pPr>
            <a:r>
              <a:rPr lang="en-US" sz="1500" dirty="0">
                <a:solidFill>
                  <a:srgbClr val="7C89A3"/>
                </a:solidFill>
                <a:latin typeface="IBM Plex Mono" pitchFamily="34" charset="0"/>
                <a:ea typeface="IBM Plex Mono" pitchFamily="34" charset="-122"/>
                <a:cs typeface="IBM Plex Mono" pitchFamily="34" charset="-120"/>
              </a:rPr>
              <a:t>UNPROVEN</a:t>
            </a:r>
            <a:endParaRPr lang="en-US" sz="1500" dirty="0"/>
          </a:p>
        </p:txBody>
      </p:sp>
      <p:sp>
        <p:nvSpPr>
          <p:cNvPr id="64" name="Text 62"/>
          <p:cNvSpPr txBox="1"/>
          <p:nvPr/>
        </p:nvSpPr>
        <p:spPr>
          <a:xfrm>
            <a:off x="9592056" y="8119872"/>
            <a:ext cx="7452360" cy="914400"/>
          </a:xfrm>
          <a:prstGeom prst="rect">
            <a:avLst/>
          </a:prstGeom>
          <a:noFill/>
          <a:ln/>
        </p:spPr>
        <p:txBody>
          <a:bodyPr wrap="square" lIns="0" tIns="0" rIns="0" bIns="0" rtlCol="0" anchor="t"/>
          <a:lstStyle/>
          <a:p>
            <a:pPr algn="l" indent="0" marL="0">
              <a:lnSpc>
                <a:spcPct val="108000"/>
              </a:lnSpc>
              <a:buNone/>
            </a:pPr>
            <a:r>
              <a:rPr lang="en-US" sz="1650" dirty="0">
                <a:solidFill>
                  <a:srgbClr val="B8C2D6"/>
                </a:solidFill>
                <a:latin typeface="IBM Plex Sans" pitchFamily="34" charset="0"/>
                <a:ea typeface="IBM Plex Sans" pitchFamily="34" charset="-122"/>
                <a:cs typeface="IBM Plex Sans" pitchFamily="34" charset="-120"/>
              </a:rPr>
              <a:t>HRU’s inline attack-and-reweight step was not in the pipeline that produced these numbers. It is the next run.</a:t>
            </a:r>
            <a:endParaRPr lang="en-US" sz="1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020"/>
        </a:solidFill>
      </p:bgPr>
    </p:bg>
    <p:spTree>
      <p:nvGrpSpPr>
        <p:cNvPr id="1" name=""/>
        <p:cNvGrpSpPr/>
        <p:nvPr/>
      </p:nvGrpSpPr>
      <p:grpSpPr>
        <a:xfrm>
          <a:off x="0" y="0"/>
          <a:ext cx="0" cy="0"/>
          <a:chOff x="0" y="0"/>
          <a:chExt cx="0" cy="0"/>
        </a:xfrm>
      </p:grpSpPr>
      <p:sp>
        <p:nvSpPr>
          <p:cNvPr id="2" name="Text 0"/>
          <p:cNvSpPr txBox="1"/>
          <p:nvPr/>
        </p:nvSpPr>
        <p:spPr>
          <a:xfrm>
            <a:off x="987552" y="722376"/>
            <a:ext cx="731520" cy="329184"/>
          </a:xfrm>
          <a:prstGeom prst="rect">
            <a:avLst/>
          </a:prstGeom>
          <a:noFill/>
          <a:ln/>
        </p:spPr>
        <p:txBody>
          <a:bodyPr wrap="square" lIns="0" tIns="0" rIns="0" bIns="0" rtlCol="0" anchor="t"/>
          <a:lstStyle/>
          <a:p>
            <a:pPr algn="l" indent="0" marL="0">
              <a:lnSpc>
                <a:spcPct val="108000"/>
              </a:lnSpc>
              <a:buNone/>
            </a:pPr>
            <a:r>
              <a:rPr lang="en-US" sz="1800" dirty="0">
                <a:solidFill>
                  <a:srgbClr val="2DD4BF"/>
                </a:solidFill>
                <a:latin typeface="IBM Plex Mono" pitchFamily="34" charset="0"/>
                <a:ea typeface="IBM Plex Mono" pitchFamily="34" charset="-122"/>
                <a:cs typeface="IBM Plex Mono" pitchFamily="34" charset="-120"/>
              </a:rPr>
              <a:t>12</a:t>
            </a:r>
            <a:endParaRPr lang="en-US" sz="1800" dirty="0"/>
          </a:p>
        </p:txBody>
      </p:sp>
      <p:sp>
        <p:nvSpPr>
          <p:cNvPr id="3" name="Text 1"/>
          <p:cNvSpPr txBox="1"/>
          <p:nvPr/>
        </p:nvSpPr>
        <p:spPr>
          <a:xfrm>
            <a:off x="1938528" y="722376"/>
            <a:ext cx="9144000" cy="329184"/>
          </a:xfrm>
          <a:prstGeom prst="rect">
            <a:avLst/>
          </a:prstGeom>
          <a:noFill/>
          <a:ln/>
        </p:spPr>
        <p:txBody>
          <a:bodyPr wrap="square" lIns="0" tIns="0" rIns="0" bIns="0" rtlCol="0" anchor="t"/>
          <a:lstStyle/>
          <a:p>
            <a:pPr algn="l" indent="0" marL="0">
              <a:lnSpc>
                <a:spcPct val="108000"/>
              </a:lnSpc>
              <a:buNone/>
            </a:pPr>
            <a:r>
              <a:rPr lang="en-US" sz="1800" dirty="0">
                <a:solidFill>
                  <a:srgbClr val="7C89A3"/>
                </a:solidFill>
                <a:latin typeface="IBM Plex Mono" pitchFamily="34" charset="0"/>
                <a:ea typeface="IBM Plex Mono" pitchFamily="34" charset="-122"/>
                <a:cs typeface="IBM Plex Mono" pitchFamily="34" charset="-120"/>
              </a:rPr>
              <a:t>FINDING · SOLID</a:t>
            </a:r>
            <a:endParaRPr lang="en-US" sz="1800" dirty="0"/>
          </a:p>
        </p:txBody>
      </p:sp>
      <p:sp>
        <p:nvSpPr>
          <p:cNvPr id="4" name="Text 2"/>
          <p:cNvSpPr txBox="1"/>
          <p:nvPr/>
        </p:nvSpPr>
        <p:spPr>
          <a:xfrm>
            <a:off x="987552" y="1170432"/>
            <a:ext cx="16093440" cy="731520"/>
          </a:xfrm>
          <a:prstGeom prst="rect">
            <a:avLst/>
          </a:prstGeom>
          <a:noFill/>
          <a:ln/>
        </p:spPr>
        <p:txBody>
          <a:bodyPr wrap="square" lIns="0" tIns="0" rIns="0" bIns="0" rtlCol="0" anchor="t"/>
          <a:lstStyle/>
          <a:p>
            <a:pPr algn="l" indent="0" marL="0">
              <a:lnSpc>
                <a:spcPct val="108000"/>
              </a:lnSpc>
              <a:buNone/>
            </a:pPr>
            <a:r>
              <a:rPr lang="en-US" sz="4200" dirty="0">
                <a:solidFill>
                  <a:srgbClr val="EAF0FA"/>
                </a:solidFill>
                <a:latin typeface="Space Grotesk" pitchFamily="34" charset="0"/>
                <a:ea typeface="Space Grotesk" pitchFamily="34" charset="-122"/>
                <a:cs typeface="Space Grotesk" pitchFamily="34" charset="-120"/>
              </a:rPr>
              <a:t>Sharding Dilutes Approximate Unlearning</a:t>
            </a:r>
            <a:endParaRPr lang="en-US" sz="4200" dirty="0"/>
          </a:p>
        </p:txBody>
      </p:sp>
      <p:sp>
        <p:nvSpPr>
          <p:cNvPr id="5" name="Text 3"/>
          <p:cNvSpPr txBox="1"/>
          <p:nvPr/>
        </p:nvSpPr>
        <p:spPr>
          <a:xfrm>
            <a:off x="987552" y="9436608"/>
            <a:ext cx="4572000" cy="329184"/>
          </a:xfrm>
          <a:prstGeom prst="rect">
            <a:avLst/>
          </a:prstGeom>
          <a:noFill/>
          <a:ln/>
        </p:spPr>
        <p:txBody>
          <a:bodyPr wrap="square" lIns="0" tIns="0" rIns="0" bIns="0" rtlCol="0" anchor="t"/>
          <a:lstStyle/>
          <a:p>
            <a:pPr algn="l" indent="0" marL="0">
              <a:lnSpc>
                <a:spcPct val="108000"/>
              </a:lnSpc>
              <a:buNone/>
            </a:pPr>
            <a:r>
              <a:rPr lang="en-US" sz="1600" dirty="0">
                <a:solidFill>
                  <a:srgbClr val="38435C"/>
                </a:solidFill>
                <a:latin typeface="IBM Plex Mono" pitchFamily="34" charset="0"/>
                <a:ea typeface="IBM Plex Mono" pitchFamily="34" charset="-122"/>
                <a:cs typeface="IBM Plex Mono" pitchFamily="34" charset="-120"/>
              </a:rPr>
              <a:t>FORGETBENCH · HRU</a:t>
            </a:r>
            <a:endParaRPr lang="en-US" sz="1600" dirty="0"/>
          </a:p>
        </p:txBody>
      </p:sp>
      <p:sp>
        <p:nvSpPr>
          <p:cNvPr id="6" name="Text 4"/>
          <p:cNvSpPr txBox="1"/>
          <p:nvPr/>
        </p:nvSpPr>
        <p:spPr>
          <a:xfrm>
            <a:off x="12710160" y="9436608"/>
            <a:ext cx="4572000" cy="329184"/>
          </a:xfrm>
          <a:prstGeom prst="rect">
            <a:avLst/>
          </a:prstGeom>
          <a:noFill/>
          <a:ln/>
        </p:spPr>
        <p:txBody>
          <a:bodyPr wrap="square" lIns="0" tIns="0" rIns="0" bIns="0" rtlCol="0" anchor="t"/>
          <a:lstStyle/>
          <a:p>
            <a:pPr algn="r" indent="0" marL="0">
              <a:lnSpc>
                <a:spcPct val="108000"/>
              </a:lnSpc>
              <a:buNone/>
            </a:pPr>
            <a:r>
              <a:rPr lang="en-US" sz="1600" dirty="0">
                <a:solidFill>
                  <a:srgbClr val="38435C"/>
                </a:solidFill>
                <a:latin typeface="IBM Plex Mono" pitchFamily="34" charset="0"/>
                <a:ea typeface="IBM Plex Mono" pitchFamily="34" charset="-122"/>
                <a:cs typeface="IBM Plex Mono" pitchFamily="34" charset="-120"/>
              </a:rPr>
              <a:t>WOXSEN UNIVERSITY</a:t>
            </a:r>
            <a:endParaRPr lang="en-US" sz="1600" dirty="0"/>
          </a:p>
        </p:txBody>
      </p:sp>
      <p:sp>
        <p:nvSpPr>
          <p:cNvPr id="7" name="Shape 5"/>
          <p:cNvSpPr/>
          <p:nvPr/>
        </p:nvSpPr>
        <p:spPr>
          <a:xfrm>
            <a:off x="987552" y="2377440"/>
            <a:ext cx="4572000" cy="1234440"/>
          </a:xfrm>
          <a:prstGeom prst="roundRect">
            <a:avLst>
              <a:gd name="adj" fmla="val 5926"/>
            </a:avLst>
          </a:prstGeom>
          <a:solidFill>
            <a:srgbClr val="111B30"/>
          </a:solidFill>
          <a:ln w="12700">
            <a:solidFill>
              <a:srgbClr val="2DD4BF"/>
            </a:solidFill>
            <a:prstDash val="solid"/>
          </a:ln>
        </p:spPr>
      </p:sp>
      <p:sp>
        <p:nvSpPr>
          <p:cNvPr id="8" name="Text 6"/>
          <p:cNvSpPr txBox="1"/>
          <p:nvPr/>
        </p:nvSpPr>
        <p:spPr>
          <a:xfrm>
            <a:off x="1280160" y="2560320"/>
            <a:ext cx="1920240" cy="310896"/>
          </a:xfrm>
          <a:prstGeom prst="rect">
            <a:avLst/>
          </a:prstGeom>
          <a:noFill/>
          <a:ln/>
        </p:spPr>
        <p:txBody>
          <a:bodyPr wrap="square" lIns="0" tIns="0" rIns="0" bIns="0" rtlCol="0" anchor="t"/>
          <a:lstStyle/>
          <a:p>
            <a:pPr algn="l" indent="0" marL="0">
              <a:lnSpc>
                <a:spcPct val="108000"/>
              </a:lnSpc>
              <a:buNone/>
            </a:pPr>
            <a:r>
              <a:rPr lang="en-US" sz="1500" dirty="0">
                <a:solidFill>
                  <a:srgbClr val="2DD4BF"/>
                </a:solidFill>
                <a:latin typeface="IBM Plex Mono" pitchFamily="34" charset="0"/>
                <a:ea typeface="IBM Plex Mono" pitchFamily="34" charset="-122"/>
                <a:cs typeface="IBM Plex Mono" pitchFamily="34" charset="-120"/>
              </a:rPr>
              <a:t>SHARD 0</a:t>
            </a:r>
            <a:endParaRPr lang="en-US" sz="1500" dirty="0"/>
          </a:p>
        </p:txBody>
      </p:sp>
      <p:sp>
        <p:nvSpPr>
          <p:cNvPr id="9" name="Text 7"/>
          <p:cNvSpPr txBox="1"/>
          <p:nvPr/>
        </p:nvSpPr>
        <p:spPr>
          <a:xfrm>
            <a:off x="1280160" y="2971800"/>
            <a:ext cx="1920240" cy="411480"/>
          </a:xfrm>
          <a:prstGeom prst="rect">
            <a:avLst/>
          </a:prstGeom>
          <a:noFill/>
          <a:ln/>
        </p:spPr>
        <p:txBody>
          <a:bodyPr wrap="square" lIns="0" tIns="0" rIns="0" bIns="0" rtlCol="0" anchor="t"/>
          <a:lstStyle/>
          <a:p>
            <a:pPr algn="l" indent="0" marL="0">
              <a:lnSpc>
                <a:spcPct val="108000"/>
              </a:lnSpc>
              <a:buNone/>
            </a:pPr>
            <a:r>
              <a:rPr lang="en-US" sz="1700" dirty="0">
                <a:solidFill>
                  <a:srgbClr val="B8C2D6"/>
                </a:solidFill>
                <a:latin typeface="IBM Plex Sans" pitchFamily="34" charset="0"/>
                <a:ea typeface="IBM Plex Sans" pitchFamily="34" charset="-122"/>
                <a:cs typeface="IBM Plex Sans" pitchFamily="34" charset="-120"/>
              </a:rPr>
              <a:t>scrubbed</a:t>
            </a:r>
            <a:endParaRPr lang="en-US" sz="1700" dirty="0"/>
          </a:p>
        </p:txBody>
      </p:sp>
      <p:sp>
        <p:nvSpPr>
          <p:cNvPr id="10" name="Text 8"/>
          <p:cNvSpPr txBox="1"/>
          <p:nvPr/>
        </p:nvSpPr>
        <p:spPr>
          <a:xfrm>
            <a:off x="3291840" y="2651760"/>
            <a:ext cx="2011680" cy="731520"/>
          </a:xfrm>
          <a:prstGeom prst="rect">
            <a:avLst/>
          </a:prstGeom>
          <a:noFill/>
          <a:ln/>
        </p:spPr>
        <p:txBody>
          <a:bodyPr wrap="square" lIns="0" tIns="0" rIns="0" bIns="0" rtlCol="0" anchor="t"/>
          <a:lstStyle/>
          <a:p>
            <a:pPr algn="r" indent="0" marL="0">
              <a:lnSpc>
                <a:spcPct val="108000"/>
              </a:lnSpc>
              <a:buNone/>
            </a:pPr>
            <a:r>
              <a:rPr lang="en-US" sz="2600" dirty="0">
                <a:solidFill>
                  <a:srgbClr val="2DD4BF"/>
                </a:solidFill>
                <a:latin typeface="IBM Plex Mono" pitchFamily="34" charset="0"/>
                <a:ea typeface="IBM Plex Mono" pitchFamily="34" charset="-122"/>
                <a:cs typeface="IBM Plex Mono" pitchFamily="34" charset="-120"/>
              </a:rPr>
              <a:t>−4.18</a:t>
            </a:r>
            <a:endParaRPr lang="en-US" sz="2600" dirty="0"/>
          </a:p>
        </p:txBody>
      </p:sp>
      <p:sp>
        <p:nvSpPr>
          <p:cNvPr id="11" name="Shape 9"/>
          <p:cNvSpPr/>
          <p:nvPr/>
        </p:nvSpPr>
        <p:spPr>
          <a:xfrm>
            <a:off x="987552" y="3840480"/>
            <a:ext cx="4572000" cy="1234440"/>
          </a:xfrm>
          <a:prstGeom prst="roundRect">
            <a:avLst>
              <a:gd name="adj" fmla="val 5926"/>
            </a:avLst>
          </a:prstGeom>
          <a:solidFill>
            <a:srgbClr val="111B30"/>
          </a:solidFill>
          <a:ln w="12700">
            <a:solidFill>
              <a:srgbClr val="38435C"/>
            </a:solidFill>
            <a:prstDash val="solid"/>
          </a:ln>
        </p:spPr>
      </p:sp>
      <p:sp>
        <p:nvSpPr>
          <p:cNvPr id="12" name="Text 10"/>
          <p:cNvSpPr txBox="1"/>
          <p:nvPr/>
        </p:nvSpPr>
        <p:spPr>
          <a:xfrm>
            <a:off x="1280160" y="4023360"/>
            <a:ext cx="1920240" cy="310896"/>
          </a:xfrm>
          <a:prstGeom prst="rect">
            <a:avLst/>
          </a:prstGeom>
          <a:noFill/>
          <a:ln/>
        </p:spPr>
        <p:txBody>
          <a:bodyPr wrap="square" lIns="0" tIns="0" rIns="0" bIns="0" rtlCol="0" anchor="t"/>
          <a:lstStyle/>
          <a:p>
            <a:pPr algn="l" indent="0" marL="0">
              <a:lnSpc>
                <a:spcPct val="108000"/>
              </a:lnSpc>
              <a:buNone/>
            </a:pPr>
            <a:r>
              <a:rPr lang="en-US" sz="1500" dirty="0">
                <a:solidFill>
                  <a:srgbClr val="7C89A3"/>
                </a:solidFill>
                <a:latin typeface="IBM Plex Mono" pitchFamily="34" charset="0"/>
                <a:ea typeface="IBM Plex Mono" pitchFamily="34" charset="-122"/>
                <a:cs typeface="IBM Plex Mono" pitchFamily="34" charset="-120"/>
              </a:rPr>
              <a:t>SHARD 1</a:t>
            </a:r>
            <a:endParaRPr lang="en-US" sz="1500" dirty="0"/>
          </a:p>
        </p:txBody>
      </p:sp>
      <p:sp>
        <p:nvSpPr>
          <p:cNvPr id="13" name="Text 11"/>
          <p:cNvSpPr txBox="1"/>
          <p:nvPr/>
        </p:nvSpPr>
        <p:spPr>
          <a:xfrm>
            <a:off x="1280160" y="4434840"/>
            <a:ext cx="1920240" cy="411480"/>
          </a:xfrm>
          <a:prstGeom prst="rect">
            <a:avLst/>
          </a:prstGeom>
          <a:noFill/>
          <a:ln/>
        </p:spPr>
        <p:txBody>
          <a:bodyPr wrap="square" lIns="0" tIns="0" rIns="0" bIns="0" rtlCol="0" anchor="t"/>
          <a:lstStyle/>
          <a:p>
            <a:pPr algn="l" indent="0" marL="0">
              <a:lnSpc>
                <a:spcPct val="108000"/>
              </a:lnSpc>
              <a:buNone/>
            </a:pPr>
            <a:r>
              <a:rPr lang="en-US" sz="1700" dirty="0">
                <a:solidFill>
                  <a:srgbClr val="B8C2D6"/>
                </a:solidFill>
                <a:latin typeface="IBM Plex Sans" pitchFamily="34" charset="0"/>
                <a:ea typeface="IBM Plex Sans" pitchFamily="34" charset="-122"/>
                <a:cs typeface="IBM Plex Sans" pitchFamily="34" charset="-120"/>
              </a:rPr>
              <a:t>untouched</a:t>
            </a:r>
            <a:endParaRPr lang="en-US" sz="1700" dirty="0"/>
          </a:p>
        </p:txBody>
      </p:sp>
      <p:sp>
        <p:nvSpPr>
          <p:cNvPr id="14" name="Text 12"/>
          <p:cNvSpPr txBox="1"/>
          <p:nvPr/>
        </p:nvSpPr>
        <p:spPr>
          <a:xfrm>
            <a:off x="3291840" y="4114800"/>
            <a:ext cx="2011680" cy="731520"/>
          </a:xfrm>
          <a:prstGeom prst="rect">
            <a:avLst/>
          </a:prstGeom>
          <a:noFill/>
          <a:ln/>
        </p:spPr>
        <p:txBody>
          <a:bodyPr wrap="square" lIns="0" tIns="0" rIns="0" bIns="0" rtlCol="0" anchor="t"/>
          <a:lstStyle/>
          <a:p>
            <a:pPr algn="r" indent="0" marL="0">
              <a:lnSpc>
                <a:spcPct val="108000"/>
              </a:lnSpc>
              <a:buNone/>
            </a:pPr>
            <a:r>
              <a:rPr lang="en-US" sz="2600" dirty="0">
                <a:solidFill>
                  <a:srgbClr val="7C89A3"/>
                </a:solidFill>
                <a:latin typeface="IBM Plex Mono" pitchFamily="34" charset="0"/>
                <a:ea typeface="IBM Plex Mono" pitchFamily="34" charset="-122"/>
                <a:cs typeface="IBM Plex Mono" pitchFamily="34" charset="-120"/>
              </a:rPr>
              <a:t>≈ base</a:t>
            </a:r>
            <a:endParaRPr lang="en-US" sz="2600" dirty="0"/>
          </a:p>
        </p:txBody>
      </p:sp>
      <p:sp>
        <p:nvSpPr>
          <p:cNvPr id="15" name="Shape 13"/>
          <p:cNvSpPr/>
          <p:nvPr/>
        </p:nvSpPr>
        <p:spPr>
          <a:xfrm>
            <a:off x="987552" y="5303520"/>
            <a:ext cx="4572000" cy="1234440"/>
          </a:xfrm>
          <a:prstGeom prst="roundRect">
            <a:avLst>
              <a:gd name="adj" fmla="val 5926"/>
            </a:avLst>
          </a:prstGeom>
          <a:solidFill>
            <a:srgbClr val="111B30"/>
          </a:solidFill>
          <a:ln w="12700">
            <a:solidFill>
              <a:srgbClr val="38435C"/>
            </a:solidFill>
            <a:prstDash val="solid"/>
          </a:ln>
        </p:spPr>
      </p:sp>
      <p:sp>
        <p:nvSpPr>
          <p:cNvPr id="16" name="Text 14"/>
          <p:cNvSpPr txBox="1"/>
          <p:nvPr/>
        </p:nvSpPr>
        <p:spPr>
          <a:xfrm>
            <a:off x="1280160" y="5486400"/>
            <a:ext cx="1920240" cy="310896"/>
          </a:xfrm>
          <a:prstGeom prst="rect">
            <a:avLst/>
          </a:prstGeom>
          <a:noFill/>
          <a:ln/>
        </p:spPr>
        <p:txBody>
          <a:bodyPr wrap="square" lIns="0" tIns="0" rIns="0" bIns="0" rtlCol="0" anchor="t"/>
          <a:lstStyle/>
          <a:p>
            <a:pPr algn="l" indent="0" marL="0">
              <a:lnSpc>
                <a:spcPct val="108000"/>
              </a:lnSpc>
              <a:buNone/>
            </a:pPr>
            <a:r>
              <a:rPr lang="en-US" sz="1500" dirty="0">
                <a:solidFill>
                  <a:srgbClr val="7C89A3"/>
                </a:solidFill>
                <a:latin typeface="IBM Plex Mono" pitchFamily="34" charset="0"/>
                <a:ea typeface="IBM Plex Mono" pitchFamily="34" charset="-122"/>
                <a:cs typeface="IBM Plex Mono" pitchFamily="34" charset="-120"/>
              </a:rPr>
              <a:t>SHARD 2</a:t>
            </a:r>
            <a:endParaRPr lang="en-US" sz="1500" dirty="0"/>
          </a:p>
        </p:txBody>
      </p:sp>
      <p:sp>
        <p:nvSpPr>
          <p:cNvPr id="17" name="Text 15"/>
          <p:cNvSpPr txBox="1"/>
          <p:nvPr/>
        </p:nvSpPr>
        <p:spPr>
          <a:xfrm>
            <a:off x="1280160" y="5897880"/>
            <a:ext cx="1920240" cy="411480"/>
          </a:xfrm>
          <a:prstGeom prst="rect">
            <a:avLst/>
          </a:prstGeom>
          <a:noFill/>
          <a:ln/>
        </p:spPr>
        <p:txBody>
          <a:bodyPr wrap="square" lIns="0" tIns="0" rIns="0" bIns="0" rtlCol="0" anchor="t"/>
          <a:lstStyle/>
          <a:p>
            <a:pPr algn="l" indent="0" marL="0">
              <a:lnSpc>
                <a:spcPct val="108000"/>
              </a:lnSpc>
              <a:buNone/>
            </a:pPr>
            <a:r>
              <a:rPr lang="en-US" sz="1700" dirty="0">
                <a:solidFill>
                  <a:srgbClr val="B8C2D6"/>
                </a:solidFill>
                <a:latin typeface="IBM Plex Sans" pitchFamily="34" charset="0"/>
                <a:ea typeface="IBM Plex Sans" pitchFamily="34" charset="-122"/>
                <a:cs typeface="IBM Plex Sans" pitchFamily="34" charset="-120"/>
              </a:rPr>
              <a:t>untouched</a:t>
            </a:r>
            <a:endParaRPr lang="en-US" sz="1700" dirty="0"/>
          </a:p>
        </p:txBody>
      </p:sp>
      <p:sp>
        <p:nvSpPr>
          <p:cNvPr id="18" name="Text 16"/>
          <p:cNvSpPr txBox="1"/>
          <p:nvPr/>
        </p:nvSpPr>
        <p:spPr>
          <a:xfrm>
            <a:off x="3291840" y="5577840"/>
            <a:ext cx="2011680" cy="731520"/>
          </a:xfrm>
          <a:prstGeom prst="rect">
            <a:avLst/>
          </a:prstGeom>
          <a:noFill/>
          <a:ln/>
        </p:spPr>
        <p:txBody>
          <a:bodyPr wrap="square" lIns="0" tIns="0" rIns="0" bIns="0" rtlCol="0" anchor="t"/>
          <a:lstStyle/>
          <a:p>
            <a:pPr algn="r" indent="0" marL="0">
              <a:lnSpc>
                <a:spcPct val="108000"/>
              </a:lnSpc>
              <a:buNone/>
            </a:pPr>
            <a:r>
              <a:rPr lang="en-US" sz="2600" dirty="0">
                <a:solidFill>
                  <a:srgbClr val="7C89A3"/>
                </a:solidFill>
                <a:latin typeface="IBM Plex Mono" pitchFamily="34" charset="0"/>
                <a:ea typeface="IBM Plex Mono" pitchFamily="34" charset="-122"/>
                <a:cs typeface="IBM Plex Mono" pitchFamily="34" charset="-120"/>
              </a:rPr>
              <a:t>≈ base</a:t>
            </a:r>
            <a:endParaRPr lang="en-US" sz="2600" dirty="0"/>
          </a:p>
        </p:txBody>
      </p:sp>
      <p:sp>
        <p:nvSpPr>
          <p:cNvPr id="19" name="Shape 17"/>
          <p:cNvSpPr/>
          <p:nvPr/>
        </p:nvSpPr>
        <p:spPr>
          <a:xfrm>
            <a:off x="987552" y="6766560"/>
            <a:ext cx="4572000" cy="1234440"/>
          </a:xfrm>
          <a:prstGeom prst="roundRect">
            <a:avLst>
              <a:gd name="adj" fmla="val 5926"/>
            </a:avLst>
          </a:prstGeom>
          <a:solidFill>
            <a:srgbClr val="111B30"/>
          </a:solidFill>
          <a:ln w="12700">
            <a:solidFill>
              <a:srgbClr val="38435C"/>
            </a:solidFill>
            <a:prstDash val="solid"/>
          </a:ln>
        </p:spPr>
      </p:sp>
      <p:sp>
        <p:nvSpPr>
          <p:cNvPr id="20" name="Text 18"/>
          <p:cNvSpPr txBox="1"/>
          <p:nvPr/>
        </p:nvSpPr>
        <p:spPr>
          <a:xfrm>
            <a:off x="1280160" y="6949440"/>
            <a:ext cx="1920240" cy="310896"/>
          </a:xfrm>
          <a:prstGeom prst="rect">
            <a:avLst/>
          </a:prstGeom>
          <a:noFill/>
          <a:ln/>
        </p:spPr>
        <p:txBody>
          <a:bodyPr wrap="square" lIns="0" tIns="0" rIns="0" bIns="0" rtlCol="0" anchor="t"/>
          <a:lstStyle/>
          <a:p>
            <a:pPr algn="l" indent="0" marL="0">
              <a:lnSpc>
                <a:spcPct val="108000"/>
              </a:lnSpc>
              <a:buNone/>
            </a:pPr>
            <a:r>
              <a:rPr lang="en-US" sz="1500" dirty="0">
                <a:solidFill>
                  <a:srgbClr val="7C89A3"/>
                </a:solidFill>
                <a:latin typeface="IBM Plex Mono" pitchFamily="34" charset="0"/>
                <a:ea typeface="IBM Plex Mono" pitchFamily="34" charset="-122"/>
                <a:cs typeface="IBM Plex Mono" pitchFamily="34" charset="-120"/>
              </a:rPr>
              <a:t>SHARD 3</a:t>
            </a:r>
            <a:endParaRPr lang="en-US" sz="1500" dirty="0"/>
          </a:p>
        </p:txBody>
      </p:sp>
      <p:sp>
        <p:nvSpPr>
          <p:cNvPr id="21" name="Text 19"/>
          <p:cNvSpPr txBox="1"/>
          <p:nvPr/>
        </p:nvSpPr>
        <p:spPr>
          <a:xfrm>
            <a:off x="1280160" y="7360920"/>
            <a:ext cx="1920240" cy="411480"/>
          </a:xfrm>
          <a:prstGeom prst="rect">
            <a:avLst/>
          </a:prstGeom>
          <a:noFill/>
          <a:ln/>
        </p:spPr>
        <p:txBody>
          <a:bodyPr wrap="square" lIns="0" tIns="0" rIns="0" bIns="0" rtlCol="0" anchor="t"/>
          <a:lstStyle/>
          <a:p>
            <a:pPr algn="l" indent="0" marL="0">
              <a:lnSpc>
                <a:spcPct val="108000"/>
              </a:lnSpc>
              <a:buNone/>
            </a:pPr>
            <a:r>
              <a:rPr lang="en-US" sz="1700" dirty="0">
                <a:solidFill>
                  <a:srgbClr val="B8C2D6"/>
                </a:solidFill>
                <a:latin typeface="IBM Plex Sans" pitchFamily="34" charset="0"/>
                <a:ea typeface="IBM Plex Sans" pitchFamily="34" charset="-122"/>
                <a:cs typeface="IBM Plex Sans" pitchFamily="34" charset="-120"/>
              </a:rPr>
              <a:t>untouched</a:t>
            </a:r>
            <a:endParaRPr lang="en-US" sz="1700" dirty="0"/>
          </a:p>
        </p:txBody>
      </p:sp>
      <p:sp>
        <p:nvSpPr>
          <p:cNvPr id="22" name="Text 20"/>
          <p:cNvSpPr txBox="1"/>
          <p:nvPr/>
        </p:nvSpPr>
        <p:spPr>
          <a:xfrm>
            <a:off x="3291840" y="7040880"/>
            <a:ext cx="2011680" cy="731520"/>
          </a:xfrm>
          <a:prstGeom prst="rect">
            <a:avLst/>
          </a:prstGeom>
          <a:noFill/>
          <a:ln/>
        </p:spPr>
        <p:txBody>
          <a:bodyPr wrap="square" lIns="0" tIns="0" rIns="0" bIns="0" rtlCol="0" anchor="t"/>
          <a:lstStyle/>
          <a:p>
            <a:pPr algn="r" indent="0" marL="0">
              <a:lnSpc>
                <a:spcPct val="108000"/>
              </a:lnSpc>
              <a:buNone/>
            </a:pPr>
            <a:r>
              <a:rPr lang="en-US" sz="2600" dirty="0">
                <a:solidFill>
                  <a:srgbClr val="7C89A3"/>
                </a:solidFill>
                <a:latin typeface="IBM Plex Mono" pitchFamily="34" charset="0"/>
                <a:ea typeface="IBM Plex Mono" pitchFamily="34" charset="-122"/>
                <a:cs typeface="IBM Plex Mono" pitchFamily="34" charset="-120"/>
              </a:rPr>
              <a:t>≈ base</a:t>
            </a:r>
            <a:endParaRPr lang="en-US" sz="2600" dirty="0"/>
          </a:p>
        </p:txBody>
      </p:sp>
      <p:sp>
        <p:nvSpPr>
          <p:cNvPr id="23" name="Text 21"/>
          <p:cNvSpPr txBox="1"/>
          <p:nvPr/>
        </p:nvSpPr>
        <p:spPr>
          <a:xfrm>
            <a:off x="5760720" y="4526280"/>
            <a:ext cx="914400" cy="914400"/>
          </a:xfrm>
          <a:prstGeom prst="rect">
            <a:avLst/>
          </a:prstGeom>
          <a:noFill/>
          <a:ln/>
        </p:spPr>
        <p:txBody>
          <a:bodyPr wrap="square" lIns="0" tIns="0" rIns="0" bIns="0" rtlCol="0" anchor="t"/>
          <a:lstStyle/>
          <a:p>
            <a:pPr algn="ctr" indent="0" marL="0">
              <a:lnSpc>
                <a:spcPct val="108000"/>
              </a:lnSpc>
              <a:buNone/>
            </a:pPr>
            <a:r>
              <a:rPr lang="en-US" sz="4400" dirty="0">
                <a:solidFill>
                  <a:srgbClr val="2DD4BF"/>
                </a:solidFill>
                <a:latin typeface="Space Grotesk" pitchFamily="34" charset="0"/>
                <a:ea typeface="Space Grotesk" pitchFamily="34" charset="-122"/>
                <a:cs typeface="Space Grotesk" pitchFamily="34" charset="-120"/>
              </a:rPr>
              <a:t>→</a:t>
            </a:r>
            <a:endParaRPr lang="en-US" sz="4400" dirty="0"/>
          </a:p>
        </p:txBody>
      </p:sp>
      <p:sp>
        <p:nvSpPr>
          <p:cNvPr id="24" name="Text 22"/>
          <p:cNvSpPr txBox="1"/>
          <p:nvPr/>
        </p:nvSpPr>
        <p:spPr>
          <a:xfrm>
            <a:off x="5532120" y="5440680"/>
            <a:ext cx="1371600" cy="685800"/>
          </a:xfrm>
          <a:prstGeom prst="rect">
            <a:avLst/>
          </a:prstGeom>
          <a:noFill/>
          <a:ln/>
        </p:spPr>
        <p:txBody>
          <a:bodyPr wrap="square" lIns="0" tIns="0" rIns="0" bIns="0" rtlCol="0" anchor="t"/>
          <a:lstStyle/>
          <a:p>
            <a:pPr algn="ctr" indent="0" marL="0">
              <a:lnSpc>
                <a:spcPct val="108000"/>
              </a:lnSpc>
              <a:buNone/>
            </a:pPr>
            <a:r>
              <a:rPr lang="en-US" sz="1200" dirty="0">
                <a:solidFill>
                  <a:srgbClr val="7C89A3"/>
                </a:solidFill>
                <a:latin typeface="IBM Plex Mono" pitchFamily="34" charset="0"/>
                <a:ea typeface="IBM Plex Mono" pitchFamily="34" charset="-122"/>
                <a:cs typeface="IBM Plex Mono" pitchFamily="34" charset="-120"/>
              </a:rPr>
              <a:t>average of logits</a:t>
            </a:r>
            <a:endParaRPr lang="en-US" sz="1200" dirty="0"/>
          </a:p>
        </p:txBody>
      </p:sp>
      <p:sp>
        <p:nvSpPr>
          <p:cNvPr id="25" name="Shape 23"/>
          <p:cNvSpPr/>
          <p:nvPr/>
        </p:nvSpPr>
        <p:spPr>
          <a:xfrm>
            <a:off x="6903720" y="3977640"/>
            <a:ext cx="4023360" cy="2377440"/>
          </a:xfrm>
          <a:prstGeom prst="roundRect">
            <a:avLst>
              <a:gd name="adj" fmla="val 3077"/>
            </a:avLst>
          </a:prstGeom>
          <a:solidFill>
            <a:srgbClr val="111B30"/>
          </a:solidFill>
          <a:ln w="12700">
            <a:solidFill>
              <a:srgbClr val="38435C"/>
            </a:solidFill>
            <a:prstDash val="solid"/>
          </a:ln>
        </p:spPr>
      </p:sp>
      <p:sp>
        <p:nvSpPr>
          <p:cNvPr id="26" name="Text 24"/>
          <p:cNvSpPr txBox="1"/>
          <p:nvPr/>
        </p:nvSpPr>
        <p:spPr>
          <a:xfrm>
            <a:off x="7223760" y="4206240"/>
            <a:ext cx="3474720" cy="310896"/>
          </a:xfrm>
          <a:prstGeom prst="rect">
            <a:avLst/>
          </a:prstGeom>
          <a:noFill/>
          <a:ln/>
        </p:spPr>
        <p:txBody>
          <a:bodyPr wrap="square" lIns="0" tIns="0" rIns="0" bIns="0" rtlCol="0" anchor="t"/>
          <a:lstStyle/>
          <a:p>
            <a:pPr algn="l" indent="0" marL="0">
              <a:lnSpc>
                <a:spcPct val="108000"/>
              </a:lnSpc>
              <a:buNone/>
            </a:pPr>
            <a:r>
              <a:rPr lang="en-US" sz="1500" dirty="0">
                <a:solidFill>
                  <a:srgbClr val="7C89A3"/>
                </a:solidFill>
                <a:latin typeface="IBM Plex Mono" pitchFamily="34" charset="0"/>
                <a:ea typeface="IBM Plex Mono" pitchFamily="34" charset="-122"/>
                <a:cs typeface="IBM Plex Mono" pitchFamily="34" charset="-120"/>
              </a:rPr>
              <a:t>4-SHARD ENSEMBLE</a:t>
            </a:r>
            <a:endParaRPr lang="en-US" sz="1500" dirty="0"/>
          </a:p>
        </p:txBody>
      </p:sp>
      <p:sp>
        <p:nvSpPr>
          <p:cNvPr id="27" name="Text 25"/>
          <p:cNvSpPr txBox="1"/>
          <p:nvPr/>
        </p:nvSpPr>
        <p:spPr>
          <a:xfrm>
            <a:off x="7223760" y="4617720"/>
            <a:ext cx="3474720" cy="1097280"/>
          </a:xfrm>
          <a:prstGeom prst="rect">
            <a:avLst/>
          </a:prstGeom>
          <a:noFill/>
          <a:ln/>
        </p:spPr>
        <p:txBody>
          <a:bodyPr wrap="square" lIns="0" tIns="0" rIns="0" bIns="0" rtlCol="0" anchor="t"/>
          <a:lstStyle/>
          <a:p>
            <a:pPr algn="l" indent="0" marL="0">
              <a:lnSpc>
                <a:spcPct val="108000"/>
              </a:lnSpc>
              <a:buNone/>
            </a:pPr>
            <a:r>
              <a:rPr lang="en-US" sz="5800" dirty="0">
                <a:solidFill>
                  <a:srgbClr val="EAF0FA"/>
                </a:solidFill>
                <a:latin typeface="Space Grotesk" pitchFamily="34" charset="0"/>
                <a:ea typeface="Space Grotesk" pitchFamily="34" charset="-122"/>
                <a:cs typeface="Space Grotesk" pitchFamily="34" charset="-120"/>
              </a:rPr>
              <a:t>−0.50</a:t>
            </a:r>
            <a:endParaRPr lang="en-US" sz="5800" dirty="0"/>
          </a:p>
        </p:txBody>
      </p:sp>
      <p:sp>
        <p:nvSpPr>
          <p:cNvPr id="28" name="Text 26"/>
          <p:cNvSpPr txBox="1"/>
          <p:nvPr/>
        </p:nvSpPr>
        <p:spPr>
          <a:xfrm>
            <a:off x="7223760" y="5715000"/>
            <a:ext cx="3474720" cy="365760"/>
          </a:xfrm>
          <a:prstGeom prst="rect">
            <a:avLst/>
          </a:prstGeom>
          <a:noFill/>
          <a:ln/>
        </p:spPr>
        <p:txBody>
          <a:bodyPr wrap="square" lIns="0" tIns="0" rIns="0" bIns="0" rtlCol="0" anchor="t"/>
          <a:lstStyle/>
          <a:p>
            <a:pPr algn="l" indent="0" marL="0">
              <a:lnSpc>
                <a:spcPct val="108000"/>
              </a:lnSpc>
              <a:buNone/>
            </a:pPr>
            <a:r>
              <a:rPr lang="en-US" sz="1300" dirty="0">
                <a:solidFill>
                  <a:srgbClr val="7C89A3"/>
                </a:solidFill>
                <a:latin typeface="IBM Plex Mono" pitchFamily="34" charset="0"/>
                <a:ea typeface="IBM Plex Mono" pitchFamily="34" charset="-122"/>
                <a:cs typeface="IBM Plex Mono" pitchFamily="34" charset="-120"/>
              </a:rPr>
              <a:t>forget-set log-prob</a:t>
            </a:r>
            <a:endParaRPr lang="en-US" sz="1300" dirty="0"/>
          </a:p>
        </p:txBody>
      </p:sp>
      <p:sp>
        <p:nvSpPr>
          <p:cNvPr id="29" name="Shape 27"/>
          <p:cNvSpPr/>
          <p:nvPr/>
        </p:nvSpPr>
        <p:spPr>
          <a:xfrm>
            <a:off x="11384280" y="2377440"/>
            <a:ext cx="5916168" cy="2743200"/>
          </a:xfrm>
          <a:prstGeom prst="roundRect">
            <a:avLst>
              <a:gd name="adj" fmla="val 2667"/>
            </a:avLst>
          </a:prstGeom>
          <a:solidFill>
            <a:srgbClr val="111B30"/>
          </a:solidFill>
          <a:ln w="12700">
            <a:solidFill>
              <a:srgbClr val="2DD4BF"/>
            </a:solidFill>
            <a:prstDash val="solid"/>
          </a:ln>
        </p:spPr>
      </p:sp>
      <p:sp>
        <p:nvSpPr>
          <p:cNvPr id="30" name="Text 28"/>
          <p:cNvSpPr txBox="1"/>
          <p:nvPr/>
        </p:nvSpPr>
        <p:spPr>
          <a:xfrm>
            <a:off x="11704320" y="2651760"/>
            <a:ext cx="5486400" cy="310896"/>
          </a:xfrm>
          <a:prstGeom prst="rect">
            <a:avLst/>
          </a:prstGeom>
          <a:noFill/>
          <a:ln/>
        </p:spPr>
        <p:txBody>
          <a:bodyPr wrap="square" lIns="0" tIns="0" rIns="0" bIns="0" rtlCol="0" anchor="t"/>
          <a:lstStyle/>
          <a:p>
            <a:pPr algn="l" indent="0" marL="0">
              <a:lnSpc>
                <a:spcPct val="108000"/>
              </a:lnSpc>
              <a:buNone/>
            </a:pPr>
            <a:r>
              <a:rPr lang="en-US" sz="1500" dirty="0">
                <a:solidFill>
                  <a:srgbClr val="2DD4BF"/>
                </a:solidFill>
                <a:latin typeface="IBM Plex Mono" pitchFamily="34" charset="0"/>
                <a:ea typeface="IBM Plex Mono" pitchFamily="34" charset="-122"/>
                <a:cs typeface="IBM Plex Mono" pitchFamily="34" charset="-120"/>
              </a:rPr>
              <a:t>DURABILITY AFTER ATTACK</a:t>
            </a:r>
            <a:endParaRPr lang="en-US" sz="1500" dirty="0"/>
          </a:p>
        </p:txBody>
      </p:sp>
      <p:sp>
        <p:nvSpPr>
          <p:cNvPr id="31" name="Text 29"/>
          <p:cNvSpPr txBox="1"/>
          <p:nvPr/>
        </p:nvSpPr>
        <p:spPr>
          <a:xfrm>
            <a:off x="11704320" y="3108960"/>
            <a:ext cx="2651760" cy="914400"/>
          </a:xfrm>
          <a:prstGeom prst="rect">
            <a:avLst/>
          </a:prstGeom>
          <a:noFill/>
          <a:ln/>
        </p:spPr>
        <p:txBody>
          <a:bodyPr wrap="square" lIns="0" tIns="0" rIns="0" bIns="0" rtlCol="0" anchor="t"/>
          <a:lstStyle/>
          <a:p>
            <a:pPr algn="l" indent="0" marL="0">
              <a:lnSpc>
                <a:spcPct val="108000"/>
              </a:lnSpc>
              <a:buNone/>
            </a:pPr>
            <a:r>
              <a:rPr lang="en-US" sz="4600" dirty="0">
                <a:solidFill>
                  <a:srgbClr val="2DD4BF"/>
                </a:solidFill>
                <a:latin typeface="Space Grotesk" pitchFamily="34" charset="0"/>
                <a:ea typeface="Space Grotesk" pitchFamily="34" charset="-122"/>
                <a:cs typeface="Space Grotesk" pitchFamily="34" charset="-120"/>
              </a:rPr>
              <a:t>−1.31</a:t>
            </a:r>
            <a:endParaRPr lang="en-US" sz="4600" dirty="0"/>
          </a:p>
        </p:txBody>
      </p:sp>
      <p:sp>
        <p:nvSpPr>
          <p:cNvPr id="32" name="Text 30"/>
          <p:cNvSpPr txBox="1"/>
          <p:nvPr/>
        </p:nvSpPr>
        <p:spPr>
          <a:xfrm>
            <a:off x="11704320" y="4069080"/>
            <a:ext cx="2651760" cy="365760"/>
          </a:xfrm>
          <a:prstGeom prst="rect">
            <a:avLst/>
          </a:prstGeom>
          <a:noFill/>
          <a:ln/>
        </p:spPr>
        <p:txBody>
          <a:bodyPr wrap="square" lIns="0" tIns="0" rIns="0" bIns="0" rtlCol="0" anchor="t"/>
          <a:lstStyle/>
          <a:p>
            <a:pPr algn="l" indent="0" marL="0">
              <a:lnSpc>
                <a:spcPct val="108000"/>
              </a:lnSpc>
              <a:buNone/>
            </a:pPr>
            <a:r>
              <a:rPr lang="en-US" sz="1400" dirty="0">
                <a:solidFill>
                  <a:srgbClr val="7C89A3"/>
                </a:solidFill>
                <a:latin typeface="IBM Plex Mono" pitchFamily="34" charset="0"/>
                <a:ea typeface="IBM Plex Mono" pitchFamily="34" charset="-122"/>
                <a:cs typeface="IBM Plex Mono" pitchFamily="34" charset="-120"/>
              </a:rPr>
              <a:t>unsharded</a:t>
            </a:r>
            <a:endParaRPr lang="en-US" sz="1400" dirty="0"/>
          </a:p>
        </p:txBody>
      </p:sp>
      <p:sp>
        <p:nvSpPr>
          <p:cNvPr id="33" name="Text 31"/>
          <p:cNvSpPr txBox="1"/>
          <p:nvPr/>
        </p:nvSpPr>
        <p:spPr>
          <a:xfrm>
            <a:off x="14493240" y="3108960"/>
            <a:ext cx="2651760" cy="914400"/>
          </a:xfrm>
          <a:prstGeom prst="rect">
            <a:avLst/>
          </a:prstGeom>
          <a:noFill/>
          <a:ln/>
        </p:spPr>
        <p:txBody>
          <a:bodyPr wrap="square" lIns="0" tIns="0" rIns="0" bIns="0" rtlCol="0" anchor="t"/>
          <a:lstStyle/>
          <a:p>
            <a:pPr algn="l" indent="0" marL="0">
              <a:lnSpc>
                <a:spcPct val="108000"/>
              </a:lnSpc>
              <a:buNone/>
            </a:pPr>
            <a:r>
              <a:rPr lang="en-US" sz="4600" dirty="0">
                <a:solidFill>
                  <a:srgbClr val="EAF0FA"/>
                </a:solidFill>
                <a:latin typeface="Space Grotesk" pitchFamily="34" charset="0"/>
                <a:ea typeface="Space Grotesk" pitchFamily="34" charset="-122"/>
                <a:cs typeface="Space Grotesk" pitchFamily="34" charset="-120"/>
              </a:rPr>
              <a:t>−0.42</a:t>
            </a:r>
            <a:endParaRPr lang="en-US" sz="4600" dirty="0"/>
          </a:p>
        </p:txBody>
      </p:sp>
      <p:sp>
        <p:nvSpPr>
          <p:cNvPr id="34" name="Text 32"/>
          <p:cNvSpPr txBox="1"/>
          <p:nvPr/>
        </p:nvSpPr>
        <p:spPr>
          <a:xfrm>
            <a:off x="14493240" y="4069080"/>
            <a:ext cx="2651760" cy="365760"/>
          </a:xfrm>
          <a:prstGeom prst="rect">
            <a:avLst/>
          </a:prstGeom>
          <a:noFill/>
          <a:ln/>
        </p:spPr>
        <p:txBody>
          <a:bodyPr wrap="square" lIns="0" tIns="0" rIns="0" bIns="0" rtlCol="0" anchor="t"/>
          <a:lstStyle/>
          <a:p>
            <a:pPr algn="l" indent="0" marL="0">
              <a:lnSpc>
                <a:spcPct val="108000"/>
              </a:lnSpc>
              <a:buNone/>
            </a:pPr>
            <a:r>
              <a:rPr lang="en-US" sz="1400" dirty="0">
                <a:solidFill>
                  <a:srgbClr val="7C89A3"/>
                </a:solidFill>
                <a:latin typeface="IBM Plex Mono" pitchFamily="34" charset="0"/>
                <a:ea typeface="IBM Plex Mono" pitchFamily="34" charset="-122"/>
                <a:cs typeface="IBM Plex Mono" pitchFamily="34" charset="-120"/>
              </a:rPr>
              <a:t>sharded</a:t>
            </a:r>
            <a:endParaRPr lang="en-US" sz="1400" dirty="0"/>
          </a:p>
        </p:txBody>
      </p:sp>
      <p:sp>
        <p:nvSpPr>
          <p:cNvPr id="35" name="Text 33"/>
          <p:cNvSpPr txBox="1"/>
          <p:nvPr/>
        </p:nvSpPr>
        <p:spPr>
          <a:xfrm>
            <a:off x="11704320" y="4526280"/>
            <a:ext cx="5394960" cy="457200"/>
          </a:xfrm>
          <a:prstGeom prst="rect">
            <a:avLst/>
          </a:prstGeom>
          <a:noFill/>
          <a:ln/>
        </p:spPr>
        <p:txBody>
          <a:bodyPr wrap="square" lIns="0" tIns="0" rIns="0" bIns="0" rtlCol="0" anchor="t"/>
          <a:lstStyle/>
          <a:p>
            <a:pPr algn="l" indent="0" marL="0">
              <a:lnSpc>
                <a:spcPct val="108000"/>
              </a:lnSpc>
              <a:buNone/>
            </a:pPr>
            <a:r>
              <a:rPr lang="en-US" sz="1550" dirty="0">
                <a:solidFill>
                  <a:srgbClr val="B8C2D6"/>
                </a:solidFill>
                <a:latin typeface="IBM Plex Sans" pitchFamily="34" charset="0"/>
                <a:ea typeface="IBM Plex Sans" pitchFamily="34" charset="-122"/>
                <a:cs typeface="IBM Plex Sans" pitchFamily="34" charset="-120"/>
              </a:rPr>
              <a:t>Same scrub procedure. Only the sharding differs.</a:t>
            </a:r>
            <a:endParaRPr lang="en-US" sz="1550" dirty="0"/>
          </a:p>
        </p:txBody>
      </p:sp>
      <p:sp>
        <p:nvSpPr>
          <p:cNvPr id="36" name="Shape 34"/>
          <p:cNvSpPr/>
          <p:nvPr/>
        </p:nvSpPr>
        <p:spPr>
          <a:xfrm>
            <a:off x="11384280" y="5394960"/>
            <a:ext cx="5916168" cy="3200400"/>
          </a:xfrm>
          <a:prstGeom prst="roundRect">
            <a:avLst>
              <a:gd name="adj" fmla="val 2286"/>
            </a:avLst>
          </a:prstGeom>
          <a:solidFill>
            <a:srgbClr val="111B30"/>
          </a:solidFill>
          <a:ln w="12700">
            <a:solidFill>
              <a:srgbClr val="38435C"/>
            </a:solidFill>
            <a:prstDash val="solid"/>
          </a:ln>
        </p:spPr>
      </p:sp>
      <p:sp>
        <p:nvSpPr>
          <p:cNvPr id="37" name="Text 35"/>
          <p:cNvSpPr txBox="1"/>
          <p:nvPr/>
        </p:nvSpPr>
        <p:spPr>
          <a:xfrm>
            <a:off x="11704320" y="5669280"/>
            <a:ext cx="3657600" cy="310896"/>
          </a:xfrm>
          <a:prstGeom prst="rect">
            <a:avLst/>
          </a:prstGeom>
          <a:noFill/>
          <a:ln/>
        </p:spPr>
        <p:txBody>
          <a:bodyPr wrap="square" lIns="0" tIns="0" rIns="0" bIns="0" rtlCol="0" anchor="t"/>
          <a:lstStyle/>
          <a:p>
            <a:pPr algn="l" indent="0" marL="0">
              <a:lnSpc>
                <a:spcPct val="108000"/>
              </a:lnSpc>
              <a:buNone/>
            </a:pPr>
            <a:r>
              <a:rPr lang="en-US" sz="1500" dirty="0">
                <a:solidFill>
                  <a:srgbClr val="2DD4BF"/>
                </a:solidFill>
                <a:latin typeface="IBM Plex Mono" pitchFamily="34" charset="0"/>
                <a:ea typeface="IBM Plex Mono" pitchFamily="34" charset="-122"/>
                <a:cs typeface="IBM Plex Mono" pitchFamily="34" charset="-120"/>
              </a:rPr>
              <a:t>WHY</a:t>
            </a:r>
            <a:endParaRPr lang="en-US" sz="1500" dirty="0"/>
          </a:p>
        </p:txBody>
      </p:sp>
      <p:sp>
        <p:nvSpPr>
          <p:cNvPr id="38" name="Text 36"/>
          <p:cNvSpPr txBox="1"/>
          <p:nvPr/>
        </p:nvSpPr>
        <p:spPr>
          <a:xfrm>
            <a:off x="11704320" y="6035040"/>
            <a:ext cx="5349240" cy="2468880"/>
          </a:xfrm>
          <a:prstGeom prst="rect">
            <a:avLst/>
          </a:prstGeom>
          <a:noFill/>
          <a:ln/>
        </p:spPr>
        <p:txBody>
          <a:bodyPr wrap="square" lIns="0" tIns="0" rIns="0" bIns="0" rtlCol="0" anchor="t"/>
          <a:lstStyle/>
          <a:p>
            <a:pPr algn="l" indent="0" marL="0">
              <a:lnSpc>
                <a:spcPct val="115000"/>
              </a:lnSpc>
              <a:buNone/>
            </a:pPr>
            <a:r>
              <a:rPr lang="en-US" sz="1650" dirty="0">
                <a:solidFill>
                  <a:srgbClr val="B8C2D6"/>
                </a:solidFill>
                <a:latin typeface="IBM Plex Sans" pitchFamily="34" charset="0"/>
                <a:ea typeface="IBM Plex Sans" pitchFamily="34" charset="-122"/>
                <a:cs typeface="IBM Plex Sans" pitchFamily="34" charset="-120"/>
              </a:rPr>
              <a:t>Three shards that never saw the forget set outvote the one scrubbed shard 3-to-1. SISA’s averaging is right for exact unlearning, where the retrained shard has nothing to suppress. Approximate unlearning breaks that assumption.</a:t>
            </a:r>
            <a:endParaRPr lang="en-US" sz="1650" dirty="0"/>
          </a:p>
        </p:txBody>
      </p:sp>
      <p:sp>
        <p:nvSpPr>
          <p:cNvPr id="39" name="Text 37"/>
          <p:cNvSpPr txBox="1"/>
          <p:nvPr/>
        </p:nvSpPr>
        <p:spPr>
          <a:xfrm>
            <a:off x="987552" y="8503920"/>
            <a:ext cx="16093440" cy="457200"/>
          </a:xfrm>
          <a:prstGeom prst="rect">
            <a:avLst/>
          </a:prstGeom>
          <a:noFill/>
          <a:ln/>
        </p:spPr>
        <p:txBody>
          <a:bodyPr wrap="square" lIns="0" tIns="0" rIns="0" bIns="0" rtlCol="0" anchor="t"/>
          <a:lstStyle/>
          <a:p>
            <a:pPr algn="l" indent="0" marL="0">
              <a:lnSpc>
                <a:spcPct val="108000"/>
              </a:lnSpc>
              <a:buNone/>
            </a:pPr>
            <a:r>
              <a:rPr lang="en-US" sz="1850" dirty="0">
                <a:solidFill>
                  <a:srgbClr val="2DD4BF"/>
                </a:solidFill>
                <a:latin typeface="IBM Plex Sans" pitchFamily="34" charset="0"/>
                <a:ea typeface="IBM Plex Sans" pitchFamily="34" charset="-122"/>
                <a:cs typeface="IBM Plex Sans" pitchFamily="34" charset="-120"/>
              </a:rPr>
              <a:t>Next: weighted and veto (minimum) aggregation are built and ready to test (notebook 04b).</a:t>
            </a:r>
            <a:endParaRPr lang="en-US" sz="1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020"/>
        </a:solidFill>
      </p:bgPr>
    </p:bg>
    <p:spTree>
      <p:nvGrpSpPr>
        <p:cNvPr id="1" name=""/>
        <p:cNvGrpSpPr/>
        <p:nvPr/>
      </p:nvGrpSpPr>
      <p:grpSpPr>
        <a:xfrm>
          <a:off x="0" y="0"/>
          <a:ext cx="0" cy="0"/>
          <a:chOff x="0" y="0"/>
          <a:chExt cx="0" cy="0"/>
        </a:xfrm>
      </p:grpSpPr>
      <p:sp>
        <p:nvSpPr>
          <p:cNvPr id="2" name="Text 0"/>
          <p:cNvSpPr txBox="1"/>
          <p:nvPr/>
        </p:nvSpPr>
        <p:spPr>
          <a:xfrm>
            <a:off x="987552" y="722376"/>
            <a:ext cx="731520" cy="329184"/>
          </a:xfrm>
          <a:prstGeom prst="rect">
            <a:avLst/>
          </a:prstGeom>
          <a:noFill/>
          <a:ln/>
        </p:spPr>
        <p:txBody>
          <a:bodyPr wrap="square" lIns="0" tIns="0" rIns="0" bIns="0" rtlCol="0" anchor="t"/>
          <a:lstStyle/>
          <a:p>
            <a:pPr algn="l" indent="0" marL="0">
              <a:lnSpc>
                <a:spcPct val="108000"/>
              </a:lnSpc>
              <a:buNone/>
            </a:pPr>
            <a:r>
              <a:rPr lang="en-US" sz="1800" dirty="0">
                <a:solidFill>
                  <a:srgbClr val="2DD4BF"/>
                </a:solidFill>
                <a:latin typeface="IBM Plex Mono" pitchFamily="34" charset="0"/>
                <a:ea typeface="IBM Plex Mono" pitchFamily="34" charset="-122"/>
                <a:cs typeface="IBM Plex Mono" pitchFamily="34" charset="-120"/>
              </a:rPr>
              <a:t>13</a:t>
            </a:r>
            <a:endParaRPr lang="en-US" sz="1800" dirty="0"/>
          </a:p>
        </p:txBody>
      </p:sp>
      <p:sp>
        <p:nvSpPr>
          <p:cNvPr id="3" name="Text 1"/>
          <p:cNvSpPr txBox="1"/>
          <p:nvPr/>
        </p:nvSpPr>
        <p:spPr>
          <a:xfrm>
            <a:off x="1938528" y="722376"/>
            <a:ext cx="9144000" cy="329184"/>
          </a:xfrm>
          <a:prstGeom prst="rect">
            <a:avLst/>
          </a:prstGeom>
          <a:noFill/>
          <a:ln/>
        </p:spPr>
        <p:txBody>
          <a:bodyPr wrap="square" lIns="0" tIns="0" rIns="0" bIns="0" rtlCol="0" anchor="t"/>
          <a:lstStyle/>
          <a:p>
            <a:pPr algn="l" indent="0" marL="0">
              <a:lnSpc>
                <a:spcPct val="108000"/>
              </a:lnSpc>
              <a:buNone/>
            </a:pPr>
            <a:r>
              <a:rPr lang="en-US" sz="1800" dirty="0">
                <a:solidFill>
                  <a:srgbClr val="7C89A3"/>
                </a:solidFill>
                <a:latin typeface="IBM Plex Mono" pitchFamily="34" charset="0"/>
                <a:ea typeface="IBM Plex Mono" pitchFamily="34" charset="-122"/>
                <a:cs typeface="IBM Plex Mono" pitchFamily="34" charset="-120"/>
              </a:rPr>
              <a:t>SELF-AUDIT</a:t>
            </a:r>
            <a:endParaRPr lang="en-US" sz="1800" dirty="0"/>
          </a:p>
        </p:txBody>
      </p:sp>
      <p:sp>
        <p:nvSpPr>
          <p:cNvPr id="4" name="Text 2"/>
          <p:cNvSpPr txBox="1"/>
          <p:nvPr/>
        </p:nvSpPr>
        <p:spPr>
          <a:xfrm>
            <a:off x="987552" y="1170432"/>
            <a:ext cx="16093440" cy="731520"/>
          </a:xfrm>
          <a:prstGeom prst="rect">
            <a:avLst/>
          </a:prstGeom>
          <a:noFill/>
          <a:ln/>
        </p:spPr>
        <p:txBody>
          <a:bodyPr wrap="square" lIns="0" tIns="0" rIns="0" bIns="0" rtlCol="0" anchor="t"/>
          <a:lstStyle/>
          <a:p>
            <a:pPr algn="l" indent="0" marL="0">
              <a:lnSpc>
                <a:spcPct val="108000"/>
              </a:lnSpc>
              <a:buNone/>
            </a:pPr>
            <a:r>
              <a:rPr lang="en-US" sz="4200" dirty="0">
                <a:solidFill>
                  <a:srgbClr val="EAF0FA"/>
                </a:solidFill>
                <a:latin typeface="Space Grotesk" pitchFamily="34" charset="0"/>
                <a:ea typeface="Space Grotesk" pitchFamily="34" charset="-122"/>
                <a:cs typeface="Space Grotesk" pitchFamily="34" charset="-120"/>
              </a:rPr>
              <a:t>Our Durability Score Partly Measures Damage</a:t>
            </a:r>
            <a:endParaRPr lang="en-US" sz="4200" dirty="0"/>
          </a:p>
        </p:txBody>
      </p:sp>
      <p:sp>
        <p:nvSpPr>
          <p:cNvPr id="5" name="Text 3"/>
          <p:cNvSpPr txBox="1"/>
          <p:nvPr/>
        </p:nvSpPr>
        <p:spPr>
          <a:xfrm>
            <a:off x="987552" y="9436608"/>
            <a:ext cx="4572000" cy="329184"/>
          </a:xfrm>
          <a:prstGeom prst="rect">
            <a:avLst/>
          </a:prstGeom>
          <a:noFill/>
          <a:ln/>
        </p:spPr>
        <p:txBody>
          <a:bodyPr wrap="square" lIns="0" tIns="0" rIns="0" bIns="0" rtlCol="0" anchor="t"/>
          <a:lstStyle/>
          <a:p>
            <a:pPr algn="l" indent="0" marL="0">
              <a:lnSpc>
                <a:spcPct val="108000"/>
              </a:lnSpc>
              <a:buNone/>
            </a:pPr>
            <a:r>
              <a:rPr lang="en-US" sz="1600" dirty="0">
                <a:solidFill>
                  <a:srgbClr val="38435C"/>
                </a:solidFill>
                <a:latin typeface="IBM Plex Mono" pitchFamily="34" charset="0"/>
                <a:ea typeface="IBM Plex Mono" pitchFamily="34" charset="-122"/>
                <a:cs typeface="IBM Plex Mono" pitchFamily="34" charset="-120"/>
              </a:rPr>
              <a:t>FORGETBENCH · HRU</a:t>
            </a:r>
            <a:endParaRPr lang="en-US" sz="1600" dirty="0"/>
          </a:p>
        </p:txBody>
      </p:sp>
      <p:sp>
        <p:nvSpPr>
          <p:cNvPr id="6" name="Text 4"/>
          <p:cNvSpPr txBox="1"/>
          <p:nvPr/>
        </p:nvSpPr>
        <p:spPr>
          <a:xfrm>
            <a:off x="12710160" y="9436608"/>
            <a:ext cx="4572000" cy="329184"/>
          </a:xfrm>
          <a:prstGeom prst="rect">
            <a:avLst/>
          </a:prstGeom>
          <a:noFill/>
          <a:ln/>
        </p:spPr>
        <p:txBody>
          <a:bodyPr wrap="square" lIns="0" tIns="0" rIns="0" bIns="0" rtlCol="0" anchor="t"/>
          <a:lstStyle/>
          <a:p>
            <a:pPr algn="r" indent="0" marL="0">
              <a:lnSpc>
                <a:spcPct val="108000"/>
              </a:lnSpc>
              <a:buNone/>
            </a:pPr>
            <a:r>
              <a:rPr lang="en-US" sz="1600" dirty="0">
                <a:solidFill>
                  <a:srgbClr val="38435C"/>
                </a:solidFill>
                <a:latin typeface="IBM Plex Mono" pitchFamily="34" charset="0"/>
                <a:ea typeface="IBM Plex Mono" pitchFamily="34" charset="-122"/>
                <a:cs typeface="IBM Plex Mono" pitchFamily="34" charset="-120"/>
              </a:rPr>
              <a:t>WOXSEN UNIVERSITY</a:t>
            </a:r>
            <a:endParaRPr lang="en-US" sz="1600" dirty="0"/>
          </a:p>
        </p:txBody>
      </p:sp>
      <p:sp>
        <p:nvSpPr>
          <p:cNvPr id="7" name="Text 5"/>
          <p:cNvSpPr txBox="1"/>
          <p:nvPr/>
        </p:nvSpPr>
        <p:spPr>
          <a:xfrm>
            <a:off x="987552" y="2194560"/>
            <a:ext cx="10058400" cy="411480"/>
          </a:xfrm>
          <a:prstGeom prst="rect">
            <a:avLst/>
          </a:prstGeom>
          <a:noFill/>
          <a:ln/>
        </p:spPr>
        <p:txBody>
          <a:bodyPr wrap="square" lIns="0" tIns="0" rIns="0" bIns="0" rtlCol="0" anchor="t"/>
          <a:lstStyle/>
          <a:p>
            <a:pPr algn="l" indent="0" marL="0">
              <a:lnSpc>
                <a:spcPct val="108000"/>
              </a:lnSpc>
              <a:buNone/>
            </a:pPr>
            <a:r>
              <a:rPr lang="en-US" sz="2200" dirty="0">
                <a:solidFill>
                  <a:srgbClr val="EAF0FA"/>
                </a:solidFill>
                <a:latin typeface="Space Grotesk" pitchFamily="34" charset="0"/>
                <a:ea typeface="Space Grotesk" pitchFamily="34" charset="-122"/>
                <a:cs typeface="Space Grotesk" pitchFamily="34" charset="-120"/>
              </a:rPr>
              <a:t>The most durable arms are the most damaged ones</a:t>
            </a:r>
            <a:endParaRPr lang="en-US" sz="2200" dirty="0"/>
          </a:p>
        </p:txBody>
      </p:sp>
      <p:sp>
        <p:nvSpPr>
          <p:cNvPr id="8" name="Text 6"/>
          <p:cNvSpPr txBox="1"/>
          <p:nvPr/>
        </p:nvSpPr>
        <p:spPr>
          <a:xfrm>
            <a:off x="987552" y="2606040"/>
            <a:ext cx="10058400" cy="320040"/>
          </a:xfrm>
          <a:prstGeom prst="rect">
            <a:avLst/>
          </a:prstGeom>
          <a:noFill/>
          <a:ln/>
        </p:spPr>
        <p:txBody>
          <a:bodyPr wrap="square" lIns="0" tIns="0" rIns="0" bIns="0" rtlCol="0" anchor="t"/>
          <a:lstStyle/>
          <a:p>
            <a:pPr algn="l" indent="0" marL="0">
              <a:lnSpc>
                <a:spcPct val="108000"/>
              </a:lnSpc>
              <a:buNone/>
            </a:pPr>
            <a:r>
              <a:rPr lang="en-US" sz="1500" dirty="0">
                <a:solidFill>
                  <a:srgbClr val="7C89A3"/>
                </a:solidFill>
                <a:latin typeface="IBM Plex Sans" pitchFamily="34" charset="0"/>
                <a:ea typeface="IBM Plex Sans" pitchFamily="34" charset="-122"/>
                <a:cs typeface="IBM Plex Sans" pitchFamily="34" charset="-120"/>
              </a:rPr>
              <a:t>Correlation r = +0.88 across 12 arms</a:t>
            </a:r>
            <a:endParaRPr lang="en-US" sz="1500" dirty="0"/>
          </a:p>
        </p:txBody>
      </p:sp>
      <p:sp>
        <p:nvSpPr>
          <p:cNvPr id="9" name="Shape 7"/>
          <p:cNvSpPr/>
          <p:nvPr/>
        </p:nvSpPr>
        <p:spPr>
          <a:xfrm>
            <a:off x="1828800" y="7523018"/>
            <a:ext cx="8778240" cy="0"/>
          </a:xfrm>
          <a:prstGeom prst="line">
            <a:avLst/>
          </a:prstGeom>
          <a:noFill/>
          <a:ln w="9525">
            <a:solidFill>
              <a:srgbClr val="38435C"/>
            </a:solidFill>
            <a:prstDash val="solid"/>
          </a:ln>
        </p:spPr>
      </p:sp>
      <p:sp>
        <p:nvSpPr>
          <p:cNvPr id="10" name="Text 8"/>
          <p:cNvSpPr txBox="1"/>
          <p:nvPr/>
        </p:nvSpPr>
        <p:spPr>
          <a:xfrm>
            <a:off x="1143000" y="7367570"/>
            <a:ext cx="548640" cy="310896"/>
          </a:xfrm>
          <a:prstGeom prst="rect">
            <a:avLst/>
          </a:prstGeom>
          <a:noFill/>
          <a:ln/>
        </p:spPr>
        <p:txBody>
          <a:bodyPr wrap="square" lIns="0" tIns="0" rIns="0" bIns="0" rtlCol="0" anchor="t"/>
          <a:lstStyle/>
          <a:p>
            <a:pPr algn="r" indent="0" marL="0">
              <a:lnSpc>
                <a:spcPct val="108000"/>
              </a:lnSpc>
              <a:buNone/>
            </a:pPr>
            <a:r>
              <a:rPr lang="en-US" sz="1200" dirty="0">
                <a:solidFill>
                  <a:srgbClr val="7C89A3"/>
                </a:solidFill>
                <a:latin typeface="IBM Plex Mono" pitchFamily="34" charset="0"/>
                <a:ea typeface="IBM Plex Mono" pitchFamily="34" charset="-122"/>
                <a:cs typeface="IBM Plex Mono" pitchFamily="34" charset="-120"/>
              </a:rPr>
              <a:t>-1.2</a:t>
            </a:r>
            <a:endParaRPr lang="en-US" sz="1200" dirty="0"/>
          </a:p>
        </p:txBody>
      </p:sp>
      <p:sp>
        <p:nvSpPr>
          <p:cNvPr id="11" name="Shape 9"/>
          <p:cNvSpPr/>
          <p:nvPr/>
        </p:nvSpPr>
        <p:spPr>
          <a:xfrm>
            <a:off x="1828800" y="6188825"/>
            <a:ext cx="8778240" cy="0"/>
          </a:xfrm>
          <a:prstGeom prst="line">
            <a:avLst/>
          </a:prstGeom>
          <a:noFill/>
          <a:ln w="9525">
            <a:solidFill>
              <a:srgbClr val="38435C"/>
            </a:solidFill>
            <a:prstDash val="solid"/>
          </a:ln>
        </p:spPr>
      </p:sp>
      <p:sp>
        <p:nvSpPr>
          <p:cNvPr id="12" name="Text 10"/>
          <p:cNvSpPr txBox="1"/>
          <p:nvPr/>
        </p:nvSpPr>
        <p:spPr>
          <a:xfrm>
            <a:off x="1143000" y="6033377"/>
            <a:ext cx="548640" cy="310896"/>
          </a:xfrm>
          <a:prstGeom prst="rect">
            <a:avLst/>
          </a:prstGeom>
          <a:noFill/>
          <a:ln/>
        </p:spPr>
        <p:txBody>
          <a:bodyPr wrap="square" lIns="0" tIns="0" rIns="0" bIns="0" rtlCol="0" anchor="t"/>
          <a:lstStyle/>
          <a:p>
            <a:pPr algn="r" indent="0" marL="0">
              <a:lnSpc>
                <a:spcPct val="108000"/>
              </a:lnSpc>
              <a:buNone/>
            </a:pPr>
            <a:r>
              <a:rPr lang="en-US" sz="1200" dirty="0">
                <a:solidFill>
                  <a:srgbClr val="7C89A3"/>
                </a:solidFill>
                <a:latin typeface="IBM Plex Mono" pitchFamily="34" charset="0"/>
                <a:ea typeface="IBM Plex Mono" pitchFamily="34" charset="-122"/>
                <a:cs typeface="IBM Plex Mono" pitchFamily="34" charset="-120"/>
              </a:rPr>
              <a:t>-0.9</a:t>
            </a:r>
            <a:endParaRPr lang="en-US" sz="1200" dirty="0"/>
          </a:p>
        </p:txBody>
      </p:sp>
      <p:sp>
        <p:nvSpPr>
          <p:cNvPr id="13" name="Shape 11"/>
          <p:cNvSpPr/>
          <p:nvPr/>
        </p:nvSpPr>
        <p:spPr>
          <a:xfrm>
            <a:off x="1828800" y="4854633"/>
            <a:ext cx="8778240" cy="0"/>
          </a:xfrm>
          <a:prstGeom prst="line">
            <a:avLst/>
          </a:prstGeom>
          <a:noFill/>
          <a:ln w="9525">
            <a:solidFill>
              <a:srgbClr val="38435C"/>
            </a:solidFill>
            <a:prstDash val="solid"/>
          </a:ln>
        </p:spPr>
      </p:sp>
      <p:sp>
        <p:nvSpPr>
          <p:cNvPr id="14" name="Text 12"/>
          <p:cNvSpPr txBox="1"/>
          <p:nvPr/>
        </p:nvSpPr>
        <p:spPr>
          <a:xfrm>
            <a:off x="1143000" y="4699185"/>
            <a:ext cx="548640" cy="310896"/>
          </a:xfrm>
          <a:prstGeom prst="rect">
            <a:avLst/>
          </a:prstGeom>
          <a:noFill/>
          <a:ln/>
        </p:spPr>
        <p:txBody>
          <a:bodyPr wrap="square" lIns="0" tIns="0" rIns="0" bIns="0" rtlCol="0" anchor="t"/>
          <a:lstStyle/>
          <a:p>
            <a:pPr algn="r" indent="0" marL="0">
              <a:lnSpc>
                <a:spcPct val="108000"/>
              </a:lnSpc>
              <a:buNone/>
            </a:pPr>
            <a:r>
              <a:rPr lang="en-US" sz="1200" dirty="0">
                <a:solidFill>
                  <a:srgbClr val="7C89A3"/>
                </a:solidFill>
                <a:latin typeface="IBM Plex Mono" pitchFamily="34" charset="0"/>
                <a:ea typeface="IBM Plex Mono" pitchFamily="34" charset="-122"/>
                <a:cs typeface="IBM Plex Mono" pitchFamily="34" charset="-120"/>
              </a:rPr>
              <a:t>-0.6</a:t>
            </a:r>
            <a:endParaRPr lang="en-US" sz="1200" dirty="0"/>
          </a:p>
        </p:txBody>
      </p:sp>
      <p:sp>
        <p:nvSpPr>
          <p:cNvPr id="15" name="Shape 13"/>
          <p:cNvSpPr/>
          <p:nvPr/>
        </p:nvSpPr>
        <p:spPr>
          <a:xfrm>
            <a:off x="1828800" y="8412480"/>
            <a:ext cx="8778240" cy="0"/>
          </a:xfrm>
          <a:prstGeom prst="line">
            <a:avLst/>
          </a:prstGeom>
          <a:noFill/>
          <a:ln w="12700">
            <a:solidFill>
              <a:srgbClr val="7C89A3"/>
            </a:solidFill>
            <a:prstDash val="solid"/>
          </a:ln>
        </p:spPr>
      </p:sp>
      <p:sp>
        <p:nvSpPr>
          <p:cNvPr id="16" name="Text 14"/>
          <p:cNvSpPr txBox="1"/>
          <p:nvPr/>
        </p:nvSpPr>
        <p:spPr>
          <a:xfrm>
            <a:off x="3012141" y="8485632"/>
            <a:ext cx="731520" cy="274320"/>
          </a:xfrm>
          <a:prstGeom prst="rect">
            <a:avLst/>
          </a:prstGeom>
          <a:noFill/>
          <a:ln/>
        </p:spPr>
        <p:txBody>
          <a:bodyPr wrap="square" lIns="0" tIns="0" rIns="0" bIns="0" rtlCol="0" anchor="t"/>
          <a:lstStyle/>
          <a:p>
            <a:pPr algn="ctr" indent="0" marL="0">
              <a:lnSpc>
                <a:spcPct val="108000"/>
              </a:lnSpc>
              <a:buNone/>
            </a:pPr>
            <a:r>
              <a:rPr lang="en-US" sz="1200" dirty="0">
                <a:solidFill>
                  <a:srgbClr val="7C89A3"/>
                </a:solidFill>
                <a:latin typeface="IBM Plex Mono" pitchFamily="34" charset="0"/>
                <a:ea typeface="IBM Plex Mono" pitchFamily="34" charset="-122"/>
                <a:cs typeface="IBM Plex Mono" pitchFamily="34" charset="-120"/>
              </a:rPr>
              <a:t>-1.5</a:t>
            </a:r>
            <a:endParaRPr lang="en-US" sz="1200" dirty="0"/>
          </a:p>
        </p:txBody>
      </p:sp>
      <p:sp>
        <p:nvSpPr>
          <p:cNvPr id="17" name="Text 15"/>
          <p:cNvSpPr txBox="1"/>
          <p:nvPr/>
        </p:nvSpPr>
        <p:spPr>
          <a:xfrm>
            <a:off x="5593976" y="8485632"/>
            <a:ext cx="731520" cy="274320"/>
          </a:xfrm>
          <a:prstGeom prst="rect">
            <a:avLst/>
          </a:prstGeom>
          <a:noFill/>
          <a:ln/>
        </p:spPr>
        <p:txBody>
          <a:bodyPr wrap="square" lIns="0" tIns="0" rIns="0" bIns="0" rtlCol="0" anchor="t"/>
          <a:lstStyle/>
          <a:p>
            <a:pPr algn="ctr" indent="0" marL="0">
              <a:lnSpc>
                <a:spcPct val="108000"/>
              </a:lnSpc>
              <a:buNone/>
            </a:pPr>
            <a:r>
              <a:rPr lang="en-US" sz="1200" dirty="0">
                <a:solidFill>
                  <a:srgbClr val="7C89A3"/>
                </a:solidFill>
                <a:latin typeface="IBM Plex Mono" pitchFamily="34" charset="0"/>
                <a:ea typeface="IBM Plex Mono" pitchFamily="34" charset="-122"/>
                <a:cs typeface="IBM Plex Mono" pitchFamily="34" charset="-120"/>
              </a:rPr>
              <a:t>-1.0</a:t>
            </a:r>
            <a:endParaRPr lang="en-US" sz="1200" dirty="0"/>
          </a:p>
        </p:txBody>
      </p:sp>
      <p:sp>
        <p:nvSpPr>
          <p:cNvPr id="18" name="Text 16"/>
          <p:cNvSpPr txBox="1"/>
          <p:nvPr/>
        </p:nvSpPr>
        <p:spPr>
          <a:xfrm>
            <a:off x="8175812" y="8485632"/>
            <a:ext cx="731520" cy="274320"/>
          </a:xfrm>
          <a:prstGeom prst="rect">
            <a:avLst/>
          </a:prstGeom>
          <a:noFill/>
          <a:ln/>
        </p:spPr>
        <p:txBody>
          <a:bodyPr wrap="square" lIns="0" tIns="0" rIns="0" bIns="0" rtlCol="0" anchor="t"/>
          <a:lstStyle/>
          <a:p>
            <a:pPr algn="ctr" indent="0" marL="0">
              <a:lnSpc>
                <a:spcPct val="108000"/>
              </a:lnSpc>
              <a:buNone/>
            </a:pPr>
            <a:r>
              <a:rPr lang="en-US" sz="1200" dirty="0">
                <a:solidFill>
                  <a:srgbClr val="7C89A3"/>
                </a:solidFill>
                <a:latin typeface="IBM Plex Mono" pitchFamily="34" charset="0"/>
                <a:ea typeface="IBM Plex Mono" pitchFamily="34" charset="-122"/>
                <a:cs typeface="IBM Plex Mono" pitchFamily="34" charset="-120"/>
              </a:rPr>
              <a:t>-0.5</a:t>
            </a:r>
            <a:endParaRPr lang="en-US" sz="1200" dirty="0"/>
          </a:p>
        </p:txBody>
      </p:sp>
      <p:sp>
        <p:nvSpPr>
          <p:cNvPr id="19" name="Text 17"/>
          <p:cNvSpPr txBox="1"/>
          <p:nvPr/>
        </p:nvSpPr>
        <p:spPr>
          <a:xfrm>
            <a:off x="1828800" y="8823960"/>
            <a:ext cx="8778240" cy="320040"/>
          </a:xfrm>
          <a:prstGeom prst="rect">
            <a:avLst/>
          </a:prstGeom>
          <a:noFill/>
          <a:ln/>
        </p:spPr>
        <p:txBody>
          <a:bodyPr wrap="square" lIns="0" tIns="0" rIns="0" bIns="0" rtlCol="0" anchor="t"/>
          <a:lstStyle/>
          <a:p>
            <a:pPr algn="ctr" indent="0" marL="0">
              <a:lnSpc>
                <a:spcPct val="108000"/>
              </a:lnSpc>
              <a:buNone/>
            </a:pPr>
            <a:r>
              <a:rPr lang="en-US" sz="1350" dirty="0">
                <a:solidFill>
                  <a:srgbClr val="7C89A3"/>
                </a:solidFill>
                <a:latin typeface="IBM Plex Sans" pitchFamily="34" charset="0"/>
                <a:ea typeface="IBM Plex Sans" pitchFamily="34" charset="-122"/>
                <a:cs typeface="IBM Plex Sans" pitchFamily="34" charset="-120"/>
              </a:rPr>
              <a:t>Retain log-prob  (further left = more damage to the model)</a:t>
            </a:r>
            <a:endParaRPr lang="en-US" sz="1350" dirty="0"/>
          </a:p>
        </p:txBody>
      </p:sp>
      <p:sp>
        <p:nvSpPr>
          <p:cNvPr id="20" name="Text 18"/>
          <p:cNvSpPr txBox="1"/>
          <p:nvPr/>
        </p:nvSpPr>
        <p:spPr>
          <a:xfrm>
            <a:off x="1143000" y="3063240"/>
            <a:ext cx="6400800" cy="310896"/>
          </a:xfrm>
          <a:prstGeom prst="rect">
            <a:avLst/>
          </a:prstGeom>
          <a:noFill/>
          <a:ln/>
        </p:spPr>
        <p:txBody>
          <a:bodyPr wrap="square" lIns="0" tIns="0" rIns="0" bIns="0" rtlCol="0" anchor="t"/>
          <a:lstStyle/>
          <a:p>
            <a:pPr algn="l" indent="0" marL="0">
              <a:lnSpc>
                <a:spcPct val="108000"/>
              </a:lnSpc>
              <a:buNone/>
            </a:pPr>
            <a:r>
              <a:rPr lang="en-US" sz="1350" dirty="0">
                <a:solidFill>
                  <a:srgbClr val="7C89A3"/>
                </a:solidFill>
                <a:latin typeface="IBM Plex Sans" pitchFamily="34" charset="0"/>
                <a:ea typeface="IBM Plex Sans" pitchFamily="34" charset="-122"/>
                <a:cs typeface="IBM Plex Sans" pitchFamily="34" charset="-120"/>
              </a:rPr>
              <a:t>↑ Durability after attack  (lower = more durable)</a:t>
            </a:r>
            <a:endParaRPr lang="en-US" sz="1350" dirty="0"/>
          </a:p>
        </p:txBody>
      </p:sp>
      <p:sp>
        <p:nvSpPr>
          <p:cNvPr id="21" name="Shape 19"/>
          <p:cNvSpPr/>
          <p:nvPr/>
        </p:nvSpPr>
        <p:spPr>
          <a:xfrm flipV="1">
            <a:off x="2386476" y="3777886"/>
            <a:ext cx="7518304" cy="3325455"/>
          </a:xfrm>
          <a:prstGeom prst="line">
            <a:avLst/>
          </a:prstGeom>
          <a:noFill/>
          <a:ln w="15875">
            <a:solidFill>
              <a:srgbClr val="7C89A3"/>
            </a:solidFill>
            <a:prstDash val="dash"/>
          </a:ln>
        </p:spPr>
      </p:sp>
      <p:sp>
        <p:nvSpPr>
          <p:cNvPr id="22" name="Text 20"/>
          <p:cNvSpPr txBox="1"/>
          <p:nvPr/>
        </p:nvSpPr>
        <p:spPr>
          <a:xfrm>
            <a:off x="6400800" y="8001000"/>
            <a:ext cx="4114800" cy="292608"/>
          </a:xfrm>
          <a:prstGeom prst="rect">
            <a:avLst/>
          </a:prstGeom>
          <a:noFill/>
          <a:ln/>
        </p:spPr>
        <p:txBody>
          <a:bodyPr wrap="square" lIns="0" tIns="0" rIns="0" bIns="0" rtlCol="0" anchor="t"/>
          <a:lstStyle/>
          <a:p>
            <a:pPr algn="r" indent="0" marL="0">
              <a:lnSpc>
                <a:spcPct val="108000"/>
              </a:lnSpc>
              <a:buNone/>
            </a:pPr>
            <a:r>
              <a:rPr lang="en-US" sz="1250" dirty="0">
                <a:solidFill>
                  <a:srgbClr val="7C89A3"/>
                </a:solidFill>
                <a:latin typeface="IBM Plex Sans" pitchFamily="34" charset="0"/>
                <a:ea typeface="IBM Plex Sans" pitchFamily="34" charset="-122"/>
                <a:cs typeface="IBM Plex Sans" pitchFamily="34" charset="-120"/>
              </a:rPr>
              <a:t>Dashed: least-squares fit across all arms</a:t>
            </a:r>
            <a:endParaRPr lang="en-US" sz="1250" dirty="0"/>
          </a:p>
        </p:txBody>
      </p:sp>
      <p:sp>
        <p:nvSpPr>
          <p:cNvPr id="23" name="Shape 21"/>
          <p:cNvSpPr/>
          <p:nvPr/>
        </p:nvSpPr>
        <p:spPr>
          <a:xfrm>
            <a:off x="9804197" y="4673997"/>
            <a:ext cx="201168" cy="201168"/>
          </a:xfrm>
          <a:prstGeom prst="ellipse">
            <a:avLst/>
          </a:prstGeom>
          <a:solidFill>
            <a:srgbClr val="7C89A3"/>
          </a:solidFill>
          <a:ln w="12700">
            <a:solidFill>
              <a:srgbClr val="7C89A3"/>
            </a:solidFill>
            <a:prstDash val="solid"/>
          </a:ln>
        </p:spPr>
      </p:sp>
      <p:sp>
        <p:nvSpPr>
          <p:cNvPr id="24" name="Text 22"/>
          <p:cNvSpPr txBox="1"/>
          <p:nvPr/>
        </p:nvSpPr>
        <p:spPr>
          <a:xfrm>
            <a:off x="7298741" y="4591701"/>
            <a:ext cx="2377440" cy="365760"/>
          </a:xfrm>
          <a:prstGeom prst="rect">
            <a:avLst/>
          </a:prstGeom>
          <a:noFill/>
          <a:ln/>
        </p:spPr>
        <p:txBody>
          <a:bodyPr wrap="square" lIns="0" tIns="0" rIns="0" bIns="0" rtlCol="0" anchor="t"/>
          <a:lstStyle/>
          <a:p>
            <a:pPr algn="r" indent="0" marL="0">
              <a:lnSpc>
                <a:spcPct val="108000"/>
              </a:lnSpc>
              <a:buNone/>
            </a:pPr>
            <a:r>
              <a:rPr lang="en-US" sz="1500" dirty="0">
                <a:solidFill>
                  <a:srgbClr val="EAF0FA"/>
                </a:solidFill>
                <a:latin typeface="IBM Plex Sans" pitchFamily="34" charset="0"/>
                <a:ea typeface="IBM Plex Sans" pitchFamily="34" charset="-122"/>
                <a:cs typeface="IBM Plex Sans" pitchFamily="34" charset="-120"/>
              </a:rPr>
              <a:t>Full retrain</a:t>
            </a:r>
            <a:endParaRPr lang="en-US" sz="1500" dirty="0"/>
          </a:p>
        </p:txBody>
      </p:sp>
      <p:sp>
        <p:nvSpPr>
          <p:cNvPr id="25" name="Shape 23"/>
          <p:cNvSpPr/>
          <p:nvPr/>
        </p:nvSpPr>
        <p:spPr>
          <a:xfrm>
            <a:off x="9008992" y="3775641"/>
            <a:ext cx="201168" cy="201168"/>
          </a:xfrm>
          <a:prstGeom prst="ellipse">
            <a:avLst/>
          </a:prstGeom>
          <a:solidFill>
            <a:srgbClr val="7C89A3"/>
          </a:solidFill>
          <a:ln w="12700">
            <a:solidFill>
              <a:srgbClr val="7C89A3"/>
            </a:solidFill>
            <a:prstDash val="solid"/>
          </a:ln>
        </p:spPr>
      </p:sp>
      <p:sp>
        <p:nvSpPr>
          <p:cNvPr id="26" name="Shape 24"/>
          <p:cNvSpPr/>
          <p:nvPr/>
        </p:nvSpPr>
        <p:spPr>
          <a:xfrm>
            <a:off x="8652698" y="4118084"/>
            <a:ext cx="201168" cy="201168"/>
          </a:xfrm>
          <a:prstGeom prst="ellipse">
            <a:avLst/>
          </a:prstGeom>
          <a:solidFill>
            <a:srgbClr val="7C89A3"/>
          </a:solidFill>
          <a:ln w="12700">
            <a:solidFill>
              <a:srgbClr val="7C89A3"/>
            </a:solidFill>
            <a:prstDash val="solid"/>
          </a:ln>
        </p:spPr>
      </p:sp>
      <p:sp>
        <p:nvSpPr>
          <p:cNvPr id="27" name="Shape 25"/>
          <p:cNvSpPr/>
          <p:nvPr/>
        </p:nvSpPr>
        <p:spPr>
          <a:xfrm>
            <a:off x="3685247" y="6924336"/>
            <a:ext cx="201168" cy="201168"/>
          </a:xfrm>
          <a:prstGeom prst="ellipse">
            <a:avLst/>
          </a:prstGeom>
          <a:solidFill>
            <a:srgbClr val="7C89A3"/>
          </a:solidFill>
          <a:ln w="12700">
            <a:solidFill>
              <a:srgbClr val="7C89A3"/>
            </a:solidFill>
            <a:prstDash val="solid"/>
          </a:ln>
        </p:spPr>
      </p:sp>
      <p:sp>
        <p:nvSpPr>
          <p:cNvPr id="28" name="Text 26"/>
          <p:cNvSpPr txBox="1"/>
          <p:nvPr/>
        </p:nvSpPr>
        <p:spPr>
          <a:xfrm>
            <a:off x="4014431" y="6842040"/>
            <a:ext cx="2377440" cy="365760"/>
          </a:xfrm>
          <a:prstGeom prst="rect">
            <a:avLst/>
          </a:prstGeom>
          <a:noFill/>
          <a:ln/>
        </p:spPr>
        <p:txBody>
          <a:bodyPr wrap="square" lIns="0" tIns="0" rIns="0" bIns="0" rtlCol="0" anchor="t"/>
          <a:lstStyle/>
          <a:p>
            <a:pPr algn="l" indent="0" marL="0">
              <a:lnSpc>
                <a:spcPct val="108000"/>
              </a:lnSpc>
              <a:buNone/>
            </a:pPr>
            <a:r>
              <a:rPr lang="en-US" sz="1500" dirty="0">
                <a:solidFill>
                  <a:srgbClr val="EAF0FA"/>
                </a:solidFill>
                <a:latin typeface="IBM Plex Sans" pitchFamily="34" charset="0"/>
                <a:ea typeface="IBM Plex Sans" pitchFamily="34" charset="-122"/>
                <a:cs typeface="IBM Plex Sans" pitchFamily="34" charset="-120"/>
              </a:rPr>
              <a:t>Gradient ascent</a:t>
            </a:r>
            <a:endParaRPr lang="en-US" sz="1500" dirty="0"/>
          </a:p>
        </p:txBody>
      </p:sp>
      <p:sp>
        <p:nvSpPr>
          <p:cNvPr id="29" name="Shape 27"/>
          <p:cNvSpPr/>
          <p:nvPr/>
        </p:nvSpPr>
        <p:spPr>
          <a:xfrm>
            <a:off x="2791932" y="5474513"/>
            <a:ext cx="201168" cy="201168"/>
          </a:xfrm>
          <a:prstGeom prst="ellipse">
            <a:avLst/>
          </a:prstGeom>
          <a:solidFill>
            <a:srgbClr val="7C89A3"/>
          </a:solidFill>
          <a:ln w="12700">
            <a:solidFill>
              <a:srgbClr val="7C89A3"/>
            </a:solidFill>
            <a:prstDash val="solid"/>
          </a:ln>
        </p:spPr>
      </p:sp>
      <p:sp>
        <p:nvSpPr>
          <p:cNvPr id="30" name="Text 28"/>
          <p:cNvSpPr txBox="1"/>
          <p:nvPr/>
        </p:nvSpPr>
        <p:spPr>
          <a:xfrm>
            <a:off x="3121116" y="5392217"/>
            <a:ext cx="2377440" cy="365760"/>
          </a:xfrm>
          <a:prstGeom prst="rect">
            <a:avLst/>
          </a:prstGeom>
          <a:noFill/>
          <a:ln/>
        </p:spPr>
        <p:txBody>
          <a:bodyPr wrap="square" lIns="0" tIns="0" rIns="0" bIns="0" rtlCol="0" anchor="t"/>
          <a:lstStyle/>
          <a:p>
            <a:pPr algn="l" indent="0" marL="0">
              <a:lnSpc>
                <a:spcPct val="108000"/>
              </a:lnSpc>
              <a:buNone/>
            </a:pPr>
            <a:r>
              <a:rPr lang="en-US" sz="1500" dirty="0">
                <a:solidFill>
                  <a:srgbClr val="EAF0FA"/>
                </a:solidFill>
                <a:latin typeface="IBM Plex Sans" pitchFamily="34" charset="0"/>
                <a:ea typeface="IBM Plex Sans" pitchFamily="34" charset="-122"/>
                <a:cs typeface="IBM Plex Sans" pitchFamily="34" charset="-120"/>
              </a:rPr>
              <a:t>NPO</a:t>
            </a:r>
            <a:endParaRPr lang="en-US" sz="1500" dirty="0"/>
          </a:p>
        </p:txBody>
      </p:sp>
      <p:sp>
        <p:nvSpPr>
          <p:cNvPr id="31" name="Shape 29"/>
          <p:cNvSpPr/>
          <p:nvPr/>
        </p:nvSpPr>
        <p:spPr>
          <a:xfrm>
            <a:off x="8038221" y="4086952"/>
            <a:ext cx="201168" cy="201168"/>
          </a:xfrm>
          <a:prstGeom prst="ellipse">
            <a:avLst/>
          </a:prstGeom>
          <a:solidFill>
            <a:srgbClr val="7C89A3"/>
          </a:solidFill>
          <a:ln w="12700">
            <a:solidFill>
              <a:srgbClr val="7C89A3"/>
            </a:solidFill>
            <a:prstDash val="solid"/>
          </a:ln>
        </p:spPr>
      </p:sp>
      <p:sp>
        <p:nvSpPr>
          <p:cNvPr id="32" name="Shape 30"/>
          <p:cNvSpPr/>
          <p:nvPr/>
        </p:nvSpPr>
        <p:spPr>
          <a:xfrm>
            <a:off x="8523606" y="4126978"/>
            <a:ext cx="201168" cy="201168"/>
          </a:xfrm>
          <a:prstGeom prst="ellipse">
            <a:avLst/>
          </a:prstGeom>
          <a:solidFill>
            <a:srgbClr val="7C89A3"/>
          </a:solidFill>
          <a:ln w="12700">
            <a:solidFill>
              <a:srgbClr val="7C89A3"/>
            </a:solidFill>
            <a:prstDash val="solid"/>
          </a:ln>
        </p:spPr>
      </p:sp>
      <p:sp>
        <p:nvSpPr>
          <p:cNvPr id="33" name="Shape 31"/>
          <p:cNvSpPr/>
          <p:nvPr/>
        </p:nvSpPr>
        <p:spPr>
          <a:xfrm>
            <a:off x="8730153" y="3953533"/>
            <a:ext cx="201168" cy="201168"/>
          </a:xfrm>
          <a:prstGeom prst="ellipse">
            <a:avLst/>
          </a:prstGeom>
          <a:solidFill>
            <a:srgbClr val="7C89A3"/>
          </a:solidFill>
          <a:ln w="12700">
            <a:solidFill>
              <a:srgbClr val="7C89A3"/>
            </a:solidFill>
            <a:prstDash val="solid"/>
          </a:ln>
        </p:spPr>
      </p:sp>
      <p:sp>
        <p:nvSpPr>
          <p:cNvPr id="34" name="Shape 32"/>
          <p:cNvSpPr/>
          <p:nvPr/>
        </p:nvSpPr>
        <p:spPr>
          <a:xfrm>
            <a:off x="2231028" y="7852327"/>
            <a:ext cx="310896" cy="310896"/>
          </a:xfrm>
          <a:prstGeom prst="ellipse">
            <a:avLst/>
          </a:prstGeom>
          <a:solidFill>
            <a:srgbClr val="2DD4BF"/>
          </a:solidFill>
          <a:ln w="12700">
            <a:solidFill>
              <a:srgbClr val="2DD4BF"/>
            </a:solidFill>
            <a:prstDash val="solid"/>
          </a:ln>
        </p:spPr>
      </p:sp>
      <p:sp>
        <p:nvSpPr>
          <p:cNvPr id="35" name="Text 33"/>
          <p:cNvSpPr txBox="1"/>
          <p:nvPr/>
        </p:nvSpPr>
        <p:spPr>
          <a:xfrm>
            <a:off x="2615076" y="7824895"/>
            <a:ext cx="2377440" cy="365760"/>
          </a:xfrm>
          <a:prstGeom prst="rect">
            <a:avLst/>
          </a:prstGeom>
          <a:noFill/>
          <a:ln/>
        </p:spPr>
        <p:txBody>
          <a:bodyPr wrap="square" lIns="0" tIns="0" rIns="0" bIns="0" rtlCol="0" anchor="t"/>
          <a:lstStyle/>
          <a:p>
            <a:pPr algn="l" indent="0" marL="0">
              <a:lnSpc>
                <a:spcPct val="108000"/>
              </a:lnSpc>
              <a:buNone/>
            </a:pPr>
            <a:r>
              <a:rPr lang="en-US" sz="1500" b="1" dirty="0">
                <a:solidFill>
                  <a:srgbClr val="2DD4BF"/>
                </a:solidFill>
                <a:latin typeface="IBM Plex Sans" pitchFamily="34" charset="0"/>
                <a:ea typeface="IBM Plex Sans" pitchFamily="34" charset="-122"/>
                <a:cs typeface="IBM Plex Sans" pitchFamily="34" charset="-120"/>
              </a:rPr>
              <a:t>HRU (unsharded)</a:t>
            </a:r>
            <a:endParaRPr lang="en-US" sz="1500" dirty="0"/>
          </a:p>
        </p:txBody>
      </p:sp>
      <p:sp>
        <p:nvSpPr>
          <p:cNvPr id="36" name="Shape 34"/>
          <p:cNvSpPr/>
          <p:nvPr/>
        </p:nvSpPr>
        <p:spPr>
          <a:xfrm>
            <a:off x="8879900" y="3766746"/>
            <a:ext cx="201168" cy="201168"/>
          </a:xfrm>
          <a:prstGeom prst="ellipse">
            <a:avLst/>
          </a:prstGeom>
          <a:solidFill>
            <a:srgbClr val="7C89A3"/>
          </a:solidFill>
          <a:ln w="12700">
            <a:solidFill>
              <a:srgbClr val="7C89A3"/>
            </a:solidFill>
            <a:prstDash val="solid"/>
          </a:ln>
        </p:spPr>
      </p:sp>
      <p:sp>
        <p:nvSpPr>
          <p:cNvPr id="37" name="Shape 35"/>
          <p:cNvSpPr/>
          <p:nvPr/>
        </p:nvSpPr>
        <p:spPr>
          <a:xfrm>
            <a:off x="8647535" y="4038032"/>
            <a:ext cx="201168" cy="201168"/>
          </a:xfrm>
          <a:prstGeom prst="ellipse">
            <a:avLst/>
          </a:prstGeom>
          <a:solidFill>
            <a:srgbClr val="7C89A3"/>
          </a:solidFill>
          <a:ln w="12700">
            <a:solidFill>
              <a:srgbClr val="7C89A3"/>
            </a:solidFill>
            <a:prstDash val="solid"/>
          </a:ln>
        </p:spPr>
      </p:sp>
      <p:sp>
        <p:nvSpPr>
          <p:cNvPr id="38" name="Shape 36"/>
          <p:cNvSpPr/>
          <p:nvPr/>
        </p:nvSpPr>
        <p:spPr>
          <a:xfrm>
            <a:off x="7439236" y="5065360"/>
            <a:ext cx="201168" cy="201168"/>
          </a:xfrm>
          <a:prstGeom prst="ellipse">
            <a:avLst/>
          </a:prstGeom>
          <a:solidFill>
            <a:srgbClr val="7C89A3"/>
          </a:solidFill>
          <a:ln w="12700">
            <a:solidFill>
              <a:srgbClr val="7C89A3"/>
            </a:solidFill>
            <a:prstDash val="solid"/>
          </a:ln>
        </p:spPr>
      </p:sp>
      <p:sp>
        <p:nvSpPr>
          <p:cNvPr id="39" name="Shape 37"/>
          <p:cNvSpPr/>
          <p:nvPr/>
        </p:nvSpPr>
        <p:spPr>
          <a:xfrm>
            <a:off x="11475720" y="2194560"/>
            <a:ext cx="5824728" cy="1965960"/>
          </a:xfrm>
          <a:prstGeom prst="roundRect">
            <a:avLst>
              <a:gd name="adj" fmla="val 3721"/>
            </a:avLst>
          </a:prstGeom>
          <a:solidFill>
            <a:srgbClr val="111B30"/>
          </a:solidFill>
          <a:ln w="12700">
            <a:solidFill>
              <a:srgbClr val="38435C"/>
            </a:solidFill>
            <a:prstDash val="solid"/>
          </a:ln>
        </p:spPr>
      </p:sp>
      <p:sp>
        <p:nvSpPr>
          <p:cNvPr id="40" name="Text 38"/>
          <p:cNvSpPr txBox="1"/>
          <p:nvPr/>
        </p:nvSpPr>
        <p:spPr>
          <a:xfrm>
            <a:off x="11777472" y="2395728"/>
            <a:ext cx="5303520" cy="310896"/>
          </a:xfrm>
          <a:prstGeom prst="rect">
            <a:avLst/>
          </a:prstGeom>
          <a:noFill/>
          <a:ln/>
        </p:spPr>
        <p:txBody>
          <a:bodyPr wrap="square" lIns="0" tIns="0" rIns="0" bIns="0" rtlCol="0" anchor="t"/>
          <a:lstStyle/>
          <a:p>
            <a:pPr algn="l" indent="0" marL="0">
              <a:lnSpc>
                <a:spcPct val="108000"/>
              </a:lnSpc>
              <a:buNone/>
            </a:pPr>
            <a:r>
              <a:rPr lang="en-US" sz="1500" dirty="0">
                <a:solidFill>
                  <a:srgbClr val="7C89A3"/>
                </a:solidFill>
                <a:latin typeface="IBM Plex Mono" pitchFamily="34" charset="0"/>
                <a:ea typeface="IBM Plex Mono" pitchFamily="34" charset="-122"/>
                <a:cs typeface="IBM Plex Mono" pitchFamily="34" charset="-120"/>
              </a:rPr>
              <a:t>1 · THE PROBLEM</a:t>
            </a:r>
            <a:endParaRPr lang="en-US" sz="1500" dirty="0"/>
          </a:p>
        </p:txBody>
      </p:sp>
      <p:sp>
        <p:nvSpPr>
          <p:cNvPr id="41" name="Text 39"/>
          <p:cNvSpPr txBox="1"/>
          <p:nvPr/>
        </p:nvSpPr>
        <p:spPr>
          <a:xfrm>
            <a:off x="11777472" y="2761488"/>
            <a:ext cx="5257800" cy="1325880"/>
          </a:xfrm>
          <a:prstGeom prst="rect">
            <a:avLst/>
          </a:prstGeom>
          <a:noFill/>
          <a:ln/>
        </p:spPr>
        <p:txBody>
          <a:bodyPr wrap="square" lIns="0" tIns="0" rIns="0" bIns="0" rtlCol="0" anchor="t"/>
          <a:lstStyle/>
          <a:p>
            <a:pPr algn="l" indent="0" marL="0">
              <a:lnSpc>
                <a:spcPct val="112000"/>
              </a:lnSpc>
              <a:buNone/>
            </a:pPr>
            <a:r>
              <a:rPr lang="en-US" sz="1550" dirty="0">
                <a:solidFill>
                  <a:srgbClr val="B8C2D6"/>
                </a:solidFill>
                <a:latin typeface="IBM Plex Sans" pitchFamily="34" charset="0"/>
                <a:ea typeface="IBM Plex Sans" pitchFamily="34" charset="-122"/>
                <a:cs typeface="IBM Plex Sans" pitchFamily="34" charset="-120"/>
              </a:rPr>
              <a:t>The score averages the whole answer sentence; only one token is the fact. Suppressing everything scores well.</a:t>
            </a:r>
            <a:endParaRPr lang="en-US" sz="1550" dirty="0"/>
          </a:p>
        </p:txBody>
      </p:sp>
      <p:sp>
        <p:nvSpPr>
          <p:cNvPr id="42" name="Shape 40"/>
          <p:cNvSpPr/>
          <p:nvPr/>
        </p:nvSpPr>
        <p:spPr>
          <a:xfrm>
            <a:off x="11475720" y="4370832"/>
            <a:ext cx="5824728" cy="1965960"/>
          </a:xfrm>
          <a:prstGeom prst="roundRect">
            <a:avLst>
              <a:gd name="adj" fmla="val 3721"/>
            </a:avLst>
          </a:prstGeom>
          <a:solidFill>
            <a:srgbClr val="111B30"/>
          </a:solidFill>
          <a:ln w="12700">
            <a:solidFill>
              <a:srgbClr val="2DD4BF"/>
            </a:solidFill>
            <a:prstDash val="solid"/>
          </a:ln>
        </p:spPr>
      </p:sp>
      <p:sp>
        <p:nvSpPr>
          <p:cNvPr id="43" name="Text 41"/>
          <p:cNvSpPr txBox="1"/>
          <p:nvPr/>
        </p:nvSpPr>
        <p:spPr>
          <a:xfrm>
            <a:off x="11777472" y="4572000"/>
            <a:ext cx="5303520" cy="310896"/>
          </a:xfrm>
          <a:prstGeom prst="rect">
            <a:avLst/>
          </a:prstGeom>
          <a:noFill/>
          <a:ln/>
        </p:spPr>
        <p:txBody>
          <a:bodyPr wrap="square" lIns="0" tIns="0" rIns="0" bIns="0" rtlCol="0" anchor="t"/>
          <a:lstStyle/>
          <a:p>
            <a:pPr algn="l" indent="0" marL="0">
              <a:lnSpc>
                <a:spcPct val="108000"/>
              </a:lnSpc>
              <a:buNone/>
            </a:pPr>
            <a:r>
              <a:rPr lang="en-US" sz="1500" dirty="0">
                <a:solidFill>
                  <a:srgbClr val="2DD4BF"/>
                </a:solidFill>
                <a:latin typeface="IBM Plex Mono" pitchFamily="34" charset="0"/>
                <a:ea typeface="IBM Plex Mono" pitchFamily="34" charset="-122"/>
                <a:cs typeface="IBM Plex Mono" pitchFamily="34" charset="-120"/>
              </a:rPr>
              <a:t>2 · THE FAIR READING</a:t>
            </a:r>
            <a:endParaRPr lang="en-US" sz="1500" dirty="0"/>
          </a:p>
        </p:txBody>
      </p:sp>
      <p:sp>
        <p:nvSpPr>
          <p:cNvPr id="44" name="Text 42"/>
          <p:cNvSpPr txBox="1"/>
          <p:nvPr/>
        </p:nvSpPr>
        <p:spPr>
          <a:xfrm>
            <a:off x="11777472" y="4937760"/>
            <a:ext cx="5257800" cy="1325880"/>
          </a:xfrm>
          <a:prstGeom prst="rect">
            <a:avLst/>
          </a:prstGeom>
          <a:noFill/>
          <a:ln/>
        </p:spPr>
        <p:txBody>
          <a:bodyPr wrap="square" lIns="0" tIns="0" rIns="0" bIns="0" rtlCol="0" anchor="t"/>
          <a:lstStyle/>
          <a:p>
            <a:pPr algn="l" indent="0" marL="0">
              <a:lnSpc>
                <a:spcPct val="112000"/>
              </a:lnSpc>
              <a:buNone/>
            </a:pPr>
            <a:r>
              <a:rPr lang="en-US" sz="1550" dirty="0">
                <a:solidFill>
                  <a:srgbClr val="B8C2D6"/>
                </a:solidFill>
                <a:latin typeface="IBM Plex Sans" pitchFamily="34" charset="0"/>
                <a:ea typeface="IBM Plex Sans" pitchFamily="34" charset="-122"/>
                <a:cs typeface="IBM Plex Sans" pitchFamily="34" charset="-120"/>
              </a:rPr>
              <a:t>HRU sits 0.20 below the trend line — more durable than its damage predicts — second only to full retraining (0.22). NPO sits 0.29 above it, the worst.</a:t>
            </a:r>
            <a:endParaRPr lang="en-US" sz="1550" dirty="0"/>
          </a:p>
        </p:txBody>
      </p:sp>
      <p:sp>
        <p:nvSpPr>
          <p:cNvPr id="45" name="Shape 43"/>
          <p:cNvSpPr/>
          <p:nvPr/>
        </p:nvSpPr>
        <p:spPr>
          <a:xfrm>
            <a:off x="11475720" y="6547104"/>
            <a:ext cx="5824728" cy="1965960"/>
          </a:xfrm>
          <a:prstGeom prst="roundRect">
            <a:avLst>
              <a:gd name="adj" fmla="val 3721"/>
            </a:avLst>
          </a:prstGeom>
          <a:solidFill>
            <a:srgbClr val="111B30"/>
          </a:solidFill>
          <a:ln w="12700">
            <a:solidFill>
              <a:srgbClr val="38435C"/>
            </a:solidFill>
            <a:prstDash val="solid"/>
          </a:ln>
        </p:spPr>
      </p:sp>
      <p:sp>
        <p:nvSpPr>
          <p:cNvPr id="46" name="Text 44"/>
          <p:cNvSpPr txBox="1"/>
          <p:nvPr/>
        </p:nvSpPr>
        <p:spPr>
          <a:xfrm>
            <a:off x="11777472" y="6748272"/>
            <a:ext cx="5303520" cy="310896"/>
          </a:xfrm>
          <a:prstGeom prst="rect">
            <a:avLst/>
          </a:prstGeom>
          <a:noFill/>
          <a:ln/>
        </p:spPr>
        <p:txBody>
          <a:bodyPr wrap="square" lIns="0" tIns="0" rIns="0" bIns="0" rtlCol="0" anchor="t"/>
          <a:lstStyle/>
          <a:p>
            <a:pPr algn="l" indent="0" marL="0">
              <a:lnSpc>
                <a:spcPct val="108000"/>
              </a:lnSpc>
              <a:buNone/>
            </a:pPr>
            <a:r>
              <a:rPr lang="en-US" sz="1500" dirty="0">
                <a:solidFill>
                  <a:srgbClr val="7C89A3"/>
                </a:solidFill>
                <a:latin typeface="IBM Plex Mono" pitchFamily="34" charset="0"/>
                <a:ea typeface="IBM Plex Mono" pitchFamily="34" charset="-122"/>
                <a:cs typeface="IBM Plex Mono" pitchFamily="34" charset="-120"/>
              </a:rPr>
              <a:t>3 · THE FIX</a:t>
            </a:r>
            <a:endParaRPr lang="en-US" sz="1500" dirty="0"/>
          </a:p>
        </p:txBody>
      </p:sp>
      <p:sp>
        <p:nvSpPr>
          <p:cNvPr id="47" name="Text 45"/>
          <p:cNvSpPr txBox="1"/>
          <p:nvPr/>
        </p:nvSpPr>
        <p:spPr>
          <a:xfrm>
            <a:off x="11777472" y="7114032"/>
            <a:ext cx="5257800" cy="1325880"/>
          </a:xfrm>
          <a:prstGeom prst="rect">
            <a:avLst/>
          </a:prstGeom>
          <a:noFill/>
          <a:ln/>
        </p:spPr>
        <p:txBody>
          <a:bodyPr wrap="square" lIns="0" tIns="0" rIns="0" bIns="0" rtlCol="0" anchor="t"/>
          <a:lstStyle/>
          <a:p>
            <a:pPr algn="l" indent="0" marL="0">
              <a:lnSpc>
                <a:spcPct val="112000"/>
              </a:lnSpc>
              <a:buNone/>
            </a:pPr>
            <a:r>
              <a:rPr lang="en-US" sz="1550" dirty="0">
                <a:solidFill>
                  <a:srgbClr val="B8C2D6"/>
                </a:solidFill>
                <a:latin typeface="IBM Plex Sans" pitchFamily="34" charset="0"/>
                <a:ea typeface="IBM Plex Sans" pitchFamily="34" charset="-122"/>
                <a:cs typeface="IBM Plex Sans" pitchFamily="34" charset="-120"/>
              </a:rPr>
              <a:t>Score the fact token only, and measure truth ratio after the attack. Built into the next run.</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020"/>
        </a:solidFill>
      </p:bgPr>
    </p:bg>
    <p:spTree>
      <p:nvGrpSpPr>
        <p:cNvPr id="1" name=""/>
        <p:cNvGrpSpPr/>
        <p:nvPr/>
      </p:nvGrpSpPr>
      <p:grpSpPr>
        <a:xfrm>
          <a:off x="0" y="0"/>
          <a:ext cx="0" cy="0"/>
          <a:chOff x="0" y="0"/>
          <a:chExt cx="0" cy="0"/>
        </a:xfrm>
      </p:grpSpPr>
      <p:sp>
        <p:nvSpPr>
          <p:cNvPr id="2" name="Text 0"/>
          <p:cNvSpPr txBox="1"/>
          <p:nvPr/>
        </p:nvSpPr>
        <p:spPr>
          <a:xfrm>
            <a:off x="987552" y="722376"/>
            <a:ext cx="731520" cy="329184"/>
          </a:xfrm>
          <a:prstGeom prst="rect">
            <a:avLst/>
          </a:prstGeom>
          <a:noFill/>
          <a:ln/>
        </p:spPr>
        <p:txBody>
          <a:bodyPr wrap="square" lIns="0" tIns="0" rIns="0" bIns="0" rtlCol="0" anchor="t"/>
          <a:lstStyle/>
          <a:p>
            <a:pPr algn="l" indent="0" marL="0">
              <a:lnSpc>
                <a:spcPct val="108000"/>
              </a:lnSpc>
              <a:buNone/>
            </a:pPr>
            <a:r>
              <a:rPr lang="en-US" sz="1800" dirty="0">
                <a:solidFill>
                  <a:srgbClr val="2DD4BF"/>
                </a:solidFill>
                <a:latin typeface="IBM Plex Mono" pitchFamily="34" charset="0"/>
                <a:ea typeface="IBM Plex Mono" pitchFamily="34" charset="-122"/>
                <a:cs typeface="IBM Plex Mono" pitchFamily="34" charset="-120"/>
              </a:rPr>
              <a:t>14</a:t>
            </a:r>
            <a:endParaRPr lang="en-US" sz="1800" dirty="0"/>
          </a:p>
        </p:txBody>
      </p:sp>
      <p:sp>
        <p:nvSpPr>
          <p:cNvPr id="3" name="Text 1"/>
          <p:cNvSpPr txBox="1"/>
          <p:nvPr/>
        </p:nvSpPr>
        <p:spPr>
          <a:xfrm>
            <a:off x="1938528" y="722376"/>
            <a:ext cx="9144000" cy="329184"/>
          </a:xfrm>
          <a:prstGeom prst="rect">
            <a:avLst/>
          </a:prstGeom>
          <a:noFill/>
          <a:ln/>
        </p:spPr>
        <p:txBody>
          <a:bodyPr wrap="square" lIns="0" tIns="0" rIns="0" bIns="0" rtlCol="0" anchor="t"/>
          <a:lstStyle/>
          <a:p>
            <a:pPr algn="l" indent="0" marL="0">
              <a:lnSpc>
                <a:spcPct val="108000"/>
              </a:lnSpc>
              <a:buNone/>
            </a:pPr>
            <a:r>
              <a:rPr lang="en-US" sz="1800" dirty="0">
                <a:solidFill>
                  <a:srgbClr val="7C89A3"/>
                </a:solidFill>
                <a:latin typeface="IBM Plex Mono" pitchFamily="34" charset="0"/>
                <a:ea typeface="IBM Plex Mono" pitchFamily="34" charset="-122"/>
                <a:cs typeface="IBM Plex Mono" pitchFamily="34" charset="-120"/>
              </a:rPr>
              <a:t>VERDICT</a:t>
            </a:r>
            <a:endParaRPr lang="en-US" sz="1800" dirty="0"/>
          </a:p>
        </p:txBody>
      </p:sp>
      <p:sp>
        <p:nvSpPr>
          <p:cNvPr id="4" name="Text 2"/>
          <p:cNvSpPr txBox="1"/>
          <p:nvPr/>
        </p:nvSpPr>
        <p:spPr>
          <a:xfrm>
            <a:off x="987552" y="1170432"/>
            <a:ext cx="16093440" cy="731520"/>
          </a:xfrm>
          <a:prstGeom prst="rect">
            <a:avLst/>
          </a:prstGeom>
          <a:noFill/>
          <a:ln/>
        </p:spPr>
        <p:txBody>
          <a:bodyPr wrap="square" lIns="0" tIns="0" rIns="0" bIns="0" rtlCol="0" anchor="t"/>
          <a:lstStyle/>
          <a:p>
            <a:pPr algn="l" indent="0" marL="0">
              <a:lnSpc>
                <a:spcPct val="108000"/>
              </a:lnSpc>
              <a:buNone/>
            </a:pPr>
            <a:r>
              <a:rPr lang="en-US" sz="4200" dirty="0">
                <a:solidFill>
                  <a:srgbClr val="EAF0FA"/>
                </a:solidFill>
                <a:latin typeface="Space Grotesk" pitchFamily="34" charset="0"/>
                <a:ea typeface="Space Grotesk" pitchFamily="34" charset="-122"/>
                <a:cs typeface="Space Grotesk" pitchFamily="34" charset="-120"/>
              </a:rPr>
              <a:t>Promising, Not Yet Proven</a:t>
            </a:r>
            <a:endParaRPr lang="en-US" sz="4200" dirty="0"/>
          </a:p>
        </p:txBody>
      </p:sp>
      <p:sp>
        <p:nvSpPr>
          <p:cNvPr id="5" name="Text 3"/>
          <p:cNvSpPr txBox="1"/>
          <p:nvPr/>
        </p:nvSpPr>
        <p:spPr>
          <a:xfrm>
            <a:off x="987552" y="9436608"/>
            <a:ext cx="4572000" cy="329184"/>
          </a:xfrm>
          <a:prstGeom prst="rect">
            <a:avLst/>
          </a:prstGeom>
          <a:noFill/>
          <a:ln/>
        </p:spPr>
        <p:txBody>
          <a:bodyPr wrap="square" lIns="0" tIns="0" rIns="0" bIns="0" rtlCol="0" anchor="t"/>
          <a:lstStyle/>
          <a:p>
            <a:pPr algn="l" indent="0" marL="0">
              <a:lnSpc>
                <a:spcPct val="108000"/>
              </a:lnSpc>
              <a:buNone/>
            </a:pPr>
            <a:r>
              <a:rPr lang="en-US" sz="1600" dirty="0">
                <a:solidFill>
                  <a:srgbClr val="38435C"/>
                </a:solidFill>
                <a:latin typeface="IBM Plex Mono" pitchFamily="34" charset="0"/>
                <a:ea typeface="IBM Plex Mono" pitchFamily="34" charset="-122"/>
                <a:cs typeface="IBM Plex Mono" pitchFamily="34" charset="-120"/>
              </a:rPr>
              <a:t>FORGETBENCH · HRU</a:t>
            </a:r>
            <a:endParaRPr lang="en-US" sz="1600" dirty="0"/>
          </a:p>
        </p:txBody>
      </p:sp>
      <p:sp>
        <p:nvSpPr>
          <p:cNvPr id="6" name="Text 4"/>
          <p:cNvSpPr txBox="1"/>
          <p:nvPr/>
        </p:nvSpPr>
        <p:spPr>
          <a:xfrm>
            <a:off x="12710160" y="9436608"/>
            <a:ext cx="4572000" cy="329184"/>
          </a:xfrm>
          <a:prstGeom prst="rect">
            <a:avLst/>
          </a:prstGeom>
          <a:noFill/>
          <a:ln/>
        </p:spPr>
        <p:txBody>
          <a:bodyPr wrap="square" lIns="0" tIns="0" rIns="0" bIns="0" rtlCol="0" anchor="t"/>
          <a:lstStyle/>
          <a:p>
            <a:pPr algn="r" indent="0" marL="0">
              <a:lnSpc>
                <a:spcPct val="108000"/>
              </a:lnSpc>
              <a:buNone/>
            </a:pPr>
            <a:r>
              <a:rPr lang="en-US" sz="1600" dirty="0">
                <a:solidFill>
                  <a:srgbClr val="38435C"/>
                </a:solidFill>
                <a:latin typeface="IBM Plex Mono" pitchFamily="34" charset="0"/>
                <a:ea typeface="IBM Plex Mono" pitchFamily="34" charset="-122"/>
                <a:cs typeface="IBM Plex Mono" pitchFamily="34" charset="-120"/>
              </a:rPr>
              <a:t>WOXSEN UNIVERSITY</a:t>
            </a:r>
            <a:endParaRPr lang="en-US" sz="1600" dirty="0"/>
          </a:p>
        </p:txBody>
      </p:sp>
      <p:sp>
        <p:nvSpPr>
          <p:cNvPr id="7" name="Text 5"/>
          <p:cNvSpPr txBox="1"/>
          <p:nvPr/>
        </p:nvSpPr>
        <p:spPr>
          <a:xfrm>
            <a:off x="987552" y="2057400"/>
            <a:ext cx="16093440" cy="457200"/>
          </a:xfrm>
          <a:prstGeom prst="rect">
            <a:avLst/>
          </a:prstGeom>
          <a:noFill/>
          <a:ln/>
        </p:spPr>
        <p:txBody>
          <a:bodyPr wrap="square" lIns="0" tIns="0" rIns="0" bIns="0" rtlCol="0" anchor="t"/>
          <a:lstStyle/>
          <a:p>
            <a:pPr algn="l" indent="0" marL="0">
              <a:lnSpc>
                <a:spcPct val="108000"/>
              </a:lnSpc>
              <a:buNone/>
            </a:pPr>
            <a:r>
              <a:rPr lang="en-US" sz="1950" dirty="0">
                <a:solidFill>
                  <a:srgbClr val="2DD4BF"/>
                </a:solidFill>
                <a:latin typeface="IBM Plex Sans" pitchFamily="34" charset="0"/>
                <a:ea typeface="IBM Plex Sans" pitchFamily="34" charset="-122"/>
                <a:cs typeface="IBM Plex Sans" pitchFamily="34" charset="-120"/>
              </a:rPr>
              <a:t>HRU is the most durable of the cheap methods on current numbers. It is not yet shown to be better than the alternatives.</a:t>
            </a:r>
            <a:endParaRPr lang="en-US" sz="1950" dirty="0"/>
          </a:p>
        </p:txBody>
      </p:sp>
      <p:sp>
        <p:nvSpPr>
          <p:cNvPr id="8" name="Text 6"/>
          <p:cNvSpPr txBox="1"/>
          <p:nvPr/>
        </p:nvSpPr>
        <p:spPr>
          <a:xfrm>
            <a:off x="987552" y="2743200"/>
            <a:ext cx="3017520" cy="310896"/>
          </a:xfrm>
          <a:prstGeom prst="rect">
            <a:avLst/>
          </a:prstGeom>
          <a:noFill/>
          <a:ln/>
        </p:spPr>
        <p:txBody>
          <a:bodyPr wrap="square" lIns="0" tIns="0" rIns="0" bIns="0" rtlCol="0" anchor="t"/>
          <a:lstStyle/>
          <a:p>
            <a:pPr algn="l" indent="0" marL="0">
              <a:lnSpc>
                <a:spcPct val="108000"/>
              </a:lnSpc>
              <a:buNone/>
            </a:pPr>
            <a:r>
              <a:rPr lang="en-US" sz="1400" dirty="0">
                <a:solidFill>
                  <a:srgbClr val="7C89A3"/>
                </a:solidFill>
                <a:latin typeface="IBM Plex Mono" pitchFamily="34" charset="0"/>
                <a:ea typeface="IBM Plex Mono" pitchFamily="34" charset="-122"/>
                <a:cs typeface="IBM Plex Mono" pitchFamily="34" charset="-120"/>
              </a:rPr>
              <a:t>AGAINST</a:t>
            </a:r>
            <a:endParaRPr lang="en-US" sz="1400" dirty="0"/>
          </a:p>
        </p:txBody>
      </p:sp>
      <p:sp>
        <p:nvSpPr>
          <p:cNvPr id="9" name="Text 7"/>
          <p:cNvSpPr txBox="1"/>
          <p:nvPr/>
        </p:nvSpPr>
        <p:spPr>
          <a:xfrm>
            <a:off x="4206240" y="2743200"/>
            <a:ext cx="8503920" cy="310896"/>
          </a:xfrm>
          <a:prstGeom prst="rect">
            <a:avLst/>
          </a:prstGeom>
          <a:noFill/>
          <a:ln/>
        </p:spPr>
        <p:txBody>
          <a:bodyPr wrap="square" lIns="0" tIns="0" rIns="0" bIns="0" rtlCol="0" anchor="t"/>
          <a:lstStyle/>
          <a:p>
            <a:pPr algn="l" indent="0" marL="0">
              <a:lnSpc>
                <a:spcPct val="108000"/>
              </a:lnSpc>
              <a:buNone/>
            </a:pPr>
            <a:r>
              <a:rPr lang="en-US" sz="1400" dirty="0">
                <a:solidFill>
                  <a:srgbClr val="7C89A3"/>
                </a:solidFill>
                <a:latin typeface="IBM Plex Mono" pitchFamily="34" charset="0"/>
                <a:ea typeface="IBM Plex Mono" pitchFamily="34" charset="-122"/>
                <a:cs typeface="IBM Plex Mono" pitchFamily="34" charset="-120"/>
              </a:rPr>
              <a:t>WHAT THE NUMBERS SAY</a:t>
            </a:r>
            <a:endParaRPr lang="en-US" sz="1400" dirty="0"/>
          </a:p>
        </p:txBody>
      </p:sp>
      <p:sp>
        <p:nvSpPr>
          <p:cNvPr id="10" name="Text 8"/>
          <p:cNvSpPr txBox="1"/>
          <p:nvPr/>
        </p:nvSpPr>
        <p:spPr>
          <a:xfrm>
            <a:off x="12984480" y="2743200"/>
            <a:ext cx="4297680" cy="310896"/>
          </a:xfrm>
          <a:prstGeom prst="rect">
            <a:avLst/>
          </a:prstGeom>
          <a:noFill/>
          <a:ln/>
        </p:spPr>
        <p:txBody>
          <a:bodyPr wrap="square" lIns="0" tIns="0" rIns="0" bIns="0" rtlCol="0" anchor="t"/>
          <a:lstStyle/>
          <a:p>
            <a:pPr algn="l" indent="0" marL="0">
              <a:lnSpc>
                <a:spcPct val="108000"/>
              </a:lnSpc>
              <a:buNone/>
            </a:pPr>
            <a:r>
              <a:rPr lang="en-US" sz="1400" dirty="0">
                <a:solidFill>
                  <a:srgbClr val="7C89A3"/>
                </a:solidFill>
                <a:latin typeface="IBM Plex Mono" pitchFamily="34" charset="0"/>
                <a:ea typeface="IBM Plex Mono" pitchFamily="34" charset="-122"/>
                <a:cs typeface="IBM Plex Mono" pitchFamily="34" charset="-120"/>
              </a:rPr>
              <a:t>VERDICT</a:t>
            </a:r>
            <a:endParaRPr lang="en-US" sz="1400" dirty="0"/>
          </a:p>
        </p:txBody>
      </p:sp>
      <p:sp>
        <p:nvSpPr>
          <p:cNvPr id="11" name="Shape 9"/>
          <p:cNvSpPr/>
          <p:nvPr/>
        </p:nvSpPr>
        <p:spPr>
          <a:xfrm>
            <a:off x="987552" y="3154680"/>
            <a:ext cx="16312896" cy="822960"/>
          </a:xfrm>
          <a:prstGeom prst="roundRect">
            <a:avLst>
              <a:gd name="adj" fmla="val 8889"/>
            </a:avLst>
          </a:prstGeom>
          <a:solidFill>
            <a:srgbClr val="111B30"/>
          </a:solidFill>
          <a:ln w="12700">
            <a:solidFill>
              <a:srgbClr val="38435C"/>
            </a:solidFill>
            <a:prstDash val="solid"/>
          </a:ln>
        </p:spPr>
      </p:sp>
      <p:sp>
        <p:nvSpPr>
          <p:cNvPr id="12" name="Text 10"/>
          <p:cNvSpPr txBox="1"/>
          <p:nvPr/>
        </p:nvSpPr>
        <p:spPr>
          <a:xfrm>
            <a:off x="1280160" y="3154680"/>
            <a:ext cx="2834640" cy="822960"/>
          </a:xfrm>
          <a:prstGeom prst="rect">
            <a:avLst/>
          </a:prstGeom>
          <a:noFill/>
          <a:ln/>
        </p:spPr>
        <p:txBody>
          <a:bodyPr wrap="square" lIns="0" tIns="0" rIns="0" bIns="0" rtlCol="0" anchor="ctr"/>
          <a:lstStyle/>
          <a:p>
            <a:pPr algn="l" indent="0" marL="0">
              <a:lnSpc>
                <a:spcPct val="108000"/>
              </a:lnSpc>
              <a:buNone/>
            </a:pPr>
            <a:r>
              <a:rPr lang="en-US" sz="2000" dirty="0">
                <a:solidFill>
                  <a:srgbClr val="EAF0FA"/>
                </a:solidFill>
                <a:latin typeface="Space Grotesk" pitchFamily="34" charset="0"/>
                <a:ea typeface="Space Grotesk" pitchFamily="34" charset="-122"/>
                <a:cs typeface="Space Grotesk" pitchFamily="34" charset="-120"/>
              </a:rPr>
              <a:t>NPO</a:t>
            </a:r>
            <a:endParaRPr lang="en-US" sz="2000" dirty="0"/>
          </a:p>
        </p:txBody>
      </p:sp>
      <p:sp>
        <p:nvSpPr>
          <p:cNvPr id="13" name="Text 11"/>
          <p:cNvSpPr txBox="1"/>
          <p:nvPr/>
        </p:nvSpPr>
        <p:spPr>
          <a:xfrm>
            <a:off x="4206240" y="3154680"/>
            <a:ext cx="8503920" cy="822960"/>
          </a:xfrm>
          <a:prstGeom prst="rect">
            <a:avLst/>
          </a:prstGeom>
          <a:noFill/>
          <a:ln/>
        </p:spPr>
        <p:txBody>
          <a:bodyPr wrap="square" lIns="0" tIns="0" rIns="0" bIns="0" rtlCol="0" anchor="ctr"/>
          <a:lstStyle/>
          <a:p>
            <a:pPr algn="l" indent="0" marL="0">
              <a:lnSpc>
                <a:spcPct val="108000"/>
              </a:lnSpc>
              <a:buNone/>
            </a:pPr>
            <a:r>
              <a:rPr lang="en-US" sz="1600" dirty="0">
                <a:solidFill>
                  <a:srgbClr val="B8C2D6"/>
                </a:solidFill>
                <a:latin typeface="IBM Plex Sans" pitchFamily="34" charset="0"/>
                <a:ea typeface="IBM Plex Sans" pitchFamily="34" charset="-122"/>
                <a:cs typeface="IBM Plex Sans" pitchFamily="34" charset="-120"/>
              </a:rPr>
              <a:t>More durable (−1.31 vs −0.76) at similar damage; avoids over-forgetting (truth ratio 1.29 vs 13.17).</a:t>
            </a:r>
            <a:endParaRPr lang="en-US" sz="1600" dirty="0"/>
          </a:p>
        </p:txBody>
      </p:sp>
      <p:sp>
        <p:nvSpPr>
          <p:cNvPr id="14" name="Text 12"/>
          <p:cNvSpPr txBox="1"/>
          <p:nvPr/>
        </p:nvSpPr>
        <p:spPr>
          <a:xfrm>
            <a:off x="12984480" y="3154680"/>
            <a:ext cx="4114800" cy="822960"/>
          </a:xfrm>
          <a:prstGeom prst="rect">
            <a:avLst/>
          </a:prstGeom>
          <a:noFill/>
          <a:ln/>
        </p:spPr>
        <p:txBody>
          <a:bodyPr wrap="square" lIns="0" tIns="0" rIns="0" bIns="0" rtlCol="0" anchor="ctr"/>
          <a:lstStyle/>
          <a:p>
            <a:pPr algn="l" indent="0" marL="0">
              <a:lnSpc>
                <a:spcPct val="108000"/>
              </a:lnSpc>
              <a:buNone/>
            </a:pPr>
            <a:r>
              <a:rPr lang="en-US" sz="1600" dirty="0">
                <a:solidFill>
                  <a:srgbClr val="2DD4BF"/>
                </a:solidFill>
                <a:latin typeface="IBM Plex Sans" pitchFamily="34" charset="0"/>
                <a:ea typeface="IBM Plex Sans" pitchFamily="34" charset="-122"/>
                <a:cs typeface="IBM Plex Sans" pitchFamily="34" charset="-120"/>
              </a:rPr>
              <a:t>Ahead — but with 3× NPO’s budget</a:t>
            </a:r>
            <a:endParaRPr lang="en-US" sz="1600" dirty="0"/>
          </a:p>
        </p:txBody>
      </p:sp>
      <p:sp>
        <p:nvSpPr>
          <p:cNvPr id="15" name="Shape 13"/>
          <p:cNvSpPr/>
          <p:nvPr/>
        </p:nvSpPr>
        <p:spPr>
          <a:xfrm>
            <a:off x="987552" y="4114800"/>
            <a:ext cx="16312896" cy="822960"/>
          </a:xfrm>
          <a:prstGeom prst="roundRect">
            <a:avLst>
              <a:gd name="adj" fmla="val 8889"/>
            </a:avLst>
          </a:prstGeom>
          <a:solidFill>
            <a:srgbClr val="111B30"/>
          </a:solidFill>
          <a:ln w="12700">
            <a:solidFill>
              <a:srgbClr val="38435C"/>
            </a:solidFill>
            <a:prstDash val="solid"/>
          </a:ln>
        </p:spPr>
      </p:sp>
      <p:sp>
        <p:nvSpPr>
          <p:cNvPr id="16" name="Text 14"/>
          <p:cNvSpPr txBox="1"/>
          <p:nvPr/>
        </p:nvSpPr>
        <p:spPr>
          <a:xfrm>
            <a:off x="1280160" y="4114800"/>
            <a:ext cx="2834640" cy="822960"/>
          </a:xfrm>
          <a:prstGeom prst="rect">
            <a:avLst/>
          </a:prstGeom>
          <a:noFill/>
          <a:ln/>
        </p:spPr>
        <p:txBody>
          <a:bodyPr wrap="square" lIns="0" tIns="0" rIns="0" bIns="0" rtlCol="0" anchor="ctr"/>
          <a:lstStyle/>
          <a:p>
            <a:pPr algn="l" indent="0" marL="0">
              <a:lnSpc>
                <a:spcPct val="108000"/>
              </a:lnSpc>
              <a:buNone/>
            </a:pPr>
            <a:r>
              <a:rPr lang="en-US" sz="2000" dirty="0">
                <a:solidFill>
                  <a:srgbClr val="EAF0FA"/>
                </a:solidFill>
                <a:latin typeface="Space Grotesk" pitchFamily="34" charset="0"/>
                <a:ea typeface="Space Grotesk" pitchFamily="34" charset="-122"/>
                <a:cs typeface="Space Grotesk" pitchFamily="34" charset="-120"/>
              </a:rPr>
              <a:t>Gradient ascent</a:t>
            </a:r>
            <a:endParaRPr lang="en-US" sz="2000" dirty="0"/>
          </a:p>
        </p:txBody>
      </p:sp>
      <p:sp>
        <p:nvSpPr>
          <p:cNvPr id="17" name="Text 15"/>
          <p:cNvSpPr txBox="1"/>
          <p:nvPr/>
        </p:nvSpPr>
        <p:spPr>
          <a:xfrm>
            <a:off x="4206240" y="4114800"/>
            <a:ext cx="8503920" cy="822960"/>
          </a:xfrm>
          <a:prstGeom prst="rect">
            <a:avLst/>
          </a:prstGeom>
          <a:noFill/>
          <a:ln/>
        </p:spPr>
        <p:txBody>
          <a:bodyPr wrap="square" lIns="0" tIns="0" rIns="0" bIns="0" rtlCol="0" anchor="ctr"/>
          <a:lstStyle/>
          <a:p>
            <a:pPr algn="l" indent="0" marL="0">
              <a:lnSpc>
                <a:spcPct val="108000"/>
              </a:lnSpc>
              <a:buNone/>
            </a:pPr>
            <a:r>
              <a:rPr lang="en-US" sz="1600" dirty="0">
                <a:solidFill>
                  <a:srgbClr val="B8C2D6"/>
                </a:solidFill>
                <a:latin typeface="IBM Plex Sans" pitchFamily="34" charset="0"/>
                <a:ea typeface="IBM Plex Sans" pitchFamily="34" charset="-122"/>
                <a:cs typeface="IBM Plex Sans" pitchFamily="34" charset="-120"/>
              </a:rPr>
              <a:t>Slightly more durable (−1.31 vs −1.09), more damage, 3× the cost.</a:t>
            </a:r>
            <a:endParaRPr lang="en-US" sz="1600" dirty="0"/>
          </a:p>
        </p:txBody>
      </p:sp>
      <p:sp>
        <p:nvSpPr>
          <p:cNvPr id="18" name="Text 16"/>
          <p:cNvSpPr txBox="1"/>
          <p:nvPr/>
        </p:nvSpPr>
        <p:spPr>
          <a:xfrm>
            <a:off x="12984480" y="4114800"/>
            <a:ext cx="4114800" cy="822960"/>
          </a:xfrm>
          <a:prstGeom prst="rect">
            <a:avLst/>
          </a:prstGeom>
          <a:noFill/>
          <a:ln/>
        </p:spPr>
        <p:txBody>
          <a:bodyPr wrap="square" lIns="0" tIns="0" rIns="0" bIns="0" rtlCol="0" anchor="ctr"/>
          <a:lstStyle/>
          <a:p>
            <a:pPr algn="l" indent="0" marL="0">
              <a:lnSpc>
                <a:spcPct val="108000"/>
              </a:lnSpc>
              <a:buNone/>
            </a:pPr>
            <a:r>
              <a:rPr lang="en-US" sz="1600" dirty="0">
                <a:solidFill>
                  <a:srgbClr val="EAF0FA"/>
                </a:solidFill>
                <a:latin typeface="IBM Plex Sans" pitchFamily="34" charset="0"/>
                <a:ea typeface="IBM Plex Sans" pitchFamily="34" charset="-122"/>
                <a:cs typeface="IBM Plex Sans" pitchFamily="34" charset="-120"/>
              </a:rPr>
              <a:t>Marginal edge</a:t>
            </a:r>
            <a:endParaRPr lang="en-US" sz="1600" dirty="0"/>
          </a:p>
        </p:txBody>
      </p:sp>
      <p:sp>
        <p:nvSpPr>
          <p:cNvPr id="19" name="Shape 17"/>
          <p:cNvSpPr/>
          <p:nvPr/>
        </p:nvSpPr>
        <p:spPr>
          <a:xfrm>
            <a:off x="987552" y="5074920"/>
            <a:ext cx="16312896" cy="822960"/>
          </a:xfrm>
          <a:prstGeom prst="roundRect">
            <a:avLst>
              <a:gd name="adj" fmla="val 8889"/>
            </a:avLst>
          </a:prstGeom>
          <a:solidFill>
            <a:srgbClr val="111B30"/>
          </a:solidFill>
          <a:ln w="12700">
            <a:solidFill>
              <a:srgbClr val="38435C"/>
            </a:solidFill>
            <a:prstDash val="solid"/>
          </a:ln>
        </p:spPr>
      </p:sp>
      <p:sp>
        <p:nvSpPr>
          <p:cNvPr id="20" name="Text 18"/>
          <p:cNvSpPr txBox="1"/>
          <p:nvPr/>
        </p:nvSpPr>
        <p:spPr>
          <a:xfrm>
            <a:off x="1280160" y="5074920"/>
            <a:ext cx="2834640" cy="822960"/>
          </a:xfrm>
          <a:prstGeom prst="rect">
            <a:avLst/>
          </a:prstGeom>
          <a:noFill/>
          <a:ln/>
        </p:spPr>
        <p:txBody>
          <a:bodyPr wrap="square" lIns="0" tIns="0" rIns="0" bIns="0" rtlCol="0" anchor="ctr"/>
          <a:lstStyle/>
          <a:p>
            <a:pPr algn="l" indent="0" marL="0">
              <a:lnSpc>
                <a:spcPct val="108000"/>
              </a:lnSpc>
              <a:buNone/>
            </a:pPr>
            <a:r>
              <a:rPr lang="en-US" sz="2000" dirty="0">
                <a:solidFill>
                  <a:srgbClr val="EAF0FA"/>
                </a:solidFill>
                <a:latin typeface="Space Grotesk" pitchFamily="34" charset="0"/>
                <a:ea typeface="Space Grotesk" pitchFamily="34" charset="-122"/>
                <a:cs typeface="Space Grotesk" pitchFamily="34" charset="-120"/>
              </a:rPr>
              <a:t>Full retrain</a:t>
            </a:r>
            <a:endParaRPr lang="en-US" sz="2000" dirty="0"/>
          </a:p>
        </p:txBody>
      </p:sp>
      <p:sp>
        <p:nvSpPr>
          <p:cNvPr id="21" name="Text 19"/>
          <p:cNvSpPr txBox="1"/>
          <p:nvPr/>
        </p:nvSpPr>
        <p:spPr>
          <a:xfrm>
            <a:off x="4206240" y="5074920"/>
            <a:ext cx="8503920" cy="822960"/>
          </a:xfrm>
          <a:prstGeom prst="rect">
            <a:avLst/>
          </a:prstGeom>
          <a:noFill/>
          <a:ln/>
        </p:spPr>
        <p:txBody>
          <a:bodyPr wrap="square" lIns="0" tIns="0" rIns="0" bIns="0" rtlCol="0" anchor="ctr"/>
          <a:lstStyle/>
          <a:p>
            <a:pPr algn="l" indent="0" marL="0">
              <a:lnSpc>
                <a:spcPct val="108000"/>
              </a:lnSpc>
              <a:buNone/>
            </a:pPr>
            <a:r>
              <a:rPr lang="en-US" sz="1600" dirty="0">
                <a:solidFill>
                  <a:srgbClr val="B8C2D6"/>
                </a:solidFill>
                <a:latin typeface="IBM Plex Sans" pitchFamily="34" charset="0"/>
                <a:ea typeface="IBM Plex Sans" pitchFamily="34" charset="-122"/>
                <a:cs typeface="IBM Plex Sans" pitchFamily="34" charset="-120"/>
              </a:rPr>
              <a:t>Retrain keeps the model far healthier (retain −0.24 vs −1.69).</a:t>
            </a:r>
            <a:endParaRPr lang="en-US" sz="1600" dirty="0"/>
          </a:p>
        </p:txBody>
      </p:sp>
      <p:sp>
        <p:nvSpPr>
          <p:cNvPr id="22" name="Text 20"/>
          <p:cNvSpPr txBox="1"/>
          <p:nvPr/>
        </p:nvSpPr>
        <p:spPr>
          <a:xfrm>
            <a:off x="12984480" y="5074920"/>
            <a:ext cx="4114800" cy="822960"/>
          </a:xfrm>
          <a:prstGeom prst="rect">
            <a:avLst/>
          </a:prstGeom>
          <a:noFill/>
          <a:ln/>
        </p:spPr>
        <p:txBody>
          <a:bodyPr wrap="square" lIns="0" tIns="0" rIns="0" bIns="0" rtlCol="0" anchor="ctr"/>
          <a:lstStyle/>
          <a:p>
            <a:pPr algn="l" indent="0" marL="0">
              <a:lnSpc>
                <a:spcPct val="108000"/>
              </a:lnSpc>
              <a:buNone/>
            </a:pPr>
            <a:r>
              <a:rPr lang="en-US" sz="1600" dirty="0">
                <a:solidFill>
                  <a:srgbClr val="EAF0FA"/>
                </a:solidFill>
                <a:latin typeface="IBM Plex Sans" pitchFamily="34" charset="0"/>
                <a:ea typeface="IBM Plex Sans" pitchFamily="34" charset="-122"/>
                <a:cs typeface="IBM Plex Sans" pitchFamily="34" charset="-120"/>
              </a:rPr>
              <a:t>Retrain better on quality</a:t>
            </a:r>
            <a:endParaRPr lang="en-US" sz="1600" dirty="0"/>
          </a:p>
        </p:txBody>
      </p:sp>
      <p:sp>
        <p:nvSpPr>
          <p:cNvPr id="23" name="Shape 21"/>
          <p:cNvSpPr/>
          <p:nvPr/>
        </p:nvSpPr>
        <p:spPr>
          <a:xfrm>
            <a:off x="987552" y="6035040"/>
            <a:ext cx="16312896" cy="822960"/>
          </a:xfrm>
          <a:prstGeom prst="roundRect">
            <a:avLst>
              <a:gd name="adj" fmla="val 8889"/>
            </a:avLst>
          </a:prstGeom>
          <a:solidFill>
            <a:srgbClr val="111B30"/>
          </a:solidFill>
          <a:ln w="12700">
            <a:solidFill>
              <a:srgbClr val="38435C"/>
            </a:solidFill>
            <a:prstDash val="solid"/>
          </a:ln>
        </p:spPr>
      </p:sp>
      <p:sp>
        <p:nvSpPr>
          <p:cNvPr id="24" name="Text 22"/>
          <p:cNvSpPr txBox="1"/>
          <p:nvPr/>
        </p:nvSpPr>
        <p:spPr>
          <a:xfrm>
            <a:off x="1280160" y="6035040"/>
            <a:ext cx="2834640" cy="822960"/>
          </a:xfrm>
          <a:prstGeom prst="rect">
            <a:avLst/>
          </a:prstGeom>
          <a:noFill/>
          <a:ln/>
        </p:spPr>
        <p:txBody>
          <a:bodyPr wrap="square" lIns="0" tIns="0" rIns="0" bIns="0" rtlCol="0" anchor="ctr"/>
          <a:lstStyle/>
          <a:p>
            <a:pPr algn="l" indent="0" marL="0">
              <a:lnSpc>
                <a:spcPct val="108000"/>
              </a:lnSpc>
              <a:buNone/>
            </a:pPr>
            <a:r>
              <a:rPr lang="en-US" sz="2000" dirty="0">
                <a:solidFill>
                  <a:srgbClr val="EAF0FA"/>
                </a:solidFill>
                <a:latin typeface="Space Grotesk" pitchFamily="34" charset="0"/>
                <a:ea typeface="Space Grotesk" pitchFamily="34" charset="-122"/>
                <a:cs typeface="Space Grotesk" pitchFamily="34" charset="-120"/>
              </a:rPr>
              <a:t>SISA · RMU</a:t>
            </a:r>
            <a:endParaRPr lang="en-US" sz="2000" dirty="0"/>
          </a:p>
        </p:txBody>
      </p:sp>
      <p:sp>
        <p:nvSpPr>
          <p:cNvPr id="25" name="Text 23"/>
          <p:cNvSpPr txBox="1"/>
          <p:nvPr/>
        </p:nvSpPr>
        <p:spPr>
          <a:xfrm>
            <a:off x="4206240" y="6035040"/>
            <a:ext cx="8503920" cy="822960"/>
          </a:xfrm>
          <a:prstGeom prst="rect">
            <a:avLst/>
          </a:prstGeom>
          <a:noFill/>
          <a:ln/>
        </p:spPr>
        <p:txBody>
          <a:bodyPr wrap="square" lIns="0" tIns="0" rIns="0" bIns="0" rtlCol="0" anchor="ctr"/>
          <a:lstStyle/>
          <a:p>
            <a:pPr algn="l" indent="0" marL="0">
              <a:lnSpc>
                <a:spcPct val="108000"/>
              </a:lnSpc>
              <a:buNone/>
            </a:pPr>
            <a:r>
              <a:rPr lang="en-US" sz="1600" dirty="0">
                <a:solidFill>
                  <a:srgbClr val="B8C2D6"/>
                </a:solidFill>
                <a:latin typeface="IBM Plex Sans" pitchFamily="34" charset="0"/>
                <a:ea typeface="IBM Plex Sans" pitchFamily="34" charset="-122"/>
                <a:cs typeface="IBM Plex Sans" pitchFamily="34" charset="-120"/>
              </a:rPr>
              <a:t>Cheap, but barely forget — scores sit near the untouched model.</a:t>
            </a:r>
            <a:endParaRPr lang="en-US" sz="1600" dirty="0"/>
          </a:p>
        </p:txBody>
      </p:sp>
      <p:sp>
        <p:nvSpPr>
          <p:cNvPr id="26" name="Text 24"/>
          <p:cNvSpPr txBox="1"/>
          <p:nvPr/>
        </p:nvSpPr>
        <p:spPr>
          <a:xfrm>
            <a:off x="12984480" y="6035040"/>
            <a:ext cx="4114800" cy="822960"/>
          </a:xfrm>
          <a:prstGeom prst="rect">
            <a:avLst/>
          </a:prstGeom>
          <a:noFill/>
          <a:ln/>
        </p:spPr>
        <p:txBody>
          <a:bodyPr wrap="square" lIns="0" tIns="0" rIns="0" bIns="0" rtlCol="0" anchor="ctr"/>
          <a:lstStyle/>
          <a:p>
            <a:pPr algn="l" indent="0" marL="0">
              <a:lnSpc>
                <a:spcPct val="108000"/>
              </a:lnSpc>
              <a:buNone/>
            </a:pPr>
            <a:r>
              <a:rPr lang="en-US" sz="1600" dirty="0">
                <a:solidFill>
                  <a:srgbClr val="EAF0FA"/>
                </a:solidFill>
                <a:latin typeface="IBM Plex Sans" pitchFamily="34" charset="0"/>
                <a:ea typeface="IBM Plex Sans" pitchFamily="34" charset="-122"/>
                <a:cs typeface="IBM Plex Sans" pitchFamily="34" charset="-120"/>
              </a:rPr>
              <a:t>HRU forgets far more</a:t>
            </a:r>
            <a:endParaRPr lang="en-US" sz="1600" dirty="0"/>
          </a:p>
        </p:txBody>
      </p:sp>
      <p:sp>
        <p:nvSpPr>
          <p:cNvPr id="27" name="Shape 25"/>
          <p:cNvSpPr/>
          <p:nvPr/>
        </p:nvSpPr>
        <p:spPr>
          <a:xfrm>
            <a:off x="987552" y="7178040"/>
            <a:ext cx="16312896" cy="1828800"/>
          </a:xfrm>
          <a:prstGeom prst="roundRect">
            <a:avLst>
              <a:gd name="adj" fmla="val 4000"/>
            </a:avLst>
          </a:prstGeom>
          <a:solidFill>
            <a:srgbClr val="111B30"/>
          </a:solidFill>
          <a:ln w="12700">
            <a:solidFill>
              <a:srgbClr val="2DD4BF"/>
            </a:solidFill>
            <a:prstDash val="solid"/>
          </a:ln>
        </p:spPr>
      </p:sp>
      <p:sp>
        <p:nvSpPr>
          <p:cNvPr id="28" name="Text 26"/>
          <p:cNvSpPr txBox="1"/>
          <p:nvPr/>
        </p:nvSpPr>
        <p:spPr>
          <a:xfrm>
            <a:off x="1307592" y="7379208"/>
            <a:ext cx="7315200" cy="310896"/>
          </a:xfrm>
          <a:prstGeom prst="rect">
            <a:avLst/>
          </a:prstGeom>
          <a:noFill/>
          <a:ln/>
        </p:spPr>
        <p:txBody>
          <a:bodyPr wrap="square" lIns="0" tIns="0" rIns="0" bIns="0" rtlCol="0" anchor="t"/>
          <a:lstStyle/>
          <a:p>
            <a:pPr algn="l" indent="0" marL="0">
              <a:lnSpc>
                <a:spcPct val="108000"/>
              </a:lnSpc>
              <a:buNone/>
            </a:pPr>
            <a:r>
              <a:rPr lang="en-US" sz="1500" dirty="0">
                <a:solidFill>
                  <a:srgbClr val="2DD4BF"/>
                </a:solidFill>
                <a:latin typeface="IBM Plex Mono" pitchFamily="34" charset="0"/>
                <a:ea typeface="IBM Plex Mono" pitchFamily="34" charset="-122"/>
                <a:cs typeface="IBM Plex Mono" pitchFamily="34" charset="-120"/>
              </a:rPr>
              <a:t>WHY NOT “BETTER” YET</a:t>
            </a:r>
            <a:endParaRPr lang="en-US" sz="1500" dirty="0"/>
          </a:p>
        </p:txBody>
      </p:sp>
      <p:sp>
        <p:nvSpPr>
          <p:cNvPr id="29" name="Text 27"/>
          <p:cNvSpPr txBox="1"/>
          <p:nvPr/>
        </p:nvSpPr>
        <p:spPr>
          <a:xfrm>
            <a:off x="1307592" y="7818120"/>
            <a:ext cx="5074920" cy="1005840"/>
          </a:xfrm>
          <a:prstGeom prst="rect">
            <a:avLst/>
          </a:prstGeom>
          <a:noFill/>
          <a:ln/>
        </p:spPr>
        <p:txBody>
          <a:bodyPr wrap="square" lIns="0" tIns="0" rIns="0" bIns="0" rtlCol="0" anchor="t"/>
          <a:lstStyle/>
          <a:p>
            <a:pPr algn="l" indent="0" marL="0">
              <a:lnSpc>
                <a:spcPct val="112000"/>
              </a:lnSpc>
              <a:buNone/>
            </a:pPr>
            <a:r>
              <a:rPr lang="en-US" sz="1650" dirty="0">
                <a:solidFill>
                  <a:srgbClr val="EAF0FA"/>
                </a:solidFill>
                <a:latin typeface="IBM Plex Sans" pitchFamily="34" charset="0"/>
                <a:ea typeface="IBM Plex Sans" pitchFamily="34" charset="-122"/>
                <a:cs typeface="IBM Plex Sans" pitchFamily="34" charset="-120"/>
              </a:rPr>
              <a:t>1.  The measured HRU lacked its inline reweight step.</a:t>
            </a:r>
            <a:endParaRPr lang="en-US" sz="1650" dirty="0"/>
          </a:p>
        </p:txBody>
      </p:sp>
      <p:sp>
        <p:nvSpPr>
          <p:cNvPr id="30" name="Text 28"/>
          <p:cNvSpPr txBox="1"/>
          <p:nvPr/>
        </p:nvSpPr>
        <p:spPr>
          <a:xfrm>
            <a:off x="6656832" y="7818120"/>
            <a:ext cx="5074920" cy="1005840"/>
          </a:xfrm>
          <a:prstGeom prst="rect">
            <a:avLst/>
          </a:prstGeom>
          <a:noFill/>
          <a:ln/>
        </p:spPr>
        <p:txBody>
          <a:bodyPr wrap="square" lIns="0" tIns="0" rIns="0" bIns="0" rtlCol="0" anchor="t"/>
          <a:lstStyle/>
          <a:p>
            <a:pPr algn="l" indent="0" marL="0">
              <a:lnSpc>
                <a:spcPct val="112000"/>
              </a:lnSpc>
              <a:buNone/>
            </a:pPr>
            <a:r>
              <a:rPr lang="en-US" sz="1650" dirty="0">
                <a:solidFill>
                  <a:srgbClr val="EAF0FA"/>
                </a:solidFill>
                <a:latin typeface="IBM Plex Sans" pitchFamily="34" charset="0"/>
                <a:ea typeface="IBM Plex Sans" pitchFamily="34" charset="-122"/>
                <a:cs typeface="IBM Plex Sans" pitchFamily="34" charset="-120"/>
              </a:rPr>
              <a:t>2.  Our durability score partly tracks damage (r = +0.88).</a:t>
            </a:r>
            <a:endParaRPr lang="en-US" sz="1650" dirty="0"/>
          </a:p>
        </p:txBody>
      </p:sp>
      <p:sp>
        <p:nvSpPr>
          <p:cNvPr id="31" name="Text 29"/>
          <p:cNvSpPr txBox="1"/>
          <p:nvPr/>
        </p:nvSpPr>
        <p:spPr>
          <a:xfrm>
            <a:off x="12006072" y="7818120"/>
            <a:ext cx="5074920" cy="1005840"/>
          </a:xfrm>
          <a:prstGeom prst="rect">
            <a:avLst/>
          </a:prstGeom>
          <a:noFill/>
          <a:ln/>
        </p:spPr>
        <p:txBody>
          <a:bodyPr wrap="square" lIns="0" tIns="0" rIns="0" bIns="0" rtlCol="0" anchor="t"/>
          <a:lstStyle/>
          <a:p>
            <a:pPr algn="l" indent="0" marL="0">
              <a:lnSpc>
                <a:spcPct val="112000"/>
              </a:lnSpc>
              <a:buNone/>
            </a:pPr>
            <a:r>
              <a:rPr lang="en-US" sz="1650" dirty="0">
                <a:solidFill>
                  <a:srgbClr val="EAF0FA"/>
                </a:solidFill>
                <a:latin typeface="IBM Plex Sans" pitchFamily="34" charset="0"/>
                <a:ea typeface="IBM Plex Sans" pitchFamily="34" charset="-122"/>
                <a:cs typeface="IBM Plex Sans" pitchFamily="34" charset="-120"/>
              </a:rPr>
              <a:t>3.  Unequal training budgets and a single seed.</a:t>
            </a:r>
            <a:endParaRPr lang="en-US" sz="16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020"/>
        </a:solidFill>
      </p:bgPr>
    </p:bg>
    <p:spTree>
      <p:nvGrpSpPr>
        <p:cNvPr id="1" name=""/>
        <p:cNvGrpSpPr/>
        <p:nvPr/>
      </p:nvGrpSpPr>
      <p:grpSpPr>
        <a:xfrm>
          <a:off x="0" y="0"/>
          <a:ext cx="0" cy="0"/>
          <a:chOff x="0" y="0"/>
          <a:chExt cx="0" cy="0"/>
        </a:xfrm>
      </p:grpSpPr>
      <p:sp>
        <p:nvSpPr>
          <p:cNvPr id="2" name="Text 0"/>
          <p:cNvSpPr txBox="1"/>
          <p:nvPr/>
        </p:nvSpPr>
        <p:spPr>
          <a:xfrm>
            <a:off x="987552" y="722376"/>
            <a:ext cx="731520" cy="329184"/>
          </a:xfrm>
          <a:prstGeom prst="rect">
            <a:avLst/>
          </a:prstGeom>
          <a:noFill/>
          <a:ln/>
        </p:spPr>
        <p:txBody>
          <a:bodyPr wrap="square" lIns="0" tIns="0" rIns="0" bIns="0" rtlCol="0" anchor="t"/>
          <a:lstStyle/>
          <a:p>
            <a:pPr algn="l" indent="0" marL="0">
              <a:lnSpc>
                <a:spcPct val="108000"/>
              </a:lnSpc>
              <a:buNone/>
            </a:pPr>
            <a:r>
              <a:rPr lang="en-US" sz="1800" dirty="0">
                <a:solidFill>
                  <a:srgbClr val="2DD4BF"/>
                </a:solidFill>
                <a:latin typeface="IBM Plex Mono" pitchFamily="34" charset="0"/>
                <a:ea typeface="IBM Plex Mono" pitchFamily="34" charset="-122"/>
                <a:cs typeface="IBM Plex Mono" pitchFamily="34" charset="-120"/>
              </a:rPr>
              <a:t>15</a:t>
            </a:r>
            <a:endParaRPr lang="en-US" sz="1800" dirty="0"/>
          </a:p>
        </p:txBody>
      </p:sp>
      <p:sp>
        <p:nvSpPr>
          <p:cNvPr id="3" name="Text 1"/>
          <p:cNvSpPr txBox="1"/>
          <p:nvPr/>
        </p:nvSpPr>
        <p:spPr>
          <a:xfrm>
            <a:off x="1938528" y="722376"/>
            <a:ext cx="9144000" cy="329184"/>
          </a:xfrm>
          <a:prstGeom prst="rect">
            <a:avLst/>
          </a:prstGeom>
          <a:noFill/>
          <a:ln/>
        </p:spPr>
        <p:txBody>
          <a:bodyPr wrap="square" lIns="0" tIns="0" rIns="0" bIns="0" rtlCol="0" anchor="t"/>
          <a:lstStyle/>
          <a:p>
            <a:pPr algn="l" indent="0" marL="0">
              <a:lnSpc>
                <a:spcPct val="108000"/>
              </a:lnSpc>
              <a:buNone/>
            </a:pPr>
            <a:r>
              <a:rPr lang="en-US" sz="1800" dirty="0">
                <a:solidFill>
                  <a:srgbClr val="7C89A3"/>
                </a:solidFill>
                <a:latin typeface="IBM Plex Mono" pitchFamily="34" charset="0"/>
                <a:ea typeface="IBM Plex Mono" pitchFamily="34" charset="-122"/>
                <a:cs typeface="IBM Plex Mono" pitchFamily="34" charset="-120"/>
              </a:rPr>
              <a:t>NEXT</a:t>
            </a:r>
            <a:endParaRPr lang="en-US" sz="1800" dirty="0"/>
          </a:p>
        </p:txBody>
      </p:sp>
      <p:sp>
        <p:nvSpPr>
          <p:cNvPr id="4" name="Text 2"/>
          <p:cNvSpPr txBox="1"/>
          <p:nvPr/>
        </p:nvSpPr>
        <p:spPr>
          <a:xfrm>
            <a:off x="987552" y="1170432"/>
            <a:ext cx="16093440" cy="731520"/>
          </a:xfrm>
          <a:prstGeom prst="rect">
            <a:avLst/>
          </a:prstGeom>
          <a:noFill/>
          <a:ln/>
        </p:spPr>
        <p:txBody>
          <a:bodyPr wrap="square" lIns="0" tIns="0" rIns="0" bIns="0" rtlCol="0" anchor="t"/>
          <a:lstStyle/>
          <a:p>
            <a:pPr algn="l" indent="0" marL="0">
              <a:lnSpc>
                <a:spcPct val="108000"/>
              </a:lnSpc>
              <a:buNone/>
            </a:pPr>
            <a:r>
              <a:rPr lang="en-US" sz="4200" dirty="0">
                <a:solidFill>
                  <a:srgbClr val="EAF0FA"/>
                </a:solidFill>
                <a:latin typeface="Space Grotesk" pitchFamily="34" charset="0"/>
                <a:ea typeface="Space Grotesk" pitchFamily="34" charset="-122"/>
                <a:cs typeface="Space Grotesk" pitchFamily="34" charset="-120"/>
              </a:rPr>
              <a:t>The Experiment That Decides It</a:t>
            </a:r>
            <a:endParaRPr lang="en-US" sz="4200" dirty="0"/>
          </a:p>
        </p:txBody>
      </p:sp>
      <p:sp>
        <p:nvSpPr>
          <p:cNvPr id="5" name="Text 3"/>
          <p:cNvSpPr txBox="1"/>
          <p:nvPr/>
        </p:nvSpPr>
        <p:spPr>
          <a:xfrm>
            <a:off x="987552" y="9436608"/>
            <a:ext cx="4572000" cy="329184"/>
          </a:xfrm>
          <a:prstGeom prst="rect">
            <a:avLst/>
          </a:prstGeom>
          <a:noFill/>
          <a:ln/>
        </p:spPr>
        <p:txBody>
          <a:bodyPr wrap="square" lIns="0" tIns="0" rIns="0" bIns="0" rtlCol="0" anchor="t"/>
          <a:lstStyle/>
          <a:p>
            <a:pPr algn="l" indent="0" marL="0">
              <a:lnSpc>
                <a:spcPct val="108000"/>
              </a:lnSpc>
              <a:buNone/>
            </a:pPr>
            <a:r>
              <a:rPr lang="en-US" sz="1600" dirty="0">
                <a:solidFill>
                  <a:srgbClr val="38435C"/>
                </a:solidFill>
                <a:latin typeface="IBM Plex Mono" pitchFamily="34" charset="0"/>
                <a:ea typeface="IBM Plex Mono" pitchFamily="34" charset="-122"/>
                <a:cs typeface="IBM Plex Mono" pitchFamily="34" charset="-120"/>
              </a:rPr>
              <a:t>FORGETBENCH · HRU</a:t>
            </a:r>
            <a:endParaRPr lang="en-US" sz="1600" dirty="0"/>
          </a:p>
        </p:txBody>
      </p:sp>
      <p:sp>
        <p:nvSpPr>
          <p:cNvPr id="6" name="Text 4"/>
          <p:cNvSpPr txBox="1"/>
          <p:nvPr/>
        </p:nvSpPr>
        <p:spPr>
          <a:xfrm>
            <a:off x="12710160" y="9436608"/>
            <a:ext cx="4572000" cy="329184"/>
          </a:xfrm>
          <a:prstGeom prst="rect">
            <a:avLst/>
          </a:prstGeom>
          <a:noFill/>
          <a:ln/>
        </p:spPr>
        <p:txBody>
          <a:bodyPr wrap="square" lIns="0" tIns="0" rIns="0" bIns="0" rtlCol="0" anchor="t"/>
          <a:lstStyle/>
          <a:p>
            <a:pPr algn="r" indent="0" marL="0">
              <a:lnSpc>
                <a:spcPct val="108000"/>
              </a:lnSpc>
              <a:buNone/>
            </a:pPr>
            <a:r>
              <a:rPr lang="en-US" sz="1600" dirty="0">
                <a:solidFill>
                  <a:srgbClr val="38435C"/>
                </a:solidFill>
                <a:latin typeface="IBM Plex Mono" pitchFamily="34" charset="0"/>
                <a:ea typeface="IBM Plex Mono" pitchFamily="34" charset="-122"/>
                <a:cs typeface="IBM Plex Mono" pitchFamily="34" charset="-120"/>
              </a:rPr>
              <a:t>WOXSEN UNIVERSITY</a:t>
            </a:r>
            <a:endParaRPr lang="en-US" sz="1600" dirty="0"/>
          </a:p>
        </p:txBody>
      </p:sp>
      <p:sp>
        <p:nvSpPr>
          <p:cNvPr id="7" name="Shape 5"/>
          <p:cNvSpPr/>
          <p:nvPr/>
        </p:nvSpPr>
        <p:spPr>
          <a:xfrm>
            <a:off x="987552" y="2331720"/>
            <a:ext cx="10332720" cy="1298448"/>
          </a:xfrm>
          <a:prstGeom prst="roundRect">
            <a:avLst>
              <a:gd name="adj" fmla="val 5634"/>
            </a:avLst>
          </a:prstGeom>
          <a:solidFill>
            <a:srgbClr val="111B30"/>
          </a:solidFill>
          <a:ln w="12700">
            <a:solidFill>
              <a:srgbClr val="38435C"/>
            </a:solidFill>
            <a:prstDash val="solid"/>
          </a:ln>
        </p:spPr>
      </p:sp>
      <p:sp>
        <p:nvSpPr>
          <p:cNvPr id="8" name="Text 6"/>
          <p:cNvSpPr txBox="1"/>
          <p:nvPr/>
        </p:nvSpPr>
        <p:spPr>
          <a:xfrm>
            <a:off x="1280160" y="2587752"/>
            <a:ext cx="731520" cy="822960"/>
          </a:xfrm>
          <a:prstGeom prst="rect">
            <a:avLst/>
          </a:prstGeom>
          <a:noFill/>
          <a:ln/>
        </p:spPr>
        <p:txBody>
          <a:bodyPr wrap="square" lIns="0" tIns="0" rIns="0" bIns="0" rtlCol="0" anchor="t"/>
          <a:lstStyle/>
          <a:p>
            <a:pPr algn="l" indent="0" marL="0">
              <a:lnSpc>
                <a:spcPct val="108000"/>
              </a:lnSpc>
              <a:buNone/>
            </a:pPr>
            <a:r>
              <a:rPr lang="en-US" sz="3600" dirty="0">
                <a:solidFill>
                  <a:srgbClr val="2DD4BF"/>
                </a:solidFill>
                <a:latin typeface="Space Grotesk" pitchFamily="34" charset="0"/>
                <a:ea typeface="Space Grotesk" pitchFamily="34" charset="-122"/>
                <a:cs typeface="Space Grotesk" pitchFamily="34" charset="-120"/>
              </a:rPr>
              <a:t>1</a:t>
            </a:r>
            <a:endParaRPr lang="en-US" sz="3600" dirty="0"/>
          </a:p>
        </p:txBody>
      </p:sp>
      <p:sp>
        <p:nvSpPr>
          <p:cNvPr id="9" name="Text 7"/>
          <p:cNvSpPr txBox="1"/>
          <p:nvPr/>
        </p:nvSpPr>
        <p:spPr>
          <a:xfrm>
            <a:off x="2194560" y="2514600"/>
            <a:ext cx="8869680" cy="457200"/>
          </a:xfrm>
          <a:prstGeom prst="rect">
            <a:avLst/>
          </a:prstGeom>
          <a:noFill/>
          <a:ln/>
        </p:spPr>
        <p:txBody>
          <a:bodyPr wrap="square" lIns="0" tIns="0" rIns="0" bIns="0" rtlCol="0" anchor="t"/>
          <a:lstStyle/>
          <a:p>
            <a:pPr algn="l" indent="0" marL="0">
              <a:lnSpc>
                <a:spcPct val="108000"/>
              </a:lnSpc>
              <a:buNone/>
            </a:pPr>
            <a:r>
              <a:rPr lang="en-US" sz="2300" dirty="0">
                <a:solidFill>
                  <a:srgbClr val="EAF0FA"/>
                </a:solidFill>
                <a:latin typeface="Space Grotesk" pitchFamily="34" charset="0"/>
                <a:ea typeface="Space Grotesk" pitchFamily="34" charset="-122"/>
                <a:cs typeface="Space Grotesk" pitchFamily="34" charset="-120"/>
              </a:rPr>
              <a:t>Repair the metric</a:t>
            </a:r>
            <a:endParaRPr lang="en-US" sz="2300" dirty="0"/>
          </a:p>
        </p:txBody>
      </p:sp>
      <p:sp>
        <p:nvSpPr>
          <p:cNvPr id="10" name="Text 8"/>
          <p:cNvSpPr txBox="1"/>
          <p:nvPr/>
        </p:nvSpPr>
        <p:spPr>
          <a:xfrm>
            <a:off x="2194560" y="3017520"/>
            <a:ext cx="8869680" cy="548640"/>
          </a:xfrm>
          <a:prstGeom prst="rect">
            <a:avLst/>
          </a:prstGeom>
          <a:noFill/>
          <a:ln/>
        </p:spPr>
        <p:txBody>
          <a:bodyPr wrap="square" lIns="0" tIns="0" rIns="0" bIns="0" rtlCol="0" anchor="t"/>
          <a:lstStyle/>
          <a:p>
            <a:pPr algn="l" indent="0" marL="0">
              <a:lnSpc>
                <a:spcPct val="108000"/>
              </a:lnSpc>
              <a:buNone/>
            </a:pPr>
            <a:r>
              <a:rPr lang="en-US" sz="1650" dirty="0">
                <a:solidFill>
                  <a:srgbClr val="B8C2D6"/>
                </a:solidFill>
                <a:latin typeface="IBM Plex Sans" pitchFamily="34" charset="0"/>
                <a:ea typeface="IBM Plex Sans" pitchFamily="34" charset="-122"/>
                <a:cs typeface="IBM Plex Sans" pitchFamily="34" charset="-120"/>
              </a:rPr>
              <a:t>Score the fact token only; add truth ratio and retain after the attack.</a:t>
            </a:r>
            <a:endParaRPr lang="en-US" sz="1650" dirty="0"/>
          </a:p>
        </p:txBody>
      </p:sp>
      <p:sp>
        <p:nvSpPr>
          <p:cNvPr id="11" name="Shape 9"/>
          <p:cNvSpPr/>
          <p:nvPr/>
        </p:nvSpPr>
        <p:spPr>
          <a:xfrm>
            <a:off x="987552" y="3813048"/>
            <a:ext cx="10332720" cy="1298448"/>
          </a:xfrm>
          <a:prstGeom prst="roundRect">
            <a:avLst>
              <a:gd name="adj" fmla="val 5634"/>
            </a:avLst>
          </a:prstGeom>
          <a:solidFill>
            <a:srgbClr val="111B30"/>
          </a:solidFill>
          <a:ln w="12700">
            <a:solidFill>
              <a:srgbClr val="38435C"/>
            </a:solidFill>
            <a:prstDash val="solid"/>
          </a:ln>
        </p:spPr>
      </p:sp>
      <p:sp>
        <p:nvSpPr>
          <p:cNvPr id="12" name="Text 10"/>
          <p:cNvSpPr txBox="1"/>
          <p:nvPr/>
        </p:nvSpPr>
        <p:spPr>
          <a:xfrm>
            <a:off x="1280160" y="4069080"/>
            <a:ext cx="731520" cy="822960"/>
          </a:xfrm>
          <a:prstGeom prst="rect">
            <a:avLst/>
          </a:prstGeom>
          <a:noFill/>
          <a:ln/>
        </p:spPr>
        <p:txBody>
          <a:bodyPr wrap="square" lIns="0" tIns="0" rIns="0" bIns="0" rtlCol="0" anchor="t"/>
          <a:lstStyle/>
          <a:p>
            <a:pPr algn="l" indent="0" marL="0">
              <a:lnSpc>
                <a:spcPct val="108000"/>
              </a:lnSpc>
              <a:buNone/>
            </a:pPr>
            <a:r>
              <a:rPr lang="en-US" sz="3600" dirty="0">
                <a:solidFill>
                  <a:srgbClr val="2DD4BF"/>
                </a:solidFill>
                <a:latin typeface="Space Grotesk" pitchFamily="34" charset="0"/>
                <a:ea typeface="Space Grotesk" pitchFamily="34" charset="-122"/>
                <a:cs typeface="Space Grotesk" pitchFamily="34" charset="-120"/>
              </a:rPr>
              <a:t>2</a:t>
            </a:r>
            <a:endParaRPr lang="en-US" sz="3600" dirty="0"/>
          </a:p>
        </p:txBody>
      </p:sp>
      <p:sp>
        <p:nvSpPr>
          <p:cNvPr id="13" name="Text 11"/>
          <p:cNvSpPr txBox="1"/>
          <p:nvPr/>
        </p:nvSpPr>
        <p:spPr>
          <a:xfrm>
            <a:off x="2194560" y="3995928"/>
            <a:ext cx="8869680" cy="457200"/>
          </a:xfrm>
          <a:prstGeom prst="rect">
            <a:avLst/>
          </a:prstGeom>
          <a:noFill/>
          <a:ln/>
        </p:spPr>
        <p:txBody>
          <a:bodyPr wrap="square" lIns="0" tIns="0" rIns="0" bIns="0" rtlCol="0" anchor="t"/>
          <a:lstStyle/>
          <a:p>
            <a:pPr algn="l" indent="0" marL="0">
              <a:lnSpc>
                <a:spcPct val="108000"/>
              </a:lnSpc>
              <a:buNone/>
            </a:pPr>
            <a:r>
              <a:rPr lang="en-US" sz="2300" dirty="0">
                <a:solidFill>
                  <a:srgbClr val="EAF0FA"/>
                </a:solidFill>
                <a:latin typeface="Space Grotesk" pitchFamily="34" charset="0"/>
                <a:ea typeface="Space Grotesk" pitchFamily="34" charset="-122"/>
                <a:cs typeface="Space Grotesk" pitchFamily="34" charset="-120"/>
              </a:rPr>
              <a:t>Add HRU’s real mechanism</a:t>
            </a:r>
            <a:endParaRPr lang="en-US" sz="2300" dirty="0"/>
          </a:p>
        </p:txBody>
      </p:sp>
      <p:sp>
        <p:nvSpPr>
          <p:cNvPr id="14" name="Text 12"/>
          <p:cNvSpPr txBox="1"/>
          <p:nvPr/>
        </p:nvSpPr>
        <p:spPr>
          <a:xfrm>
            <a:off x="2194560" y="4498848"/>
            <a:ext cx="8869680" cy="548640"/>
          </a:xfrm>
          <a:prstGeom prst="rect">
            <a:avLst/>
          </a:prstGeom>
          <a:noFill/>
          <a:ln/>
        </p:spPr>
        <p:txBody>
          <a:bodyPr wrap="square" lIns="0" tIns="0" rIns="0" bIns="0" rtlCol="0" anchor="t"/>
          <a:lstStyle/>
          <a:p>
            <a:pPr algn="l" indent="0" marL="0">
              <a:lnSpc>
                <a:spcPct val="108000"/>
              </a:lnSpc>
              <a:buNone/>
            </a:pPr>
            <a:r>
              <a:rPr lang="en-US" sz="1650" dirty="0">
                <a:solidFill>
                  <a:srgbClr val="B8C2D6"/>
                </a:solidFill>
                <a:latin typeface="IBM Plex Sans" pitchFamily="34" charset="0"/>
                <a:ea typeface="IBM Plex Sans" pitchFamily="34" charset="-122"/>
                <a:cs typeface="IBM Plex Sans" pitchFamily="34" charset="-120"/>
              </a:rPr>
              <a:t>Attack a clone every 5 steps; re-weight the examples the attack relearns fastest.</a:t>
            </a:r>
            <a:endParaRPr lang="en-US" sz="1650" dirty="0"/>
          </a:p>
        </p:txBody>
      </p:sp>
      <p:sp>
        <p:nvSpPr>
          <p:cNvPr id="15" name="Shape 13"/>
          <p:cNvSpPr/>
          <p:nvPr/>
        </p:nvSpPr>
        <p:spPr>
          <a:xfrm>
            <a:off x="987552" y="5294376"/>
            <a:ext cx="10332720" cy="1298448"/>
          </a:xfrm>
          <a:prstGeom prst="roundRect">
            <a:avLst>
              <a:gd name="adj" fmla="val 5634"/>
            </a:avLst>
          </a:prstGeom>
          <a:solidFill>
            <a:srgbClr val="111B30"/>
          </a:solidFill>
          <a:ln w="12700">
            <a:solidFill>
              <a:srgbClr val="2DD4BF"/>
            </a:solidFill>
            <a:prstDash val="solid"/>
          </a:ln>
        </p:spPr>
      </p:sp>
      <p:sp>
        <p:nvSpPr>
          <p:cNvPr id="16" name="Text 14"/>
          <p:cNvSpPr txBox="1"/>
          <p:nvPr/>
        </p:nvSpPr>
        <p:spPr>
          <a:xfrm>
            <a:off x="1280160" y="5550408"/>
            <a:ext cx="731520" cy="822960"/>
          </a:xfrm>
          <a:prstGeom prst="rect">
            <a:avLst/>
          </a:prstGeom>
          <a:noFill/>
          <a:ln/>
        </p:spPr>
        <p:txBody>
          <a:bodyPr wrap="square" lIns="0" tIns="0" rIns="0" bIns="0" rtlCol="0" anchor="t"/>
          <a:lstStyle/>
          <a:p>
            <a:pPr algn="l" indent="0" marL="0">
              <a:lnSpc>
                <a:spcPct val="108000"/>
              </a:lnSpc>
              <a:buNone/>
            </a:pPr>
            <a:r>
              <a:rPr lang="en-US" sz="3600" dirty="0">
                <a:solidFill>
                  <a:srgbClr val="2DD4BF"/>
                </a:solidFill>
                <a:latin typeface="Space Grotesk" pitchFamily="34" charset="0"/>
                <a:ea typeface="Space Grotesk" pitchFamily="34" charset="-122"/>
                <a:cs typeface="Space Grotesk" pitchFamily="34" charset="-120"/>
              </a:rPr>
              <a:t>3</a:t>
            </a:r>
            <a:endParaRPr lang="en-US" sz="3600" dirty="0"/>
          </a:p>
        </p:txBody>
      </p:sp>
      <p:sp>
        <p:nvSpPr>
          <p:cNvPr id="17" name="Text 15"/>
          <p:cNvSpPr txBox="1"/>
          <p:nvPr/>
        </p:nvSpPr>
        <p:spPr>
          <a:xfrm>
            <a:off x="2194560" y="5477256"/>
            <a:ext cx="8869680" cy="457200"/>
          </a:xfrm>
          <a:prstGeom prst="rect">
            <a:avLst/>
          </a:prstGeom>
          <a:noFill/>
          <a:ln/>
        </p:spPr>
        <p:txBody>
          <a:bodyPr wrap="square" lIns="0" tIns="0" rIns="0" bIns="0" rtlCol="0" anchor="t"/>
          <a:lstStyle/>
          <a:p>
            <a:pPr algn="l" indent="0" marL="0">
              <a:lnSpc>
                <a:spcPct val="108000"/>
              </a:lnSpc>
              <a:buNone/>
            </a:pPr>
            <a:r>
              <a:rPr lang="en-US" sz="2300" dirty="0">
                <a:solidFill>
                  <a:srgbClr val="EAF0FA"/>
                </a:solidFill>
                <a:latin typeface="Space Grotesk" pitchFamily="34" charset="0"/>
                <a:ea typeface="Space Grotesk" pitchFamily="34" charset="-122"/>
                <a:cs typeface="Space Grotesk" pitchFamily="34" charset="-120"/>
              </a:rPr>
              <a:t>Equal-budget test, 3 seeds</a:t>
            </a:r>
            <a:endParaRPr lang="en-US" sz="2300" dirty="0"/>
          </a:p>
        </p:txBody>
      </p:sp>
      <p:sp>
        <p:nvSpPr>
          <p:cNvPr id="18" name="Text 16"/>
          <p:cNvSpPr txBox="1"/>
          <p:nvPr/>
        </p:nvSpPr>
        <p:spPr>
          <a:xfrm>
            <a:off x="2194560" y="5980176"/>
            <a:ext cx="8869680" cy="548640"/>
          </a:xfrm>
          <a:prstGeom prst="rect">
            <a:avLst/>
          </a:prstGeom>
          <a:noFill/>
          <a:ln/>
        </p:spPr>
        <p:txBody>
          <a:bodyPr wrap="square" lIns="0" tIns="0" rIns="0" bIns="0" rtlCol="0" anchor="t"/>
          <a:lstStyle/>
          <a:p>
            <a:pPr algn="l" indent="0" marL="0">
              <a:lnSpc>
                <a:spcPct val="108000"/>
              </a:lnSpc>
              <a:buNone/>
            </a:pPr>
            <a:r>
              <a:rPr lang="en-US" sz="1650" dirty="0">
                <a:solidFill>
                  <a:srgbClr val="B8C2D6"/>
                </a:solidFill>
                <a:latin typeface="IBM Plex Sans" pitchFamily="34" charset="0"/>
                <a:ea typeface="IBM Plex Sans" pitchFamily="34" charset="-122"/>
                <a:cs typeface="IBM Plex Sans" pitchFamily="34" charset="-120"/>
              </a:rPr>
              <a:t>NPO · gradient ascent · SAM-NPO · HRU — 120 updates each, paired comparison.</a:t>
            </a:r>
            <a:endParaRPr lang="en-US" sz="1650" dirty="0"/>
          </a:p>
        </p:txBody>
      </p:sp>
      <p:sp>
        <p:nvSpPr>
          <p:cNvPr id="19" name="Shape 17"/>
          <p:cNvSpPr/>
          <p:nvPr/>
        </p:nvSpPr>
        <p:spPr>
          <a:xfrm>
            <a:off x="987552" y="6775704"/>
            <a:ext cx="10332720" cy="1298448"/>
          </a:xfrm>
          <a:prstGeom prst="roundRect">
            <a:avLst>
              <a:gd name="adj" fmla="val 5634"/>
            </a:avLst>
          </a:prstGeom>
          <a:solidFill>
            <a:srgbClr val="111B30"/>
          </a:solidFill>
          <a:ln w="12700">
            <a:solidFill>
              <a:srgbClr val="38435C"/>
            </a:solidFill>
            <a:prstDash val="solid"/>
          </a:ln>
        </p:spPr>
      </p:sp>
      <p:sp>
        <p:nvSpPr>
          <p:cNvPr id="20" name="Text 18"/>
          <p:cNvSpPr txBox="1"/>
          <p:nvPr/>
        </p:nvSpPr>
        <p:spPr>
          <a:xfrm>
            <a:off x="1280160" y="7031736"/>
            <a:ext cx="731520" cy="822960"/>
          </a:xfrm>
          <a:prstGeom prst="rect">
            <a:avLst/>
          </a:prstGeom>
          <a:noFill/>
          <a:ln/>
        </p:spPr>
        <p:txBody>
          <a:bodyPr wrap="square" lIns="0" tIns="0" rIns="0" bIns="0" rtlCol="0" anchor="t"/>
          <a:lstStyle/>
          <a:p>
            <a:pPr algn="l" indent="0" marL="0">
              <a:lnSpc>
                <a:spcPct val="108000"/>
              </a:lnSpc>
              <a:buNone/>
            </a:pPr>
            <a:r>
              <a:rPr lang="en-US" sz="3600" dirty="0">
                <a:solidFill>
                  <a:srgbClr val="2DD4BF"/>
                </a:solidFill>
                <a:latin typeface="Space Grotesk" pitchFamily="34" charset="0"/>
                <a:ea typeface="Space Grotesk" pitchFamily="34" charset="-122"/>
                <a:cs typeface="Space Grotesk" pitchFamily="34" charset="-120"/>
              </a:rPr>
              <a:t>4</a:t>
            </a:r>
            <a:endParaRPr lang="en-US" sz="3600" dirty="0"/>
          </a:p>
        </p:txBody>
      </p:sp>
      <p:sp>
        <p:nvSpPr>
          <p:cNvPr id="21" name="Text 19"/>
          <p:cNvSpPr txBox="1"/>
          <p:nvPr/>
        </p:nvSpPr>
        <p:spPr>
          <a:xfrm>
            <a:off x="2194560" y="6958584"/>
            <a:ext cx="8869680" cy="457200"/>
          </a:xfrm>
          <a:prstGeom prst="rect">
            <a:avLst/>
          </a:prstGeom>
          <a:noFill/>
          <a:ln/>
        </p:spPr>
        <p:txBody>
          <a:bodyPr wrap="square" lIns="0" tIns="0" rIns="0" bIns="0" rtlCol="0" anchor="t"/>
          <a:lstStyle/>
          <a:p>
            <a:pPr algn="l" indent="0" marL="0">
              <a:lnSpc>
                <a:spcPct val="108000"/>
              </a:lnSpc>
              <a:buNone/>
            </a:pPr>
            <a:r>
              <a:rPr lang="en-US" sz="2300" dirty="0">
                <a:solidFill>
                  <a:srgbClr val="EAF0FA"/>
                </a:solidFill>
                <a:latin typeface="Space Grotesk" pitchFamily="34" charset="0"/>
                <a:ea typeface="Space Grotesk" pitchFamily="34" charset="-122"/>
                <a:cs typeface="Space Grotesk" pitchFamily="34" charset="-120"/>
              </a:rPr>
              <a:t>Then cut cost</a:t>
            </a:r>
            <a:endParaRPr lang="en-US" sz="2300" dirty="0"/>
          </a:p>
        </p:txBody>
      </p:sp>
      <p:sp>
        <p:nvSpPr>
          <p:cNvPr id="22" name="Text 20"/>
          <p:cNvSpPr txBox="1"/>
          <p:nvPr/>
        </p:nvSpPr>
        <p:spPr>
          <a:xfrm>
            <a:off x="2194560" y="7461504"/>
            <a:ext cx="8869680" cy="548640"/>
          </a:xfrm>
          <a:prstGeom prst="rect">
            <a:avLst/>
          </a:prstGeom>
          <a:noFill/>
          <a:ln/>
        </p:spPr>
        <p:txBody>
          <a:bodyPr wrap="square" lIns="0" tIns="0" rIns="0" bIns="0" rtlCol="0" anchor="t"/>
          <a:lstStyle/>
          <a:p>
            <a:pPr algn="l" indent="0" marL="0">
              <a:lnSpc>
                <a:spcPct val="108000"/>
              </a:lnSpc>
              <a:buNone/>
            </a:pPr>
            <a:r>
              <a:rPr lang="en-US" sz="1650" dirty="0">
                <a:solidFill>
                  <a:srgbClr val="B8C2D6"/>
                </a:solidFill>
                <a:latin typeface="IBM Plex Sans" pitchFamily="34" charset="0"/>
                <a:ea typeface="IBM Plex Sans" pitchFamily="34" charset="-122"/>
                <a:cs typeface="IBM Plex Sans" pitchFamily="34" charset="-120"/>
              </a:rPr>
              <a:t>Plateau stopping and lighter probes, toward 2–5× a scrub pass.</a:t>
            </a:r>
            <a:endParaRPr lang="en-US" sz="1650" dirty="0"/>
          </a:p>
        </p:txBody>
      </p:sp>
      <p:sp>
        <p:nvSpPr>
          <p:cNvPr id="23" name="Shape 21"/>
          <p:cNvSpPr/>
          <p:nvPr/>
        </p:nvSpPr>
        <p:spPr>
          <a:xfrm>
            <a:off x="11750040" y="2331720"/>
            <a:ext cx="5550408" cy="5742432"/>
          </a:xfrm>
          <a:prstGeom prst="roundRect">
            <a:avLst>
              <a:gd name="adj" fmla="val 1318"/>
            </a:avLst>
          </a:prstGeom>
          <a:solidFill>
            <a:srgbClr val="111B30"/>
          </a:solidFill>
          <a:ln w="12700">
            <a:solidFill>
              <a:srgbClr val="2DD4BF"/>
            </a:solidFill>
            <a:prstDash val="solid"/>
          </a:ln>
        </p:spPr>
      </p:sp>
      <p:sp>
        <p:nvSpPr>
          <p:cNvPr id="24" name="Text 22"/>
          <p:cNvSpPr txBox="1"/>
          <p:nvPr/>
        </p:nvSpPr>
        <p:spPr>
          <a:xfrm>
            <a:off x="12070080" y="2651760"/>
            <a:ext cx="5029200" cy="310896"/>
          </a:xfrm>
          <a:prstGeom prst="rect">
            <a:avLst/>
          </a:prstGeom>
          <a:noFill/>
          <a:ln/>
        </p:spPr>
        <p:txBody>
          <a:bodyPr wrap="square" lIns="0" tIns="0" rIns="0" bIns="0" rtlCol="0" anchor="t"/>
          <a:lstStyle/>
          <a:p>
            <a:pPr algn="l" indent="0" marL="0">
              <a:lnSpc>
                <a:spcPct val="108000"/>
              </a:lnSpc>
              <a:buNone/>
            </a:pPr>
            <a:r>
              <a:rPr lang="en-US" sz="1500" dirty="0">
                <a:solidFill>
                  <a:srgbClr val="2DD4BF"/>
                </a:solidFill>
                <a:latin typeface="IBM Plex Mono" pitchFamily="34" charset="0"/>
                <a:ea typeface="IBM Plex Mono" pitchFamily="34" charset="-122"/>
                <a:cs typeface="IBM Plex Mono" pitchFamily="34" charset="-120"/>
              </a:rPr>
              <a:t>THE DECIDING COMPARISON</a:t>
            </a:r>
            <a:endParaRPr lang="en-US" sz="1500" dirty="0"/>
          </a:p>
        </p:txBody>
      </p:sp>
      <p:sp>
        <p:nvSpPr>
          <p:cNvPr id="25" name="Text 23"/>
          <p:cNvSpPr txBox="1"/>
          <p:nvPr/>
        </p:nvSpPr>
        <p:spPr>
          <a:xfrm>
            <a:off x="12070080" y="3108960"/>
            <a:ext cx="5029200" cy="731520"/>
          </a:xfrm>
          <a:prstGeom prst="rect">
            <a:avLst/>
          </a:prstGeom>
          <a:noFill/>
          <a:ln/>
        </p:spPr>
        <p:txBody>
          <a:bodyPr wrap="square" lIns="0" tIns="0" rIns="0" bIns="0" rtlCol="0" anchor="t"/>
          <a:lstStyle/>
          <a:p>
            <a:pPr algn="l" indent="0" marL="0">
              <a:lnSpc>
                <a:spcPct val="108000"/>
              </a:lnSpc>
              <a:buNone/>
            </a:pPr>
            <a:r>
              <a:rPr lang="en-US" sz="3200" dirty="0">
                <a:solidFill>
                  <a:srgbClr val="EAF0FA"/>
                </a:solidFill>
                <a:latin typeface="Space Grotesk" pitchFamily="34" charset="0"/>
                <a:ea typeface="Space Grotesk" pitchFamily="34" charset="-122"/>
                <a:cs typeface="Space Grotesk" pitchFamily="34" charset="-120"/>
              </a:rPr>
              <a:t>HRU vs SAM-NPO</a:t>
            </a:r>
            <a:endParaRPr lang="en-US" sz="3200" dirty="0"/>
          </a:p>
        </p:txBody>
      </p:sp>
      <p:sp>
        <p:nvSpPr>
          <p:cNvPr id="26" name="Text 24"/>
          <p:cNvSpPr txBox="1"/>
          <p:nvPr/>
        </p:nvSpPr>
        <p:spPr>
          <a:xfrm>
            <a:off x="12070080" y="3977640"/>
            <a:ext cx="4937760" cy="2103120"/>
          </a:xfrm>
          <a:prstGeom prst="rect">
            <a:avLst/>
          </a:prstGeom>
          <a:noFill/>
          <a:ln/>
        </p:spPr>
        <p:txBody>
          <a:bodyPr wrap="square" lIns="0" tIns="0" rIns="0" bIns="0" rtlCol="0" anchor="t"/>
          <a:lstStyle/>
          <a:p>
            <a:pPr algn="l" indent="0" marL="0">
              <a:lnSpc>
                <a:spcPct val="115000"/>
              </a:lnSpc>
              <a:buNone/>
            </a:pPr>
            <a:r>
              <a:rPr lang="en-US" sz="1750" dirty="0">
                <a:solidFill>
                  <a:srgbClr val="B8C2D6"/>
                </a:solidFill>
                <a:latin typeface="IBM Plex Sans" pitchFamily="34" charset="0"/>
                <a:ea typeface="IBM Plex Sans" pitchFamily="34" charset="-122"/>
                <a:cs typeface="IBM Plex Sans" pitchFamily="34" charset="-120"/>
              </a:rPr>
              <a:t>Same optimiser, same budget, same seeds. The only difference is the inline attack-and-reweight loop — so any gap is HRU’s contribution.</a:t>
            </a:r>
            <a:endParaRPr lang="en-US" sz="1750" dirty="0"/>
          </a:p>
        </p:txBody>
      </p:sp>
      <p:sp>
        <p:nvSpPr>
          <p:cNvPr id="27" name="Text 25"/>
          <p:cNvSpPr txBox="1"/>
          <p:nvPr/>
        </p:nvSpPr>
        <p:spPr>
          <a:xfrm>
            <a:off x="12070080" y="6263640"/>
            <a:ext cx="4937760" cy="731520"/>
          </a:xfrm>
          <a:prstGeom prst="rect">
            <a:avLst/>
          </a:prstGeom>
          <a:noFill/>
          <a:ln/>
        </p:spPr>
        <p:txBody>
          <a:bodyPr wrap="square" lIns="0" tIns="0" rIns="0" bIns="0" rtlCol="0" anchor="t"/>
          <a:lstStyle/>
          <a:p>
            <a:pPr algn="l" indent="0" marL="0">
              <a:lnSpc>
                <a:spcPct val="108000"/>
              </a:lnSpc>
              <a:buNone/>
            </a:pPr>
            <a:r>
              <a:rPr lang="en-US" sz="3400" dirty="0">
                <a:solidFill>
                  <a:srgbClr val="2DD4BF"/>
                </a:solidFill>
                <a:latin typeface="Space Grotesk" pitchFamily="34" charset="0"/>
                <a:ea typeface="Space Grotesk" pitchFamily="34" charset="-122"/>
                <a:cs typeface="Space Grotesk" pitchFamily="34" charset="-120"/>
              </a:rPr>
              <a:t>≈ 30–40 min</a:t>
            </a:r>
            <a:endParaRPr lang="en-US" sz="3400" dirty="0"/>
          </a:p>
        </p:txBody>
      </p:sp>
      <p:sp>
        <p:nvSpPr>
          <p:cNvPr id="28" name="Text 26"/>
          <p:cNvSpPr txBox="1"/>
          <p:nvPr/>
        </p:nvSpPr>
        <p:spPr>
          <a:xfrm>
            <a:off x="12070080" y="7040880"/>
            <a:ext cx="4937760" cy="365760"/>
          </a:xfrm>
          <a:prstGeom prst="rect">
            <a:avLst/>
          </a:prstGeom>
          <a:noFill/>
          <a:ln/>
        </p:spPr>
        <p:txBody>
          <a:bodyPr wrap="square" lIns="0" tIns="0" rIns="0" bIns="0" rtlCol="0" anchor="t"/>
          <a:lstStyle/>
          <a:p>
            <a:pPr algn="l" indent="0" marL="0">
              <a:lnSpc>
                <a:spcPct val="108000"/>
              </a:lnSpc>
              <a:buNone/>
            </a:pPr>
            <a:r>
              <a:rPr lang="en-US" sz="1400" dirty="0">
                <a:solidFill>
                  <a:srgbClr val="7C89A3"/>
                </a:solidFill>
                <a:latin typeface="IBM Plex Mono" pitchFamily="34" charset="0"/>
                <a:ea typeface="IBM Plex Mono" pitchFamily="34" charset="-122"/>
                <a:cs typeface="IBM Plex Mono" pitchFamily="34" charset="-120"/>
              </a:rPr>
              <a:t>of T4 GPU time · notebook built</a:t>
            </a:r>
            <a:endParaRPr lang="en-US" sz="1400" dirty="0"/>
          </a:p>
        </p:txBody>
      </p:sp>
      <p:sp>
        <p:nvSpPr>
          <p:cNvPr id="29" name="Text 27"/>
          <p:cNvSpPr txBox="1"/>
          <p:nvPr/>
        </p:nvSpPr>
        <p:spPr>
          <a:xfrm>
            <a:off x="987552" y="8503920"/>
            <a:ext cx="16093440" cy="457200"/>
          </a:xfrm>
          <a:prstGeom prst="rect">
            <a:avLst/>
          </a:prstGeom>
          <a:noFill/>
          <a:ln/>
        </p:spPr>
        <p:txBody>
          <a:bodyPr wrap="square" lIns="0" tIns="0" rIns="0" bIns="0" rtlCol="0" anchor="t"/>
          <a:lstStyle/>
          <a:p>
            <a:pPr algn="l" indent="0" marL="0">
              <a:lnSpc>
                <a:spcPct val="108000"/>
              </a:lnSpc>
              <a:buNone/>
            </a:pPr>
            <a:r>
              <a:rPr lang="en-US" sz="1850" dirty="0">
                <a:solidFill>
                  <a:srgbClr val="2DD4BF"/>
                </a:solidFill>
                <a:latin typeface="IBM Plex Sans" pitchFamily="34" charset="0"/>
                <a:ea typeface="IBM Plex Sans" pitchFamily="34" charset="-122"/>
                <a:cs typeface="IBM Plex Sans" pitchFamily="34" charset="-120"/>
              </a:rPr>
              <a:t>We report the result whichever way it lands.</a:t>
            </a:r>
            <a:endParaRPr lang="en-US" sz="1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020"/>
        </a:solidFill>
      </p:bgPr>
    </p:bg>
    <p:spTree>
      <p:nvGrpSpPr>
        <p:cNvPr id="1" name=""/>
        <p:cNvGrpSpPr/>
        <p:nvPr/>
      </p:nvGrpSpPr>
      <p:grpSpPr>
        <a:xfrm>
          <a:off x="0" y="0"/>
          <a:ext cx="0" cy="0"/>
          <a:chOff x="0" y="0"/>
          <a:chExt cx="0" cy="0"/>
        </a:xfrm>
      </p:grpSpPr>
      <p:sp>
        <p:nvSpPr>
          <p:cNvPr id="2" name="Text 0"/>
          <p:cNvSpPr txBox="1"/>
          <p:nvPr/>
        </p:nvSpPr>
        <p:spPr>
          <a:xfrm>
            <a:off x="987552" y="722376"/>
            <a:ext cx="731520" cy="329184"/>
          </a:xfrm>
          <a:prstGeom prst="rect">
            <a:avLst/>
          </a:prstGeom>
          <a:noFill/>
          <a:ln/>
        </p:spPr>
        <p:txBody>
          <a:bodyPr wrap="square" lIns="0" tIns="0" rIns="0" bIns="0" rtlCol="0" anchor="t"/>
          <a:lstStyle/>
          <a:p>
            <a:pPr algn="l" indent="0" marL="0">
              <a:lnSpc>
                <a:spcPct val="108000"/>
              </a:lnSpc>
              <a:buNone/>
            </a:pPr>
            <a:r>
              <a:rPr lang="en-US" sz="1800" dirty="0">
                <a:solidFill>
                  <a:srgbClr val="2DD4BF"/>
                </a:solidFill>
                <a:latin typeface="IBM Plex Mono" pitchFamily="34" charset="0"/>
                <a:ea typeface="IBM Plex Mono" pitchFamily="34" charset="-122"/>
                <a:cs typeface="IBM Plex Mono" pitchFamily="34" charset="-120"/>
              </a:rPr>
              <a:t>16</a:t>
            </a:r>
            <a:endParaRPr lang="en-US" sz="1800" dirty="0"/>
          </a:p>
        </p:txBody>
      </p:sp>
      <p:sp>
        <p:nvSpPr>
          <p:cNvPr id="3" name="Text 1"/>
          <p:cNvSpPr txBox="1"/>
          <p:nvPr/>
        </p:nvSpPr>
        <p:spPr>
          <a:xfrm>
            <a:off x="1938528" y="722376"/>
            <a:ext cx="9144000" cy="329184"/>
          </a:xfrm>
          <a:prstGeom prst="rect">
            <a:avLst/>
          </a:prstGeom>
          <a:noFill/>
          <a:ln/>
        </p:spPr>
        <p:txBody>
          <a:bodyPr wrap="square" lIns="0" tIns="0" rIns="0" bIns="0" rtlCol="0" anchor="t"/>
          <a:lstStyle/>
          <a:p>
            <a:pPr algn="l" indent="0" marL="0">
              <a:lnSpc>
                <a:spcPct val="108000"/>
              </a:lnSpc>
              <a:buNone/>
            </a:pPr>
            <a:r>
              <a:rPr lang="en-US" sz="1800" dirty="0">
                <a:solidFill>
                  <a:srgbClr val="7C89A3"/>
                </a:solidFill>
                <a:latin typeface="IBM Plex Mono" pitchFamily="34" charset="0"/>
                <a:ea typeface="IBM Plex Mono" pitchFamily="34" charset="-122"/>
                <a:cs typeface="IBM Plex Mono" pitchFamily="34" charset="-120"/>
              </a:rPr>
              <a:t>SCOPE OF CLAIMS</a:t>
            </a:r>
            <a:endParaRPr lang="en-US" sz="1800" dirty="0"/>
          </a:p>
        </p:txBody>
      </p:sp>
      <p:sp>
        <p:nvSpPr>
          <p:cNvPr id="4" name="Text 2"/>
          <p:cNvSpPr txBox="1"/>
          <p:nvPr/>
        </p:nvSpPr>
        <p:spPr>
          <a:xfrm>
            <a:off x="987552" y="1170432"/>
            <a:ext cx="16093440" cy="731520"/>
          </a:xfrm>
          <a:prstGeom prst="rect">
            <a:avLst/>
          </a:prstGeom>
          <a:noFill/>
          <a:ln/>
        </p:spPr>
        <p:txBody>
          <a:bodyPr wrap="square" lIns="0" tIns="0" rIns="0" bIns="0" rtlCol="0" anchor="t"/>
          <a:lstStyle/>
          <a:p>
            <a:pPr algn="l" indent="0" marL="0">
              <a:lnSpc>
                <a:spcPct val="108000"/>
              </a:lnSpc>
              <a:buNone/>
            </a:pPr>
            <a:r>
              <a:rPr lang="en-US" sz="4200" dirty="0">
                <a:solidFill>
                  <a:srgbClr val="EAF0FA"/>
                </a:solidFill>
                <a:latin typeface="Space Grotesk" pitchFamily="34" charset="0"/>
                <a:ea typeface="Space Grotesk" pitchFamily="34" charset="-122"/>
                <a:cs typeface="Space Grotesk" pitchFamily="34" charset="-120"/>
              </a:rPr>
              <a:t>What Is Built, What Is Measured, What Is Not Claimed</a:t>
            </a:r>
            <a:endParaRPr lang="en-US" sz="4200" dirty="0"/>
          </a:p>
        </p:txBody>
      </p:sp>
      <p:sp>
        <p:nvSpPr>
          <p:cNvPr id="5" name="Text 3"/>
          <p:cNvSpPr txBox="1"/>
          <p:nvPr/>
        </p:nvSpPr>
        <p:spPr>
          <a:xfrm>
            <a:off x="987552" y="9436608"/>
            <a:ext cx="4572000" cy="329184"/>
          </a:xfrm>
          <a:prstGeom prst="rect">
            <a:avLst/>
          </a:prstGeom>
          <a:noFill/>
          <a:ln/>
        </p:spPr>
        <p:txBody>
          <a:bodyPr wrap="square" lIns="0" tIns="0" rIns="0" bIns="0" rtlCol="0" anchor="t"/>
          <a:lstStyle/>
          <a:p>
            <a:pPr algn="l" indent="0" marL="0">
              <a:lnSpc>
                <a:spcPct val="108000"/>
              </a:lnSpc>
              <a:buNone/>
            </a:pPr>
            <a:r>
              <a:rPr lang="en-US" sz="1600" dirty="0">
                <a:solidFill>
                  <a:srgbClr val="38435C"/>
                </a:solidFill>
                <a:latin typeface="IBM Plex Mono" pitchFamily="34" charset="0"/>
                <a:ea typeface="IBM Plex Mono" pitchFamily="34" charset="-122"/>
                <a:cs typeface="IBM Plex Mono" pitchFamily="34" charset="-120"/>
              </a:rPr>
              <a:t>FORGETBENCH · HRU</a:t>
            </a:r>
            <a:endParaRPr lang="en-US" sz="1600" dirty="0"/>
          </a:p>
        </p:txBody>
      </p:sp>
      <p:sp>
        <p:nvSpPr>
          <p:cNvPr id="6" name="Text 4"/>
          <p:cNvSpPr txBox="1"/>
          <p:nvPr/>
        </p:nvSpPr>
        <p:spPr>
          <a:xfrm>
            <a:off x="12710160" y="9436608"/>
            <a:ext cx="4572000" cy="329184"/>
          </a:xfrm>
          <a:prstGeom prst="rect">
            <a:avLst/>
          </a:prstGeom>
          <a:noFill/>
          <a:ln/>
        </p:spPr>
        <p:txBody>
          <a:bodyPr wrap="square" lIns="0" tIns="0" rIns="0" bIns="0" rtlCol="0" anchor="t"/>
          <a:lstStyle/>
          <a:p>
            <a:pPr algn="r" indent="0" marL="0">
              <a:lnSpc>
                <a:spcPct val="108000"/>
              </a:lnSpc>
              <a:buNone/>
            </a:pPr>
            <a:r>
              <a:rPr lang="en-US" sz="1600" dirty="0">
                <a:solidFill>
                  <a:srgbClr val="38435C"/>
                </a:solidFill>
                <a:latin typeface="IBM Plex Mono" pitchFamily="34" charset="0"/>
                <a:ea typeface="IBM Plex Mono" pitchFamily="34" charset="-122"/>
                <a:cs typeface="IBM Plex Mono" pitchFamily="34" charset="-120"/>
              </a:rPr>
              <a:t>WOXSEN UNIVERSITY</a:t>
            </a:r>
            <a:endParaRPr lang="en-US" sz="1600" dirty="0"/>
          </a:p>
        </p:txBody>
      </p:sp>
      <p:sp>
        <p:nvSpPr>
          <p:cNvPr id="7" name="Shape 5"/>
          <p:cNvSpPr/>
          <p:nvPr/>
        </p:nvSpPr>
        <p:spPr>
          <a:xfrm>
            <a:off x="987552" y="2331720"/>
            <a:ext cx="5120640" cy="6675120"/>
          </a:xfrm>
          <a:prstGeom prst="roundRect">
            <a:avLst>
              <a:gd name="adj" fmla="val 1429"/>
            </a:avLst>
          </a:prstGeom>
          <a:solidFill>
            <a:srgbClr val="111B30"/>
          </a:solidFill>
          <a:ln w="12700">
            <a:solidFill>
              <a:srgbClr val="38435C"/>
            </a:solidFill>
            <a:prstDash val="solid"/>
          </a:ln>
        </p:spPr>
      </p:sp>
      <p:sp>
        <p:nvSpPr>
          <p:cNvPr id="8" name="Text 6"/>
          <p:cNvSpPr txBox="1"/>
          <p:nvPr/>
        </p:nvSpPr>
        <p:spPr>
          <a:xfrm>
            <a:off x="1307592" y="2606040"/>
            <a:ext cx="4572000" cy="310896"/>
          </a:xfrm>
          <a:prstGeom prst="rect">
            <a:avLst/>
          </a:prstGeom>
          <a:noFill/>
          <a:ln/>
        </p:spPr>
        <p:txBody>
          <a:bodyPr wrap="square" lIns="0" tIns="0" rIns="0" bIns="0" rtlCol="0" anchor="t"/>
          <a:lstStyle/>
          <a:p>
            <a:pPr algn="l" indent="0" marL="0">
              <a:lnSpc>
                <a:spcPct val="108000"/>
              </a:lnSpc>
              <a:buNone/>
            </a:pPr>
            <a:r>
              <a:rPr lang="en-US" sz="1500" dirty="0">
                <a:solidFill>
                  <a:srgbClr val="2DD4BF"/>
                </a:solidFill>
                <a:latin typeface="IBM Plex Mono" pitchFamily="34" charset="0"/>
                <a:ea typeface="IBM Plex Mono" pitchFamily="34" charset="-122"/>
                <a:cs typeface="IBM Plex Mono" pitchFamily="34" charset="-120"/>
              </a:rPr>
              <a:t>BUILT</a:t>
            </a:r>
            <a:endParaRPr lang="en-US" sz="1500" dirty="0"/>
          </a:p>
        </p:txBody>
      </p:sp>
      <p:sp>
        <p:nvSpPr>
          <p:cNvPr id="9" name="Text 7"/>
          <p:cNvSpPr txBox="1"/>
          <p:nvPr/>
        </p:nvSpPr>
        <p:spPr>
          <a:xfrm>
            <a:off x="1307592" y="3154680"/>
            <a:ext cx="4526280" cy="1005840"/>
          </a:xfrm>
          <a:prstGeom prst="rect">
            <a:avLst/>
          </a:prstGeom>
          <a:noFill/>
          <a:ln/>
        </p:spPr>
        <p:txBody>
          <a:bodyPr wrap="square" lIns="0" tIns="0" rIns="0" bIns="0" rtlCol="0" anchor="t"/>
          <a:lstStyle/>
          <a:p>
            <a:pPr algn="l" indent="0" marL="0">
              <a:lnSpc>
                <a:spcPct val="110000"/>
              </a:lnSpc>
              <a:buNone/>
            </a:pPr>
            <a:r>
              <a:rPr lang="en-US" sz="1700" dirty="0">
                <a:solidFill>
                  <a:srgbClr val="EAF0FA"/>
                </a:solidFill>
                <a:latin typeface="IBM Plex Sans" pitchFamily="34" charset="0"/>
                <a:ea typeface="IBM Plex Sans" pitchFamily="34" charset="-122"/>
                <a:cs typeface="IBM Plex Sans" pitchFamily="34" charset="-120"/>
              </a:rPr>
              <a:t>Runnable harness: all arms on identical probes, seeds and cost accounting</a:t>
            </a:r>
            <a:endParaRPr lang="en-US" sz="1700" dirty="0"/>
          </a:p>
        </p:txBody>
      </p:sp>
      <p:sp>
        <p:nvSpPr>
          <p:cNvPr id="10" name="Text 8"/>
          <p:cNvSpPr txBox="1"/>
          <p:nvPr/>
        </p:nvSpPr>
        <p:spPr>
          <a:xfrm>
            <a:off x="1307592" y="4270248"/>
            <a:ext cx="4526280" cy="1005840"/>
          </a:xfrm>
          <a:prstGeom prst="rect">
            <a:avLst/>
          </a:prstGeom>
          <a:noFill/>
          <a:ln/>
        </p:spPr>
        <p:txBody>
          <a:bodyPr wrap="square" lIns="0" tIns="0" rIns="0" bIns="0" rtlCol="0" anchor="t"/>
          <a:lstStyle/>
          <a:p>
            <a:pPr algn="l" indent="0" marL="0">
              <a:lnSpc>
                <a:spcPct val="110000"/>
              </a:lnSpc>
              <a:buNone/>
            </a:pPr>
            <a:r>
              <a:rPr lang="en-US" sz="1700" dirty="0">
                <a:solidFill>
                  <a:srgbClr val="EAF0FA"/>
                </a:solidFill>
                <a:latin typeface="IBM Plex Sans" pitchFamily="34" charset="0"/>
                <a:ea typeface="IBM Plex Sans" pitchFamily="34" charset="-122"/>
                <a:cs typeface="IBM Plex Sans" pitchFamily="34" charset="-120"/>
              </a:rPr>
              <a:t>Seven Colab notebooks, data to figures</a:t>
            </a:r>
            <a:endParaRPr lang="en-US" sz="1700" dirty="0"/>
          </a:p>
        </p:txBody>
      </p:sp>
      <p:sp>
        <p:nvSpPr>
          <p:cNvPr id="11" name="Text 9"/>
          <p:cNvSpPr txBox="1"/>
          <p:nvPr/>
        </p:nvSpPr>
        <p:spPr>
          <a:xfrm>
            <a:off x="1307592" y="5385816"/>
            <a:ext cx="4526280" cy="1005840"/>
          </a:xfrm>
          <a:prstGeom prst="rect">
            <a:avLst/>
          </a:prstGeom>
          <a:noFill/>
          <a:ln/>
        </p:spPr>
        <p:txBody>
          <a:bodyPr wrap="square" lIns="0" tIns="0" rIns="0" bIns="0" rtlCol="0" anchor="t"/>
          <a:lstStyle/>
          <a:p>
            <a:pPr algn="l" indent="0" marL="0">
              <a:lnSpc>
                <a:spcPct val="110000"/>
              </a:lnSpc>
              <a:buNone/>
            </a:pPr>
            <a:r>
              <a:rPr lang="en-US" sz="1700" dirty="0">
                <a:solidFill>
                  <a:srgbClr val="EAF0FA"/>
                </a:solidFill>
                <a:latin typeface="IBM Plex Sans" pitchFamily="34" charset="0"/>
                <a:ea typeface="IBM Plex Sans" pitchFamily="34" charset="-122"/>
                <a:cs typeface="IBM Plex Sans" pitchFamily="34" charset="-120"/>
              </a:rPr>
              <a:t>11-page audited status report</a:t>
            </a:r>
            <a:endParaRPr lang="en-US" sz="1700" dirty="0"/>
          </a:p>
        </p:txBody>
      </p:sp>
      <p:sp>
        <p:nvSpPr>
          <p:cNvPr id="12" name="Shape 10"/>
          <p:cNvSpPr/>
          <p:nvPr/>
        </p:nvSpPr>
        <p:spPr>
          <a:xfrm>
            <a:off x="6473952" y="2331720"/>
            <a:ext cx="5120640" cy="6675120"/>
          </a:xfrm>
          <a:prstGeom prst="roundRect">
            <a:avLst>
              <a:gd name="adj" fmla="val 1429"/>
            </a:avLst>
          </a:prstGeom>
          <a:solidFill>
            <a:srgbClr val="111B30"/>
          </a:solidFill>
          <a:ln w="12700">
            <a:solidFill>
              <a:srgbClr val="38435C"/>
            </a:solidFill>
            <a:prstDash val="solid"/>
          </a:ln>
        </p:spPr>
      </p:sp>
      <p:sp>
        <p:nvSpPr>
          <p:cNvPr id="13" name="Text 11"/>
          <p:cNvSpPr txBox="1"/>
          <p:nvPr/>
        </p:nvSpPr>
        <p:spPr>
          <a:xfrm>
            <a:off x="6793992" y="2606040"/>
            <a:ext cx="4572000" cy="310896"/>
          </a:xfrm>
          <a:prstGeom prst="rect">
            <a:avLst/>
          </a:prstGeom>
          <a:noFill/>
          <a:ln/>
        </p:spPr>
        <p:txBody>
          <a:bodyPr wrap="square" lIns="0" tIns="0" rIns="0" bIns="0" rtlCol="0" anchor="t"/>
          <a:lstStyle/>
          <a:p>
            <a:pPr algn="l" indent="0" marL="0">
              <a:lnSpc>
                <a:spcPct val="108000"/>
              </a:lnSpc>
              <a:buNone/>
            </a:pPr>
            <a:r>
              <a:rPr lang="en-US" sz="1500" dirty="0">
                <a:solidFill>
                  <a:srgbClr val="2DD4BF"/>
                </a:solidFill>
                <a:latin typeface="IBM Plex Mono" pitchFamily="34" charset="0"/>
                <a:ea typeface="IBM Plex Mono" pitchFamily="34" charset="-122"/>
                <a:cs typeface="IBM Plex Mono" pitchFamily="34" charset="-120"/>
              </a:rPr>
              <a:t>MEASURED</a:t>
            </a:r>
            <a:endParaRPr lang="en-US" sz="1500" dirty="0"/>
          </a:p>
        </p:txBody>
      </p:sp>
      <p:sp>
        <p:nvSpPr>
          <p:cNvPr id="14" name="Text 12"/>
          <p:cNvSpPr txBox="1"/>
          <p:nvPr/>
        </p:nvSpPr>
        <p:spPr>
          <a:xfrm>
            <a:off x="6793992" y="3154680"/>
            <a:ext cx="4526280" cy="1005840"/>
          </a:xfrm>
          <a:prstGeom prst="rect">
            <a:avLst/>
          </a:prstGeom>
          <a:noFill/>
          <a:ln/>
        </p:spPr>
        <p:txBody>
          <a:bodyPr wrap="square" lIns="0" tIns="0" rIns="0" bIns="0" rtlCol="0" anchor="t"/>
          <a:lstStyle/>
          <a:p>
            <a:pPr algn="l" indent="0" marL="0">
              <a:lnSpc>
                <a:spcPct val="110000"/>
              </a:lnSpc>
              <a:buNone/>
            </a:pPr>
            <a:r>
              <a:rPr lang="en-US" sz="1700" dirty="0">
                <a:solidFill>
                  <a:srgbClr val="EAF0FA"/>
                </a:solidFill>
                <a:latin typeface="IBM Plex Sans" pitchFamily="34" charset="0"/>
                <a:ea typeface="IBM Plex Sans" pitchFamily="34" charset="-122"/>
                <a:cs typeface="IBM Plex Sans" pitchFamily="34" charset="-120"/>
              </a:rPr>
              <a:t>Sharding dilution: −4.18 alone → −0.50 in ensemble</a:t>
            </a:r>
            <a:endParaRPr lang="en-US" sz="1700" dirty="0"/>
          </a:p>
        </p:txBody>
      </p:sp>
      <p:sp>
        <p:nvSpPr>
          <p:cNvPr id="15" name="Text 13"/>
          <p:cNvSpPr txBox="1"/>
          <p:nvPr/>
        </p:nvSpPr>
        <p:spPr>
          <a:xfrm>
            <a:off x="6793992" y="4270248"/>
            <a:ext cx="4526280" cy="1005840"/>
          </a:xfrm>
          <a:prstGeom prst="rect">
            <a:avLst/>
          </a:prstGeom>
          <a:noFill/>
          <a:ln/>
        </p:spPr>
        <p:txBody>
          <a:bodyPr wrap="square" lIns="0" tIns="0" rIns="0" bIns="0" rtlCol="0" anchor="t"/>
          <a:lstStyle/>
          <a:p>
            <a:pPr algn="l" indent="0" marL="0">
              <a:lnSpc>
                <a:spcPct val="110000"/>
              </a:lnSpc>
              <a:buNone/>
            </a:pPr>
            <a:r>
              <a:rPr lang="en-US" sz="1700" dirty="0">
                <a:solidFill>
                  <a:srgbClr val="EAF0FA"/>
                </a:solidFill>
                <a:latin typeface="IBM Plex Sans" pitchFamily="34" charset="0"/>
                <a:ea typeface="IBM Plex Sans" pitchFamily="34" charset="-122"/>
                <a:cs typeface="IBM Plex Sans" pitchFamily="34" charset="-120"/>
              </a:rPr>
              <a:t>Durability, retain, truth ratio, MIA and cost for 12 variants</a:t>
            </a:r>
            <a:endParaRPr lang="en-US" sz="1700" dirty="0"/>
          </a:p>
        </p:txBody>
      </p:sp>
      <p:sp>
        <p:nvSpPr>
          <p:cNvPr id="16" name="Text 14"/>
          <p:cNvSpPr txBox="1"/>
          <p:nvPr/>
        </p:nvSpPr>
        <p:spPr>
          <a:xfrm>
            <a:off x="6793992" y="5385816"/>
            <a:ext cx="4526280" cy="1005840"/>
          </a:xfrm>
          <a:prstGeom prst="rect">
            <a:avLst/>
          </a:prstGeom>
          <a:noFill/>
          <a:ln/>
        </p:spPr>
        <p:txBody>
          <a:bodyPr wrap="square" lIns="0" tIns="0" rIns="0" bIns="0" rtlCol="0" anchor="t"/>
          <a:lstStyle/>
          <a:p>
            <a:pPr algn="l" indent="0" marL="0">
              <a:lnSpc>
                <a:spcPct val="110000"/>
              </a:lnSpc>
              <a:buNone/>
            </a:pPr>
            <a:r>
              <a:rPr lang="en-US" sz="1700" dirty="0">
                <a:solidFill>
                  <a:srgbClr val="EAF0FA"/>
                </a:solidFill>
                <a:latin typeface="IBM Plex Sans" pitchFamily="34" charset="0"/>
                <a:ea typeface="IBM Plex Sans" pitchFamily="34" charset="-122"/>
                <a:cs typeface="IBM Plex Sans" pitchFamily="34" charset="-120"/>
              </a:rPr>
              <a:t>Durability–damage correlation, r = +0.88</a:t>
            </a:r>
            <a:endParaRPr lang="en-US" sz="1700" dirty="0"/>
          </a:p>
        </p:txBody>
      </p:sp>
      <p:sp>
        <p:nvSpPr>
          <p:cNvPr id="17" name="Shape 15"/>
          <p:cNvSpPr/>
          <p:nvPr/>
        </p:nvSpPr>
        <p:spPr>
          <a:xfrm>
            <a:off x="11960352" y="2331720"/>
            <a:ext cx="5120640" cy="6675120"/>
          </a:xfrm>
          <a:prstGeom prst="roundRect">
            <a:avLst>
              <a:gd name="adj" fmla="val 1429"/>
            </a:avLst>
          </a:prstGeom>
          <a:solidFill>
            <a:srgbClr val="111B30"/>
          </a:solidFill>
          <a:ln w="12700">
            <a:solidFill>
              <a:srgbClr val="7C89A3"/>
            </a:solidFill>
            <a:prstDash val="solid"/>
          </a:ln>
        </p:spPr>
      </p:sp>
      <p:sp>
        <p:nvSpPr>
          <p:cNvPr id="18" name="Text 16"/>
          <p:cNvSpPr txBox="1"/>
          <p:nvPr/>
        </p:nvSpPr>
        <p:spPr>
          <a:xfrm>
            <a:off x="12280392" y="2606040"/>
            <a:ext cx="4572000" cy="310896"/>
          </a:xfrm>
          <a:prstGeom prst="rect">
            <a:avLst/>
          </a:prstGeom>
          <a:noFill/>
          <a:ln/>
        </p:spPr>
        <p:txBody>
          <a:bodyPr wrap="square" lIns="0" tIns="0" rIns="0" bIns="0" rtlCol="0" anchor="t"/>
          <a:lstStyle/>
          <a:p>
            <a:pPr algn="l" indent="0" marL="0">
              <a:lnSpc>
                <a:spcPct val="108000"/>
              </a:lnSpc>
              <a:buNone/>
            </a:pPr>
            <a:r>
              <a:rPr lang="en-US" sz="1500" dirty="0">
                <a:solidFill>
                  <a:srgbClr val="7C89A3"/>
                </a:solidFill>
                <a:latin typeface="IBM Plex Mono" pitchFamily="34" charset="0"/>
                <a:ea typeface="IBM Plex Mono" pitchFamily="34" charset="-122"/>
                <a:cs typeface="IBM Plex Mono" pitchFamily="34" charset="-120"/>
              </a:rPr>
              <a:t>NOT CLAIMED</a:t>
            </a:r>
            <a:endParaRPr lang="en-US" sz="1500" dirty="0"/>
          </a:p>
        </p:txBody>
      </p:sp>
      <p:sp>
        <p:nvSpPr>
          <p:cNvPr id="19" name="Text 17"/>
          <p:cNvSpPr txBox="1"/>
          <p:nvPr/>
        </p:nvSpPr>
        <p:spPr>
          <a:xfrm>
            <a:off x="12280392" y="3154680"/>
            <a:ext cx="4526280" cy="1005840"/>
          </a:xfrm>
          <a:prstGeom prst="rect">
            <a:avLst/>
          </a:prstGeom>
          <a:noFill/>
          <a:ln/>
        </p:spPr>
        <p:txBody>
          <a:bodyPr wrap="square" lIns="0" tIns="0" rIns="0" bIns="0" rtlCol="0" anchor="t"/>
          <a:lstStyle/>
          <a:p>
            <a:pPr algn="l" indent="0" marL="0">
              <a:lnSpc>
                <a:spcPct val="110000"/>
              </a:lnSpc>
              <a:buNone/>
            </a:pPr>
            <a:r>
              <a:rPr lang="en-US" sz="1700" dirty="0">
                <a:solidFill>
                  <a:srgbClr val="B8C2D6"/>
                </a:solidFill>
                <a:latin typeface="IBM Plex Sans" pitchFamily="34" charset="0"/>
                <a:ea typeface="IBM Plex Sans" pitchFamily="34" charset="-122"/>
                <a:cs typeface="IBM Plex Sans" pitchFamily="34" charset="-120"/>
              </a:rPr>
              <a:t>That HRU beats the alternatives</a:t>
            </a:r>
            <a:endParaRPr lang="en-US" sz="1700" dirty="0"/>
          </a:p>
        </p:txBody>
      </p:sp>
      <p:sp>
        <p:nvSpPr>
          <p:cNvPr id="20" name="Text 18"/>
          <p:cNvSpPr txBox="1"/>
          <p:nvPr/>
        </p:nvSpPr>
        <p:spPr>
          <a:xfrm>
            <a:off x="12280392" y="4270248"/>
            <a:ext cx="4526280" cy="1005840"/>
          </a:xfrm>
          <a:prstGeom prst="rect">
            <a:avLst/>
          </a:prstGeom>
          <a:noFill/>
          <a:ln/>
        </p:spPr>
        <p:txBody>
          <a:bodyPr wrap="square" lIns="0" tIns="0" rIns="0" bIns="0" rtlCol="0" anchor="t"/>
          <a:lstStyle/>
          <a:p>
            <a:pPr algn="l" indent="0" marL="0">
              <a:lnSpc>
                <a:spcPct val="110000"/>
              </a:lnSpc>
              <a:buNone/>
            </a:pPr>
            <a:r>
              <a:rPr lang="en-US" sz="1700" dirty="0">
                <a:solidFill>
                  <a:srgbClr val="B8C2D6"/>
                </a:solidFill>
                <a:latin typeface="IBM Plex Sans" pitchFamily="34" charset="0"/>
                <a:ea typeface="IBM Plex Sans" pitchFamily="34" charset="-122"/>
                <a:cs typeface="IBM Plex Sans" pitchFamily="34" charset="-120"/>
              </a:rPr>
              <a:t>That the inline reweight step is validated</a:t>
            </a:r>
            <a:endParaRPr lang="en-US" sz="1700" dirty="0"/>
          </a:p>
        </p:txBody>
      </p:sp>
      <p:sp>
        <p:nvSpPr>
          <p:cNvPr id="21" name="Text 19"/>
          <p:cNvSpPr txBox="1"/>
          <p:nvPr/>
        </p:nvSpPr>
        <p:spPr>
          <a:xfrm>
            <a:off x="12280392" y="5385816"/>
            <a:ext cx="4526280" cy="1005840"/>
          </a:xfrm>
          <a:prstGeom prst="rect">
            <a:avLst/>
          </a:prstGeom>
          <a:noFill/>
          <a:ln/>
        </p:spPr>
        <p:txBody>
          <a:bodyPr wrap="square" lIns="0" tIns="0" rIns="0" bIns="0" rtlCol="0" anchor="t"/>
          <a:lstStyle/>
          <a:p>
            <a:pPr algn="l" indent="0" marL="0">
              <a:lnSpc>
                <a:spcPct val="110000"/>
              </a:lnSpc>
              <a:buNone/>
            </a:pPr>
            <a:r>
              <a:rPr lang="en-US" sz="1700" dirty="0">
                <a:solidFill>
                  <a:srgbClr val="B8C2D6"/>
                </a:solidFill>
                <a:latin typeface="IBM Plex Sans" pitchFamily="34" charset="0"/>
                <a:ea typeface="IBM Plex Sans" pitchFamily="34" charset="-122"/>
                <a:cs typeface="IBM Plex Sans" pitchFamily="34" charset="-120"/>
              </a:rPr>
              <a:t>Statistical significance (one seed)</a:t>
            </a:r>
            <a:endParaRPr lang="en-US" sz="1700" dirty="0"/>
          </a:p>
        </p:txBody>
      </p:sp>
      <p:sp>
        <p:nvSpPr>
          <p:cNvPr id="22" name="Text 20"/>
          <p:cNvSpPr txBox="1"/>
          <p:nvPr/>
        </p:nvSpPr>
        <p:spPr>
          <a:xfrm>
            <a:off x="12280392" y="6501384"/>
            <a:ext cx="4526280" cy="1005840"/>
          </a:xfrm>
          <a:prstGeom prst="rect">
            <a:avLst/>
          </a:prstGeom>
          <a:noFill/>
          <a:ln/>
        </p:spPr>
        <p:txBody>
          <a:bodyPr wrap="square" lIns="0" tIns="0" rIns="0" bIns="0" rtlCol="0" anchor="t"/>
          <a:lstStyle/>
          <a:p>
            <a:pPr algn="l" indent="0" marL="0">
              <a:lnSpc>
                <a:spcPct val="110000"/>
              </a:lnSpc>
              <a:buNone/>
            </a:pPr>
            <a:r>
              <a:rPr lang="en-US" sz="1700" dirty="0">
                <a:solidFill>
                  <a:srgbClr val="B8C2D6"/>
                </a:solidFill>
                <a:latin typeface="IBM Plex Sans" pitchFamily="34" charset="0"/>
                <a:ea typeface="IBM Plex Sans" pitchFamily="34" charset="-122"/>
                <a:cs typeface="IBM Plex Sans" pitchFamily="34" charset="-120"/>
              </a:rPr>
              <a:t>Results beyond GPT-2 scale</a:t>
            </a:r>
            <a:endParaRPr lang="en-US" sz="1700" dirty="0"/>
          </a:p>
        </p:txBody>
      </p:sp>
      <p:sp>
        <p:nvSpPr>
          <p:cNvPr id="23" name="Text 21"/>
          <p:cNvSpPr txBox="1"/>
          <p:nvPr/>
        </p:nvSpPr>
        <p:spPr>
          <a:xfrm>
            <a:off x="12280392" y="7616952"/>
            <a:ext cx="4526280" cy="1005840"/>
          </a:xfrm>
          <a:prstGeom prst="rect">
            <a:avLst/>
          </a:prstGeom>
          <a:noFill/>
          <a:ln/>
        </p:spPr>
        <p:txBody>
          <a:bodyPr wrap="square" lIns="0" tIns="0" rIns="0" bIns="0" rtlCol="0" anchor="t"/>
          <a:lstStyle/>
          <a:p>
            <a:pPr algn="l" indent="0" marL="0">
              <a:lnSpc>
                <a:spcPct val="110000"/>
              </a:lnSpc>
              <a:buNone/>
            </a:pPr>
            <a:r>
              <a:rPr lang="en-US" sz="1700" dirty="0">
                <a:solidFill>
                  <a:srgbClr val="B8C2D6"/>
                </a:solidFill>
                <a:latin typeface="IBM Plex Sans" pitchFamily="34" charset="0"/>
                <a:ea typeface="IBM Plex Sans" pitchFamily="34" charset="-122"/>
                <a:cs typeface="IBM Plex Sans" pitchFamily="34" charset="-120"/>
              </a:rPr>
              <a:t>Any legal opinion; absence of prior art</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020"/>
        </a:solidFill>
      </p:bgPr>
    </p:bg>
    <p:spTree>
      <p:nvGrpSpPr>
        <p:cNvPr id="1" name=""/>
        <p:cNvGrpSpPr/>
        <p:nvPr/>
      </p:nvGrpSpPr>
      <p:grpSpPr>
        <a:xfrm>
          <a:off x="0" y="0"/>
          <a:ext cx="0" cy="0"/>
          <a:chOff x="0" y="0"/>
          <a:chExt cx="0" cy="0"/>
        </a:xfrm>
      </p:grpSpPr>
      <p:sp>
        <p:nvSpPr>
          <p:cNvPr id="2" name="Text 0"/>
          <p:cNvSpPr txBox="1"/>
          <p:nvPr/>
        </p:nvSpPr>
        <p:spPr>
          <a:xfrm>
            <a:off x="987552" y="722376"/>
            <a:ext cx="731520" cy="329184"/>
          </a:xfrm>
          <a:prstGeom prst="rect">
            <a:avLst/>
          </a:prstGeom>
          <a:noFill/>
          <a:ln/>
        </p:spPr>
        <p:txBody>
          <a:bodyPr wrap="square" lIns="0" tIns="0" rIns="0" bIns="0" rtlCol="0" anchor="t"/>
          <a:lstStyle/>
          <a:p>
            <a:pPr algn="l" indent="0" marL="0">
              <a:lnSpc>
                <a:spcPct val="108000"/>
              </a:lnSpc>
              <a:buNone/>
            </a:pPr>
            <a:r>
              <a:rPr lang="en-US" sz="1800" dirty="0">
                <a:solidFill>
                  <a:srgbClr val="2DD4BF"/>
                </a:solidFill>
                <a:latin typeface="IBM Plex Mono" pitchFamily="34" charset="0"/>
                <a:ea typeface="IBM Plex Mono" pitchFamily="34" charset="-122"/>
                <a:cs typeface="IBM Plex Mono" pitchFamily="34" charset="-120"/>
              </a:rPr>
              <a:t>17</a:t>
            </a:r>
            <a:endParaRPr lang="en-US" sz="1800" dirty="0"/>
          </a:p>
        </p:txBody>
      </p:sp>
      <p:sp>
        <p:nvSpPr>
          <p:cNvPr id="3" name="Text 1"/>
          <p:cNvSpPr txBox="1"/>
          <p:nvPr/>
        </p:nvSpPr>
        <p:spPr>
          <a:xfrm>
            <a:off x="1938528" y="722376"/>
            <a:ext cx="9144000" cy="329184"/>
          </a:xfrm>
          <a:prstGeom prst="rect">
            <a:avLst/>
          </a:prstGeom>
          <a:noFill/>
          <a:ln/>
        </p:spPr>
        <p:txBody>
          <a:bodyPr wrap="square" lIns="0" tIns="0" rIns="0" bIns="0" rtlCol="0" anchor="t"/>
          <a:lstStyle/>
          <a:p>
            <a:pPr algn="l" indent="0" marL="0">
              <a:lnSpc>
                <a:spcPct val="108000"/>
              </a:lnSpc>
              <a:buNone/>
            </a:pPr>
            <a:r>
              <a:rPr lang="en-US" sz="1800" dirty="0">
                <a:solidFill>
                  <a:srgbClr val="7C89A3"/>
                </a:solidFill>
                <a:latin typeface="IBM Plex Mono" pitchFamily="34" charset="0"/>
                <a:ea typeface="IBM Plex Mono" pitchFamily="34" charset="-122"/>
                <a:cs typeface="IBM Plex Mono" pitchFamily="34" charset="-120"/>
              </a:rPr>
              <a:t>CONCLUSION</a:t>
            </a:r>
            <a:endParaRPr lang="en-US" sz="1800" dirty="0"/>
          </a:p>
        </p:txBody>
      </p:sp>
      <p:sp>
        <p:nvSpPr>
          <p:cNvPr id="4" name="Text 2"/>
          <p:cNvSpPr txBox="1"/>
          <p:nvPr/>
        </p:nvSpPr>
        <p:spPr>
          <a:xfrm>
            <a:off x="987552" y="1170432"/>
            <a:ext cx="16093440" cy="731520"/>
          </a:xfrm>
          <a:prstGeom prst="rect">
            <a:avLst/>
          </a:prstGeom>
          <a:noFill/>
          <a:ln/>
        </p:spPr>
        <p:txBody>
          <a:bodyPr wrap="square" lIns="0" tIns="0" rIns="0" bIns="0" rtlCol="0" anchor="t"/>
          <a:lstStyle/>
          <a:p>
            <a:pPr algn="l" indent="0" marL="0">
              <a:lnSpc>
                <a:spcPct val="108000"/>
              </a:lnSpc>
              <a:buNone/>
            </a:pPr>
            <a:r>
              <a:rPr lang="en-US" sz="4200" dirty="0">
                <a:solidFill>
                  <a:srgbClr val="EAF0FA"/>
                </a:solidFill>
                <a:latin typeface="Space Grotesk" pitchFamily="34" charset="0"/>
                <a:ea typeface="Space Grotesk" pitchFamily="34" charset="-122"/>
                <a:cs typeface="Space Grotesk" pitchFamily="34" charset="-120"/>
              </a:rPr>
              <a:t>What We Deliver</a:t>
            </a:r>
            <a:endParaRPr lang="en-US" sz="4200" dirty="0"/>
          </a:p>
        </p:txBody>
      </p:sp>
      <p:sp>
        <p:nvSpPr>
          <p:cNvPr id="5" name="Text 3"/>
          <p:cNvSpPr txBox="1"/>
          <p:nvPr/>
        </p:nvSpPr>
        <p:spPr>
          <a:xfrm>
            <a:off x="987552" y="9436608"/>
            <a:ext cx="4572000" cy="329184"/>
          </a:xfrm>
          <a:prstGeom prst="rect">
            <a:avLst/>
          </a:prstGeom>
          <a:noFill/>
          <a:ln/>
        </p:spPr>
        <p:txBody>
          <a:bodyPr wrap="square" lIns="0" tIns="0" rIns="0" bIns="0" rtlCol="0" anchor="t"/>
          <a:lstStyle/>
          <a:p>
            <a:pPr algn="l" indent="0" marL="0">
              <a:lnSpc>
                <a:spcPct val="108000"/>
              </a:lnSpc>
              <a:buNone/>
            </a:pPr>
            <a:r>
              <a:rPr lang="en-US" sz="1600" dirty="0">
                <a:solidFill>
                  <a:srgbClr val="38435C"/>
                </a:solidFill>
                <a:latin typeface="IBM Plex Mono" pitchFamily="34" charset="0"/>
                <a:ea typeface="IBM Plex Mono" pitchFamily="34" charset="-122"/>
                <a:cs typeface="IBM Plex Mono" pitchFamily="34" charset="-120"/>
              </a:rPr>
              <a:t>FORGETBENCH · HRU</a:t>
            </a:r>
            <a:endParaRPr lang="en-US" sz="1600" dirty="0"/>
          </a:p>
        </p:txBody>
      </p:sp>
      <p:sp>
        <p:nvSpPr>
          <p:cNvPr id="6" name="Text 4"/>
          <p:cNvSpPr txBox="1"/>
          <p:nvPr/>
        </p:nvSpPr>
        <p:spPr>
          <a:xfrm>
            <a:off x="12710160" y="9436608"/>
            <a:ext cx="4572000" cy="329184"/>
          </a:xfrm>
          <a:prstGeom prst="rect">
            <a:avLst/>
          </a:prstGeom>
          <a:noFill/>
          <a:ln/>
        </p:spPr>
        <p:txBody>
          <a:bodyPr wrap="square" lIns="0" tIns="0" rIns="0" bIns="0" rtlCol="0" anchor="t"/>
          <a:lstStyle/>
          <a:p>
            <a:pPr algn="r" indent="0" marL="0">
              <a:lnSpc>
                <a:spcPct val="108000"/>
              </a:lnSpc>
              <a:buNone/>
            </a:pPr>
            <a:r>
              <a:rPr lang="en-US" sz="1600" dirty="0">
                <a:solidFill>
                  <a:srgbClr val="38435C"/>
                </a:solidFill>
                <a:latin typeface="IBM Plex Mono" pitchFamily="34" charset="0"/>
                <a:ea typeface="IBM Plex Mono" pitchFamily="34" charset="-122"/>
                <a:cs typeface="IBM Plex Mono" pitchFamily="34" charset="-120"/>
              </a:rPr>
              <a:t>WOXSEN UNIVERSITY</a:t>
            </a:r>
            <a:endParaRPr lang="en-US" sz="1600" dirty="0"/>
          </a:p>
        </p:txBody>
      </p:sp>
      <p:sp>
        <p:nvSpPr>
          <p:cNvPr id="7" name="Shape 5"/>
          <p:cNvSpPr/>
          <p:nvPr/>
        </p:nvSpPr>
        <p:spPr>
          <a:xfrm>
            <a:off x="987552" y="2331720"/>
            <a:ext cx="5120640" cy="3291840"/>
          </a:xfrm>
          <a:prstGeom prst="roundRect">
            <a:avLst>
              <a:gd name="adj" fmla="val 2222"/>
            </a:avLst>
          </a:prstGeom>
          <a:solidFill>
            <a:srgbClr val="111B30"/>
          </a:solidFill>
          <a:ln w="12700">
            <a:solidFill>
              <a:srgbClr val="2DD4BF"/>
            </a:solidFill>
            <a:prstDash val="solid"/>
          </a:ln>
        </p:spPr>
      </p:sp>
      <p:sp>
        <p:nvSpPr>
          <p:cNvPr id="8" name="Text 6"/>
          <p:cNvSpPr txBox="1"/>
          <p:nvPr/>
        </p:nvSpPr>
        <p:spPr>
          <a:xfrm>
            <a:off x="1307592" y="2606040"/>
            <a:ext cx="1371600" cy="548640"/>
          </a:xfrm>
          <a:prstGeom prst="rect">
            <a:avLst/>
          </a:prstGeom>
          <a:noFill/>
          <a:ln/>
        </p:spPr>
        <p:txBody>
          <a:bodyPr wrap="square" lIns="0" tIns="0" rIns="0" bIns="0" rtlCol="0" anchor="t"/>
          <a:lstStyle/>
          <a:p>
            <a:pPr algn="l" indent="0" marL="0">
              <a:lnSpc>
                <a:spcPct val="108000"/>
              </a:lnSpc>
              <a:buNone/>
            </a:pPr>
            <a:r>
              <a:rPr lang="en-US" sz="3000" dirty="0">
                <a:solidFill>
                  <a:srgbClr val="2DD4BF"/>
                </a:solidFill>
                <a:latin typeface="Space Grotesk" pitchFamily="34" charset="0"/>
                <a:ea typeface="Space Grotesk" pitchFamily="34" charset="-122"/>
                <a:cs typeface="Space Grotesk" pitchFamily="34" charset="-120"/>
              </a:rPr>
              <a:t>01</a:t>
            </a:r>
            <a:endParaRPr lang="en-US" sz="3000" dirty="0"/>
          </a:p>
        </p:txBody>
      </p:sp>
      <p:sp>
        <p:nvSpPr>
          <p:cNvPr id="9" name="Text 7"/>
          <p:cNvSpPr txBox="1"/>
          <p:nvPr/>
        </p:nvSpPr>
        <p:spPr>
          <a:xfrm>
            <a:off x="1307592" y="3246120"/>
            <a:ext cx="4572000" cy="868680"/>
          </a:xfrm>
          <a:prstGeom prst="rect">
            <a:avLst/>
          </a:prstGeom>
          <a:noFill/>
          <a:ln/>
        </p:spPr>
        <p:txBody>
          <a:bodyPr wrap="square" lIns="0" tIns="0" rIns="0" bIns="0" rtlCol="0" anchor="t"/>
          <a:lstStyle/>
          <a:p>
            <a:pPr algn="l" indent="0" marL="0">
              <a:lnSpc>
                <a:spcPct val="108000"/>
              </a:lnSpc>
              <a:buNone/>
            </a:pPr>
            <a:r>
              <a:rPr lang="en-US" sz="2300" dirty="0">
                <a:solidFill>
                  <a:srgbClr val="EAF0FA"/>
                </a:solidFill>
                <a:latin typeface="Space Grotesk" pitchFamily="34" charset="0"/>
                <a:ea typeface="Space Grotesk" pitchFamily="34" charset="-122"/>
                <a:cs typeface="Space Grotesk" pitchFamily="34" charset="-120"/>
              </a:rPr>
              <a:t>ForgetBench, running</a:t>
            </a:r>
            <a:endParaRPr lang="en-US" sz="2300" dirty="0"/>
          </a:p>
        </p:txBody>
      </p:sp>
      <p:sp>
        <p:nvSpPr>
          <p:cNvPr id="10" name="Text 8"/>
          <p:cNvSpPr txBox="1"/>
          <p:nvPr/>
        </p:nvSpPr>
        <p:spPr>
          <a:xfrm>
            <a:off x="1307592" y="4114800"/>
            <a:ext cx="4572000" cy="914400"/>
          </a:xfrm>
          <a:prstGeom prst="rect">
            <a:avLst/>
          </a:prstGeom>
          <a:noFill/>
          <a:ln/>
        </p:spPr>
        <p:txBody>
          <a:bodyPr wrap="square" lIns="0" tIns="0" rIns="0" bIns="0" rtlCol="0" anchor="t"/>
          <a:lstStyle/>
          <a:p>
            <a:pPr algn="l" indent="0" marL="0">
              <a:lnSpc>
                <a:spcPct val="108000"/>
              </a:lnSpc>
              <a:buNone/>
            </a:pPr>
            <a:r>
              <a:rPr lang="en-US" sz="1600" dirty="0">
                <a:solidFill>
                  <a:srgbClr val="B8C2D6"/>
                </a:solidFill>
                <a:latin typeface="IBM Plex Sans" pitchFamily="34" charset="0"/>
                <a:ea typeface="IBM Plex Sans" pitchFamily="34" charset="-122"/>
                <a:cs typeface="IBM Plex Sans" pitchFamily="34" charset="-120"/>
              </a:rPr>
              <a:t>Twelve variants end to end on one harness.</a:t>
            </a:r>
            <a:endParaRPr lang="en-US" sz="1600" dirty="0"/>
          </a:p>
        </p:txBody>
      </p:sp>
      <p:sp>
        <p:nvSpPr>
          <p:cNvPr id="11" name="Text 9"/>
          <p:cNvSpPr txBox="1"/>
          <p:nvPr/>
        </p:nvSpPr>
        <p:spPr>
          <a:xfrm>
            <a:off x="1307592" y="5120640"/>
            <a:ext cx="4572000" cy="320040"/>
          </a:xfrm>
          <a:prstGeom prst="rect">
            <a:avLst/>
          </a:prstGeom>
          <a:noFill/>
          <a:ln/>
        </p:spPr>
        <p:txBody>
          <a:bodyPr wrap="square" lIns="0" tIns="0" rIns="0" bIns="0" rtlCol="0" anchor="t"/>
          <a:lstStyle/>
          <a:p>
            <a:pPr algn="l" indent="0" marL="0">
              <a:lnSpc>
                <a:spcPct val="108000"/>
              </a:lnSpc>
              <a:buNone/>
            </a:pPr>
            <a:r>
              <a:rPr lang="en-US" sz="1300" dirty="0">
                <a:solidFill>
                  <a:srgbClr val="2DD4BF"/>
                </a:solidFill>
                <a:latin typeface="IBM Plex Mono" pitchFamily="34" charset="0"/>
                <a:ea typeface="IBM Plex Mono" pitchFamily="34" charset="-122"/>
                <a:cs typeface="IBM Plex Mono" pitchFamily="34" charset="-120"/>
              </a:rPr>
              <a:t>DONE</a:t>
            </a:r>
            <a:endParaRPr lang="en-US" sz="1300" dirty="0"/>
          </a:p>
        </p:txBody>
      </p:sp>
      <p:sp>
        <p:nvSpPr>
          <p:cNvPr id="12" name="Shape 10"/>
          <p:cNvSpPr/>
          <p:nvPr/>
        </p:nvSpPr>
        <p:spPr>
          <a:xfrm>
            <a:off x="6473952" y="2331720"/>
            <a:ext cx="5120640" cy="3291840"/>
          </a:xfrm>
          <a:prstGeom prst="roundRect">
            <a:avLst>
              <a:gd name="adj" fmla="val 2222"/>
            </a:avLst>
          </a:prstGeom>
          <a:solidFill>
            <a:srgbClr val="111B30"/>
          </a:solidFill>
          <a:ln w="12700">
            <a:solidFill>
              <a:srgbClr val="38435C"/>
            </a:solidFill>
            <a:prstDash val="solid"/>
          </a:ln>
        </p:spPr>
      </p:sp>
      <p:sp>
        <p:nvSpPr>
          <p:cNvPr id="13" name="Text 11"/>
          <p:cNvSpPr txBox="1"/>
          <p:nvPr/>
        </p:nvSpPr>
        <p:spPr>
          <a:xfrm>
            <a:off x="6793992" y="2606040"/>
            <a:ext cx="1371600" cy="548640"/>
          </a:xfrm>
          <a:prstGeom prst="rect">
            <a:avLst/>
          </a:prstGeom>
          <a:noFill/>
          <a:ln/>
        </p:spPr>
        <p:txBody>
          <a:bodyPr wrap="square" lIns="0" tIns="0" rIns="0" bIns="0" rtlCol="0" anchor="t"/>
          <a:lstStyle/>
          <a:p>
            <a:pPr algn="l" indent="0" marL="0">
              <a:lnSpc>
                <a:spcPct val="108000"/>
              </a:lnSpc>
              <a:buNone/>
            </a:pPr>
            <a:r>
              <a:rPr lang="en-US" sz="3000" dirty="0">
                <a:solidFill>
                  <a:srgbClr val="2DD4BF"/>
                </a:solidFill>
                <a:latin typeface="Space Grotesk" pitchFamily="34" charset="0"/>
                <a:ea typeface="Space Grotesk" pitchFamily="34" charset="-122"/>
                <a:cs typeface="Space Grotesk" pitchFamily="34" charset="-120"/>
              </a:rPr>
              <a:t>02</a:t>
            </a:r>
            <a:endParaRPr lang="en-US" sz="3000" dirty="0"/>
          </a:p>
        </p:txBody>
      </p:sp>
      <p:sp>
        <p:nvSpPr>
          <p:cNvPr id="14" name="Text 12"/>
          <p:cNvSpPr txBox="1"/>
          <p:nvPr/>
        </p:nvSpPr>
        <p:spPr>
          <a:xfrm>
            <a:off x="6793992" y="3246120"/>
            <a:ext cx="4572000" cy="868680"/>
          </a:xfrm>
          <a:prstGeom prst="rect">
            <a:avLst/>
          </a:prstGeom>
          <a:noFill/>
          <a:ln/>
        </p:spPr>
        <p:txBody>
          <a:bodyPr wrap="square" lIns="0" tIns="0" rIns="0" bIns="0" rtlCol="0" anchor="t"/>
          <a:lstStyle/>
          <a:p>
            <a:pPr algn="l" indent="0" marL="0">
              <a:lnSpc>
                <a:spcPct val="108000"/>
              </a:lnSpc>
              <a:buNone/>
            </a:pPr>
            <a:r>
              <a:rPr lang="en-US" sz="2300" dirty="0">
                <a:solidFill>
                  <a:srgbClr val="EAF0FA"/>
                </a:solidFill>
                <a:latin typeface="Space Grotesk" pitchFamily="34" charset="0"/>
                <a:ea typeface="Space Grotesk" pitchFamily="34" charset="-122"/>
                <a:cs typeface="Space Grotesk" pitchFamily="34" charset="-120"/>
              </a:rPr>
              <a:t>A durability comparison</a:t>
            </a:r>
            <a:endParaRPr lang="en-US" sz="2300" dirty="0"/>
          </a:p>
        </p:txBody>
      </p:sp>
      <p:sp>
        <p:nvSpPr>
          <p:cNvPr id="15" name="Text 13"/>
          <p:cNvSpPr txBox="1"/>
          <p:nvPr/>
        </p:nvSpPr>
        <p:spPr>
          <a:xfrm>
            <a:off x="6793992" y="4114800"/>
            <a:ext cx="4572000" cy="914400"/>
          </a:xfrm>
          <a:prstGeom prst="rect">
            <a:avLst/>
          </a:prstGeom>
          <a:noFill/>
          <a:ln/>
        </p:spPr>
        <p:txBody>
          <a:bodyPr wrap="square" lIns="0" tIns="0" rIns="0" bIns="0" rtlCol="0" anchor="t"/>
          <a:lstStyle/>
          <a:p>
            <a:pPr algn="l" indent="0" marL="0">
              <a:lnSpc>
                <a:spcPct val="108000"/>
              </a:lnSpc>
              <a:buNone/>
            </a:pPr>
            <a:r>
              <a:rPr lang="en-US" sz="1600" dirty="0">
                <a:solidFill>
                  <a:srgbClr val="B8C2D6"/>
                </a:solidFill>
                <a:latin typeface="IBM Plex Sans" pitchFamily="34" charset="0"/>
                <a:ea typeface="IBM Plex Sans" pitchFamily="34" charset="-122"/>
                <a:cs typeface="IBM Plex Sans" pitchFamily="34" charset="-120"/>
              </a:rPr>
              <a:t>First full measurement and a self-audit; a fair re-test is ready to run.</a:t>
            </a:r>
            <a:endParaRPr lang="en-US" sz="1600" dirty="0"/>
          </a:p>
        </p:txBody>
      </p:sp>
      <p:sp>
        <p:nvSpPr>
          <p:cNvPr id="16" name="Text 14"/>
          <p:cNvSpPr txBox="1"/>
          <p:nvPr/>
        </p:nvSpPr>
        <p:spPr>
          <a:xfrm>
            <a:off x="6793992" y="5120640"/>
            <a:ext cx="4572000" cy="320040"/>
          </a:xfrm>
          <a:prstGeom prst="rect">
            <a:avLst/>
          </a:prstGeom>
          <a:noFill/>
          <a:ln/>
        </p:spPr>
        <p:txBody>
          <a:bodyPr wrap="square" lIns="0" tIns="0" rIns="0" bIns="0" rtlCol="0" anchor="t"/>
          <a:lstStyle/>
          <a:p>
            <a:pPr algn="l" indent="0" marL="0">
              <a:lnSpc>
                <a:spcPct val="108000"/>
              </a:lnSpc>
              <a:buNone/>
            </a:pPr>
            <a:r>
              <a:rPr lang="en-US" sz="1300" dirty="0">
                <a:solidFill>
                  <a:srgbClr val="7C89A3"/>
                </a:solidFill>
                <a:latin typeface="IBM Plex Mono" pitchFamily="34" charset="0"/>
                <a:ea typeface="IBM Plex Mono" pitchFamily="34" charset="-122"/>
                <a:cs typeface="IBM Plex Mono" pitchFamily="34" charset="-120"/>
              </a:rPr>
              <a:t>RE-TEST READY</a:t>
            </a:r>
            <a:endParaRPr lang="en-US" sz="1300" dirty="0"/>
          </a:p>
        </p:txBody>
      </p:sp>
      <p:sp>
        <p:nvSpPr>
          <p:cNvPr id="17" name="Shape 15"/>
          <p:cNvSpPr/>
          <p:nvPr/>
        </p:nvSpPr>
        <p:spPr>
          <a:xfrm>
            <a:off x="11960352" y="2331720"/>
            <a:ext cx="5120640" cy="3291840"/>
          </a:xfrm>
          <a:prstGeom prst="roundRect">
            <a:avLst>
              <a:gd name="adj" fmla="val 2222"/>
            </a:avLst>
          </a:prstGeom>
          <a:solidFill>
            <a:srgbClr val="111B30"/>
          </a:solidFill>
          <a:ln w="12700">
            <a:solidFill>
              <a:srgbClr val="38435C"/>
            </a:solidFill>
            <a:prstDash val="solid"/>
          </a:ln>
        </p:spPr>
      </p:sp>
      <p:sp>
        <p:nvSpPr>
          <p:cNvPr id="18" name="Text 16"/>
          <p:cNvSpPr txBox="1"/>
          <p:nvPr/>
        </p:nvSpPr>
        <p:spPr>
          <a:xfrm>
            <a:off x="12280392" y="2606040"/>
            <a:ext cx="1371600" cy="548640"/>
          </a:xfrm>
          <a:prstGeom prst="rect">
            <a:avLst/>
          </a:prstGeom>
          <a:noFill/>
          <a:ln/>
        </p:spPr>
        <p:txBody>
          <a:bodyPr wrap="square" lIns="0" tIns="0" rIns="0" bIns="0" rtlCol="0" anchor="t"/>
          <a:lstStyle/>
          <a:p>
            <a:pPr algn="l" indent="0" marL="0">
              <a:lnSpc>
                <a:spcPct val="108000"/>
              </a:lnSpc>
              <a:buNone/>
            </a:pPr>
            <a:r>
              <a:rPr lang="en-US" sz="3000" dirty="0">
                <a:solidFill>
                  <a:srgbClr val="2DD4BF"/>
                </a:solidFill>
                <a:latin typeface="Space Grotesk" pitchFamily="34" charset="0"/>
                <a:ea typeface="Space Grotesk" pitchFamily="34" charset="-122"/>
                <a:cs typeface="Space Grotesk" pitchFamily="34" charset="-120"/>
              </a:rPr>
              <a:t>03</a:t>
            </a:r>
            <a:endParaRPr lang="en-US" sz="3000" dirty="0"/>
          </a:p>
        </p:txBody>
      </p:sp>
      <p:sp>
        <p:nvSpPr>
          <p:cNvPr id="19" name="Text 17"/>
          <p:cNvSpPr txBox="1"/>
          <p:nvPr/>
        </p:nvSpPr>
        <p:spPr>
          <a:xfrm>
            <a:off x="12280392" y="3246120"/>
            <a:ext cx="4572000" cy="868680"/>
          </a:xfrm>
          <a:prstGeom prst="rect">
            <a:avLst/>
          </a:prstGeom>
          <a:noFill/>
          <a:ln/>
        </p:spPr>
        <p:txBody>
          <a:bodyPr wrap="square" lIns="0" tIns="0" rIns="0" bIns="0" rtlCol="0" anchor="t"/>
          <a:lstStyle/>
          <a:p>
            <a:pPr algn="l" indent="0" marL="0">
              <a:lnSpc>
                <a:spcPct val="108000"/>
              </a:lnSpc>
              <a:buNone/>
            </a:pPr>
            <a:r>
              <a:rPr lang="en-US" sz="2300" dirty="0">
                <a:solidFill>
                  <a:srgbClr val="EAF0FA"/>
                </a:solidFill>
                <a:latin typeface="Space Grotesk" pitchFamily="34" charset="0"/>
                <a:ea typeface="Space Grotesk" pitchFamily="34" charset="-122"/>
                <a:cs typeface="Space Grotesk" pitchFamily="34" charset="-120"/>
              </a:rPr>
              <a:t>A paper-structured write-up</a:t>
            </a:r>
            <a:endParaRPr lang="en-US" sz="2300" dirty="0"/>
          </a:p>
        </p:txBody>
      </p:sp>
      <p:sp>
        <p:nvSpPr>
          <p:cNvPr id="20" name="Text 18"/>
          <p:cNvSpPr txBox="1"/>
          <p:nvPr/>
        </p:nvSpPr>
        <p:spPr>
          <a:xfrm>
            <a:off x="12280392" y="4114800"/>
            <a:ext cx="4572000" cy="914400"/>
          </a:xfrm>
          <a:prstGeom prst="rect">
            <a:avLst/>
          </a:prstGeom>
          <a:noFill/>
          <a:ln/>
        </p:spPr>
        <p:txBody>
          <a:bodyPr wrap="square" lIns="0" tIns="0" rIns="0" bIns="0" rtlCol="0" anchor="t"/>
          <a:lstStyle/>
          <a:p>
            <a:pPr algn="l" indent="0" marL="0">
              <a:lnSpc>
                <a:spcPct val="108000"/>
              </a:lnSpc>
              <a:buNone/>
            </a:pPr>
            <a:r>
              <a:rPr lang="en-US" sz="1600" dirty="0">
                <a:solidFill>
                  <a:srgbClr val="B8C2D6"/>
                </a:solidFill>
                <a:latin typeface="IBM Plex Sans" pitchFamily="34" charset="0"/>
                <a:ea typeface="IBM Plex Sans" pitchFamily="34" charset="-122"/>
                <a:cs typeface="IBM Plex Sans" pitchFamily="34" charset="-120"/>
              </a:rPr>
              <a:t>Audited status report done; preprint after the deciding run.</a:t>
            </a:r>
            <a:endParaRPr lang="en-US" sz="1600" dirty="0"/>
          </a:p>
        </p:txBody>
      </p:sp>
      <p:sp>
        <p:nvSpPr>
          <p:cNvPr id="21" name="Text 19"/>
          <p:cNvSpPr txBox="1"/>
          <p:nvPr/>
        </p:nvSpPr>
        <p:spPr>
          <a:xfrm>
            <a:off x="12280392" y="5120640"/>
            <a:ext cx="4572000" cy="320040"/>
          </a:xfrm>
          <a:prstGeom prst="rect">
            <a:avLst/>
          </a:prstGeom>
          <a:noFill/>
          <a:ln/>
        </p:spPr>
        <p:txBody>
          <a:bodyPr wrap="square" lIns="0" tIns="0" rIns="0" bIns="0" rtlCol="0" anchor="t"/>
          <a:lstStyle/>
          <a:p>
            <a:pPr algn="l" indent="0" marL="0">
              <a:lnSpc>
                <a:spcPct val="108000"/>
              </a:lnSpc>
              <a:buNone/>
            </a:pPr>
            <a:r>
              <a:rPr lang="en-US" sz="1300" dirty="0">
                <a:solidFill>
                  <a:srgbClr val="7C89A3"/>
                </a:solidFill>
                <a:latin typeface="IBM Plex Mono" pitchFamily="34" charset="0"/>
                <a:ea typeface="IBM Plex Mono" pitchFamily="34" charset="-122"/>
                <a:cs typeface="IBM Plex Mono" pitchFamily="34" charset="-120"/>
              </a:rPr>
              <a:t>IN PROGRESS</a:t>
            </a:r>
            <a:endParaRPr lang="en-US" sz="1300" dirty="0"/>
          </a:p>
        </p:txBody>
      </p:sp>
      <p:sp>
        <p:nvSpPr>
          <p:cNvPr id="22" name="Text 20"/>
          <p:cNvSpPr txBox="1"/>
          <p:nvPr/>
        </p:nvSpPr>
        <p:spPr>
          <a:xfrm>
            <a:off x="987552" y="6080760"/>
            <a:ext cx="16093440" cy="1280160"/>
          </a:xfrm>
          <a:prstGeom prst="rect">
            <a:avLst/>
          </a:prstGeom>
          <a:noFill/>
          <a:ln/>
        </p:spPr>
        <p:txBody>
          <a:bodyPr wrap="square" lIns="0" tIns="0" rIns="0" bIns="0" rtlCol="0" anchor="t"/>
          <a:lstStyle/>
          <a:p>
            <a:pPr algn="l" indent="0" marL="0">
              <a:lnSpc>
                <a:spcPct val="112000"/>
              </a:lnSpc>
              <a:buNone/>
            </a:pPr>
            <a:r>
              <a:rPr lang="en-US" sz="3000" dirty="0">
                <a:solidFill>
                  <a:srgbClr val="EAF0FA"/>
                </a:solidFill>
                <a:latin typeface="Space Grotesk" pitchFamily="34" charset="0"/>
                <a:ea typeface="Space Grotesk" pitchFamily="34" charset="-122"/>
                <a:cs typeface="Space Grotesk" pitchFamily="34" charset="-120"/>
              </a:rPr>
              <a:t>Turning the right to be forgotten from a legal claim into a measurable engineering property — one that holds up when someone tries to undo it.</a:t>
            </a:r>
            <a:endParaRPr lang="en-US" sz="3000" dirty="0"/>
          </a:p>
        </p:txBody>
      </p:sp>
      <p:sp>
        <p:nvSpPr>
          <p:cNvPr id="23" name="Text 21"/>
          <p:cNvSpPr txBox="1"/>
          <p:nvPr/>
        </p:nvSpPr>
        <p:spPr>
          <a:xfrm>
            <a:off x="987552" y="7726680"/>
            <a:ext cx="16093440" cy="411480"/>
          </a:xfrm>
          <a:prstGeom prst="rect">
            <a:avLst/>
          </a:prstGeom>
          <a:noFill/>
          <a:ln/>
        </p:spPr>
        <p:txBody>
          <a:bodyPr wrap="square" lIns="0" tIns="0" rIns="0" bIns="0" rtlCol="0" anchor="t"/>
          <a:lstStyle/>
          <a:p>
            <a:pPr algn="l" indent="0" marL="0">
              <a:lnSpc>
                <a:spcPct val="108000"/>
              </a:lnSpc>
              <a:buNone/>
            </a:pPr>
            <a:r>
              <a:rPr lang="en-US" sz="1600" dirty="0">
                <a:solidFill>
                  <a:srgbClr val="7C89A3"/>
                </a:solidFill>
                <a:latin typeface="IBM Plex Sans" pitchFamily="34" charset="0"/>
                <a:ea typeface="IBM Plex Sans" pitchFamily="34" charset="-122"/>
                <a:cs typeface="IBM Plex Sans" pitchFamily="34" charset="-120"/>
              </a:rPr>
              <a:t>Bulla Joel Arpith · Kanchusthambham Jayanth · Macha Sai Kamal · Shaik Shahul Parvez · Damera Sai Sri Ranga Charan</a:t>
            </a:r>
            <a:endParaRPr lang="en-US" sz="1600" dirty="0"/>
          </a:p>
        </p:txBody>
      </p:sp>
      <p:sp>
        <p:nvSpPr>
          <p:cNvPr id="24" name="Text 22"/>
          <p:cNvSpPr txBox="1"/>
          <p:nvPr/>
        </p:nvSpPr>
        <p:spPr>
          <a:xfrm>
            <a:off x="987552" y="8183880"/>
            <a:ext cx="16093440" cy="411480"/>
          </a:xfrm>
          <a:prstGeom prst="rect">
            <a:avLst/>
          </a:prstGeom>
          <a:noFill/>
          <a:ln/>
        </p:spPr>
        <p:txBody>
          <a:bodyPr wrap="square" lIns="0" tIns="0" rIns="0" bIns="0" rtlCol="0" anchor="t"/>
          <a:lstStyle/>
          <a:p>
            <a:pPr algn="l" indent="0" marL="0">
              <a:lnSpc>
                <a:spcPct val="108000"/>
              </a:lnSpc>
              <a:buNone/>
            </a:pPr>
            <a:r>
              <a:rPr lang="en-US" sz="1600" dirty="0">
                <a:solidFill>
                  <a:srgbClr val="7C89A3"/>
                </a:solidFill>
                <a:latin typeface="IBM Plex Sans" pitchFamily="34" charset="0"/>
                <a:ea typeface="IBM Plex Sans" pitchFamily="34" charset="-122"/>
                <a:cs typeface="IBM Plex Sans" pitchFamily="34" charset="-120"/>
              </a:rPr>
              <a:t>Mentor: Prof. Geetha Tripathi · Woxsen University   ·   Thank you — questions welcome.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ForgetBench · HRU — Final Review</dc:title>
  <dc:subject>PptxGenJS Presentation</dc:subject>
  <dc:creator>PptxGenJS</dc:creator>
  <cp:lastModifiedBy>PptxGenJS</cp:lastModifiedBy>
  <cp:revision>1</cp:revision>
  <dcterms:created xsi:type="dcterms:W3CDTF">2026-10-06T09:02:00Z</dcterms:created>
  <dcterms:modified xsi:type="dcterms:W3CDTF">2026-10-06T09:02:00Z</dcterms:modified>
</cp:coreProperties>
</file>